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10911535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1">
                <a:solidFill>
                  <a:srgbClr val="B23A2A"/>
                </a:solidFill>
                <a:latin typeface="微软雅黑"/>
                <a:ea typeface="微软雅黑"/>
                <a:cs typeface="微软雅黑"/>
              </a:rPr>
              <a:t>政治 · 选择性必修1 当代国际政治与经济 · 第2单元 综合探究 贡献中国智慧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207008"/>
            <a:ext cx="822960" cy="30480"/>
          </a:xfrm>
          <a:prstGeom prst="rect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737360"/>
            <a:ext cx="10911535" cy="2011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4000" b="1">
                <a:solidFill>
                  <a:srgbClr val="1C2A33"/>
                </a:solidFill>
                <a:latin typeface="楷体"/>
                <a:ea typeface="楷体"/>
                <a:cs typeface="楷体"/>
              </a:rPr>
              <a:t>综合探究：贡献中国智慧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3840480"/>
            <a:ext cx="1091153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700" b="1">
                <a:solidFill>
                  <a:srgbClr val="B23A2A"/>
                </a:solidFill>
                <a:latin typeface="微软雅黑"/>
                <a:ea typeface="微软雅黑"/>
                <a:cs typeface="微软雅黑"/>
              </a:rPr>
              <a:t>综合探究课  ·  第13课时  ·  45分钟</a:t>
            </a:r>
          </a:p>
        </p:txBody>
      </p:sp>
      <p:sp>
        <p:nvSpPr>
          <p:cNvPr id="7" name="Rectangle 6"/>
          <p:cNvSpPr/>
          <p:nvPr/>
        </p:nvSpPr>
        <p:spPr>
          <a:xfrm>
            <a:off x="640080" y="5394960"/>
            <a:ext cx="2011680" cy="33020"/>
          </a:xfrm>
          <a:prstGeom prst="rect">
            <a:avLst/>
          </a:prstGeom>
          <a:solidFill>
            <a:srgbClr val="C8A8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0080" y="5623560"/>
            <a:ext cx="10911535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4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学习任务群：    |    年级：高二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B23A2A"/>
                </a:solidFill>
                <a:latin typeface="微软雅黑"/>
                <a:ea typeface="微软雅黑"/>
                <a:cs typeface="微软雅黑"/>
              </a:rPr>
              <a:t>学习目标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97280"/>
            <a:ext cx="822960" cy="30480"/>
          </a:xfrm>
          <a:prstGeom prst="rect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40080" y="1417320"/>
            <a:ext cx="5349240" cy="20574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B23A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804672" y="1581912"/>
            <a:ext cx="457200" cy="457200"/>
          </a:xfrm>
          <a:prstGeom prst="ellipse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04672" y="163677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371600" y="1527048"/>
            <a:ext cx="44348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目标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371600" y="1965960"/>
            <a:ext cx="4434840" cy="1417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4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政治认同：认同中国为全球治理贡献的智慧与方案。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63640" y="1417320"/>
            <a:ext cx="5349240" cy="20574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B23A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6428232" y="1581912"/>
            <a:ext cx="457200" cy="457200"/>
          </a:xfrm>
          <a:prstGeom prst="ellipse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28232" y="163677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995160" y="1527048"/>
            <a:ext cx="44348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目标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995160" y="1965960"/>
            <a:ext cx="4434840" cy="1417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4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科学精神：概括中国智慧的主要体现。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40080" y="3703320"/>
            <a:ext cx="5349240" cy="20574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B23A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804672" y="3867912"/>
            <a:ext cx="457200" cy="457200"/>
          </a:xfrm>
          <a:prstGeom prst="ellipse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04672" y="392277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371600" y="3813048"/>
            <a:ext cx="44348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目标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371600" y="4251960"/>
            <a:ext cx="4434840" cy="1417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4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法治意识：坚持国际法治与多边规则。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263640" y="3703320"/>
            <a:ext cx="5349240" cy="20574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B23A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6428232" y="3867912"/>
            <a:ext cx="457200" cy="457200"/>
          </a:xfrm>
          <a:prstGeom prst="ellipse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428232" y="392277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995160" y="3813048"/>
            <a:ext cx="44348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目标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995160" y="4251960"/>
            <a:ext cx="4434840" cy="1417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4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公共参与：做中国故事的讲述者。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2E7D6B"/>
                </a:solidFill>
                <a:latin typeface="微软雅黑"/>
                <a:ea typeface="微软雅黑"/>
                <a:cs typeface="微软雅黑"/>
              </a:rPr>
              <a:t>课文背景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97280"/>
            <a:ext cx="822960" cy="30480"/>
          </a:xfrm>
          <a:prstGeom prst="rect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508760"/>
            <a:ext cx="6766560" cy="4572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50000"/>
              </a:lnSpc>
              <a:spcAft>
                <a:spcPts val="600"/>
              </a:spcAft>
            </a:pPr>
            <a:r>
              <a:rPr sz="16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本探究梳理中国在全球治理中的理念与实践，理解中国智慧体现在和平共处、多边主义、一带一路、人类命运共同体等，引导学生认识负责任大国担当。</a:t>
            </a:r>
          </a:p>
        </p:txBody>
      </p:sp>
      <p:pic>
        <p:nvPicPr>
          <p:cNvPr id="6" name="Picture 5" descr="renmin.jpg"/>
          <p:cNvPicPr>
            <a:picLocks noChangeAspect="1"/>
          </p:cNvPicPr>
          <p:nvPr/>
        </p:nvPicPr>
        <p:blipFill>
          <a:blip r:embed="rId2"/>
          <a:srcRect l="368" r="368"/>
          <a:stretch>
            <a:fillRect/>
          </a:stretch>
        </p:blipFill>
        <p:spPr>
          <a:xfrm>
            <a:off x="8046720" y="1508760"/>
            <a:ext cx="4114800" cy="310896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8046720" y="4663440"/>
            <a:ext cx="4114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资料图（自由授权，复用 renmin.jpg）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B23A2A"/>
                </a:solidFill>
                <a:latin typeface="微软雅黑"/>
                <a:ea typeface="微软雅黑"/>
                <a:cs typeface="微软雅黑"/>
              </a:rPr>
              <a:t>学习重点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97280"/>
            <a:ext cx="822960" cy="30480"/>
          </a:xfrm>
          <a:prstGeom prst="rect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40080" y="1371600"/>
            <a:ext cx="10911535" cy="9144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C8A8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371600" y="1481328"/>
            <a:ext cx="999713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/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371600" y="1920240"/>
            <a:ext cx="9997135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3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① 理念智慧：和而不同、人类命运共同体。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2395728"/>
            <a:ext cx="10911535" cy="9144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C8A8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371600" y="2505456"/>
            <a:ext cx="999713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/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371600" y="2944368"/>
            <a:ext cx="9997135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3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② 实践智慧：一带一路、全球发展倡议。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40080" y="3419856"/>
            <a:ext cx="10911535" cy="9144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C8A8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371600" y="3529584"/>
            <a:ext cx="999713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/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371600" y="3968496"/>
            <a:ext cx="9997135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3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③ 治理智慧：多边主义、共商共建共享。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40080" y="4443984"/>
            <a:ext cx="10911535" cy="9144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C8A8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371600" y="4553712"/>
            <a:ext cx="999713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/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371600" y="4992624"/>
            <a:ext cx="9997135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3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④ 定位：负责任大国、世界和平力量。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40080" y="5468112"/>
            <a:ext cx="10911535" cy="9144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C8A8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371600" y="5577840"/>
            <a:ext cx="999713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/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371600" y="6016752"/>
            <a:ext cx="9997135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3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⑤ 青年：讲好中国故事。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2E7D6B"/>
                </a:solidFill>
                <a:latin typeface="微软雅黑"/>
                <a:ea typeface="微软雅黑"/>
                <a:cs typeface="微软雅黑"/>
              </a:rPr>
              <a:t>学习路径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97280"/>
            <a:ext cx="822960" cy="30480"/>
          </a:xfrm>
          <a:prstGeom prst="rect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40080" y="1371600"/>
            <a:ext cx="10911535" cy="6858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2E7D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804672" y="1536192"/>
            <a:ext cx="457200" cy="457200"/>
          </a:xfrm>
          <a:prstGeom prst="ellipse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04672" y="159105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371600" y="1481328"/>
            <a:ext cx="9997135" cy="4846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Step 1 导入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40080" y="2194560"/>
            <a:ext cx="10911535" cy="6858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2E7D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804672" y="2359152"/>
            <a:ext cx="457200" cy="457200"/>
          </a:xfrm>
          <a:prstGeom prst="ellipse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04672" y="241401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371600" y="2304288"/>
            <a:ext cx="9997135" cy="4846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Step 2 理念智慧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40080" y="3017520"/>
            <a:ext cx="10911535" cy="6858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2E7D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804672" y="3182112"/>
            <a:ext cx="457200" cy="457200"/>
          </a:xfrm>
          <a:prstGeom prst="ellipse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04672" y="323697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371600" y="3127248"/>
            <a:ext cx="9997135" cy="4846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Step 3 实践智慧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40080" y="3840480"/>
            <a:ext cx="10911535" cy="6858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2E7D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804672" y="4005072"/>
            <a:ext cx="457200" cy="457200"/>
          </a:xfrm>
          <a:prstGeom prst="ellipse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04672" y="405993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4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371600" y="3950208"/>
            <a:ext cx="9997135" cy="4846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Step 4 治理智慧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40080" y="4663440"/>
            <a:ext cx="10911535" cy="6858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2E7D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804672" y="4828032"/>
            <a:ext cx="457200" cy="457200"/>
          </a:xfrm>
          <a:prstGeom prst="ellipse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04672" y="488289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5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371600" y="4773168"/>
            <a:ext cx="9997135" cy="4846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Step 5 探究汇报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40080" y="5486400"/>
            <a:ext cx="10911535" cy="6858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2E7D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804672" y="5650992"/>
            <a:ext cx="457200" cy="457200"/>
          </a:xfrm>
          <a:prstGeom prst="ellipse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04672" y="570585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6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371600" y="5596128"/>
            <a:ext cx="9997135" cy="4846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Step 6 小结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B23A2A"/>
                </a:solidFill>
                <a:latin typeface="微软雅黑"/>
                <a:ea typeface="微软雅黑"/>
                <a:cs typeface="微软雅黑"/>
              </a:rPr>
              <a:t>易混易错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97280"/>
            <a:ext cx="822960" cy="30480"/>
          </a:xfrm>
          <a:prstGeom prst="rect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40080" y="1417320"/>
            <a:ext cx="5349240" cy="20574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B23A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804672" y="1581912"/>
            <a:ext cx="457200" cy="457200"/>
          </a:xfrm>
          <a:prstGeom prst="ellipse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04672" y="163677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!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371600" y="1527048"/>
            <a:ext cx="44348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/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371600" y="1965960"/>
            <a:ext cx="4434840" cy="1417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4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① 智慧多维。原因：学生易零散，需结构化。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63640" y="1417320"/>
            <a:ext cx="5349240" cy="20574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B23A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6428232" y="1581912"/>
            <a:ext cx="457200" cy="457200"/>
          </a:xfrm>
          <a:prstGeom prst="ellipse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28232" y="163677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!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995160" y="1527048"/>
            <a:ext cx="44348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/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995160" y="1965960"/>
            <a:ext cx="4434840" cy="1417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4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② 世界价值。原因：宏大，需落案例。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40080" y="3703320"/>
            <a:ext cx="5349240" cy="205740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B23A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804672" y="3867912"/>
            <a:ext cx="457200" cy="457200"/>
          </a:xfrm>
          <a:prstGeom prst="ellipse">
            <a:avLst/>
          </a:prstGeom>
          <a:solidFill>
            <a:srgbClr val="B23A2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04672" y="3922776"/>
            <a:ext cx="45720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!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371600" y="3813048"/>
            <a:ext cx="44348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/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371600" y="4251960"/>
            <a:ext cx="4434840" cy="1417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4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③ 青年角色。原因：易旁观。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C8A86B"/>
                </a:solidFill>
                <a:latin typeface="微软雅黑"/>
                <a:ea typeface="微软雅黑"/>
                <a:cs typeface="微软雅黑"/>
              </a:rPr>
              <a:t>要点板书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97280"/>
            <a:ext cx="822960" cy="30480"/>
          </a:xfrm>
          <a:prstGeom prst="rect">
            <a:avLst/>
          </a:prstGeom>
          <a:solidFill>
            <a:srgbClr val="C8A8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40080" y="1417320"/>
            <a:ext cx="10911535" cy="539496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C8A8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554480"/>
            <a:ext cx="10362895" cy="5120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100"/>
              </a:spcAft>
            </a:pPr>
            <a:r>
              <a:rPr sz="1300" b="0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>┌─ 中国智慧 ──┐
│ 理念:和而不│
│ 同/共同体 │
│ 实践:一带一│
│ 路/发展倡议 │
│ 治理:多边共│
│ 商共建共享 │
│ 青年:讲好故│
│ 事 │
└──────────────┘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2E7D6B"/>
                </a:solidFill>
                <a:latin typeface="微软雅黑"/>
                <a:ea typeface="微软雅黑"/>
                <a:cs typeface="微软雅黑"/>
              </a:rPr>
              <a:t>分层作业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97280"/>
            <a:ext cx="822960" cy="30480"/>
          </a:xfrm>
          <a:prstGeom prst="rect">
            <a:avLst/>
          </a:prstGeom>
          <a:solidFill>
            <a:srgbClr val="2E7D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640080" y="1417320"/>
            <a:ext cx="10911535" cy="141732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2E7D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371600" y="1527048"/>
            <a:ext cx="999713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/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371600" y="1965960"/>
            <a:ext cx="9997135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2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【基础作业】1. 中国智慧的治理主张是坚持____主义、共商共建共享。2. 人类命运共同体体现____不同而共赢的理念。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2971800"/>
            <a:ext cx="10911535" cy="1417320"/>
          </a:xfrm>
          <a:prstGeom prst="roundRect">
            <a:avLst/>
          </a:prstGeom>
          <a:solidFill>
            <a:srgbClr val="FFFFFF"/>
          </a:solidFill>
          <a:ln w="22860">
            <a:solidFill>
              <a:srgbClr val="2E7D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371600" y="3081528"/>
            <a:ext cx="9997135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</a:pPr>
            <a:r>
              <a:rPr sz="1600" b="1">
                <a:solidFill>
                  <a:srgbClr val="1C2A33"/>
                </a:solidFill>
                <a:latin typeface="微软雅黑"/>
                <a:ea typeface="微软雅黑"/>
                <a:cs typeface="微软雅黑"/>
              </a:rPr>
              <a:t/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371600" y="3520440"/>
            <a:ext cx="9997135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</a:pPr>
            <a:r>
              <a:rPr sz="14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【提高作业】举例说明中国为全球治理提供的公共产品。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EF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40080"/>
            <a:ext cx="6400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0"/>
              </a:spcAft>
            </a:pPr>
            <a:r>
              <a:rPr sz="1300" b="1">
                <a:solidFill>
                  <a:srgbClr val="C8A86B"/>
                </a:solidFill>
                <a:latin typeface="微软雅黑"/>
                <a:ea typeface="微软雅黑"/>
                <a:cs typeface="微软雅黑"/>
              </a:rPr>
              <a:t>本课小结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097280"/>
            <a:ext cx="822960" cy="30480"/>
          </a:xfrm>
          <a:prstGeom prst="rect">
            <a:avLst/>
          </a:prstGeom>
          <a:solidFill>
            <a:srgbClr val="C8A8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640080" y="1737360"/>
            <a:ext cx="54864" cy="431800"/>
          </a:xfrm>
          <a:prstGeom prst="rect">
            <a:avLst/>
          </a:prstGeom>
          <a:solidFill>
            <a:srgbClr val="C8A8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68680" y="1645920"/>
            <a:ext cx="10682935" cy="21945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50000"/>
              </a:lnSpc>
              <a:spcAft>
                <a:spcPts val="1000"/>
              </a:spcAft>
            </a:pPr>
            <a:r>
              <a:rPr sz="2200" b="0">
                <a:solidFill>
                  <a:srgbClr val="1C2A33"/>
                </a:solidFill>
                <a:latin typeface="楷体"/>
                <a:ea typeface="楷体"/>
                <a:cs typeface="楷体"/>
              </a:rPr>
              <a:t>本单元主题：综合探究 贡献中国智慧。把今天学到的方法带进下一篇——自己读、自己想、自己写。</a:t>
            </a:r>
          </a:p>
          <a:p>
            <a:pPr algn="l"/>
            <a:r>
              <a:rPr sz="1600" b="1">
                <a:solidFill>
                  <a:srgbClr val="B23A2A"/>
                </a:solidFill>
                <a:latin typeface="微软雅黑"/>
                <a:ea typeface="微软雅黑"/>
                <a:cs typeface="微软雅黑"/>
              </a:rPr>
              <a:t>方法迁移：圈关键信息 → 理事件脉络 → 析人物精神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002975" y="6355080"/>
            <a:ext cx="731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100" b="0">
                <a:solidFill>
                  <a:srgbClr val="6B6258"/>
                </a:solidFill>
                <a:latin typeface="微软雅黑"/>
                <a:ea typeface="微软雅黑"/>
                <a:cs typeface="微软雅黑"/>
              </a:rPr>
              <a:t>09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