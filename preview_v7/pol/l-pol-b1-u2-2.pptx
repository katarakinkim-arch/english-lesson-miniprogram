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10911535" cy="502920"/>
          </a:xfrm>
          <a:prstGeom prst="rect">
            <a:avLst/>
          </a:prstGeom>
          <a:noFill/>
        </p:spPr>
        <p:txBody>
          <a:bodyPr wrap="square" anchor="t" lIns="0" rIns="0" tIns="0" bIns="0">
            <a:spAutoFit/>
          </a:bodyPr>
          <a:lstStyle/>
          <a:p>
            <a:pPr algn="l">
              <a:spcAft>
                <a:spcPts val="0"/>
              </a:spcAft>
            </a:pPr>
            <a:r>
              <a:rPr sz="1200" b="1">
                <a:solidFill>
                  <a:srgbClr val="B23A2A"/>
                </a:solidFill>
                <a:latin typeface="微软雅黑"/>
                <a:ea typeface="微软雅黑"/>
                <a:cs typeface="微软雅黑"/>
              </a:rPr>
              <a:t>政治 · 必修1 中国特色社会主义 · 第2单元 第二课 只有社会主义才能救中国</a:t>
            </a:r>
          </a:p>
        </p:txBody>
      </p:sp>
      <p:sp>
        <p:nvSpPr>
          <p:cNvPr id="4" name="Rectangle 3"/>
          <p:cNvSpPr/>
          <p:nvPr/>
        </p:nvSpPr>
        <p:spPr>
          <a:xfrm>
            <a:off x="640080" y="1207008"/>
            <a:ext cx="822960" cy="30480"/>
          </a:xfrm>
          <a:prstGeom prst="rect">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37360"/>
            <a:ext cx="10911535" cy="2011680"/>
          </a:xfrm>
          <a:prstGeom prst="rect">
            <a:avLst/>
          </a:prstGeom>
          <a:noFill/>
        </p:spPr>
        <p:txBody>
          <a:bodyPr wrap="square" anchor="t" lIns="0" rIns="0" tIns="0" bIns="0">
            <a:spAutoFit/>
          </a:bodyPr>
          <a:lstStyle/>
          <a:p>
            <a:pPr algn="l">
              <a:lnSpc>
                <a:spcPct val="115000"/>
              </a:lnSpc>
            </a:pPr>
            <a:r>
              <a:rPr sz="4000" b="1">
                <a:solidFill>
                  <a:srgbClr val="1C2A33"/>
                </a:solidFill>
                <a:latin typeface="楷体"/>
                <a:ea typeface="楷体"/>
                <a:cs typeface="楷体"/>
              </a:rPr>
              <a:t>社会主义制度在中国的确立</a:t>
            </a:r>
          </a:p>
        </p:txBody>
      </p:sp>
      <p:sp>
        <p:nvSpPr>
          <p:cNvPr id="6" name="TextBox 5"/>
          <p:cNvSpPr txBox="1"/>
          <p:nvPr/>
        </p:nvSpPr>
        <p:spPr>
          <a:xfrm>
            <a:off x="640080" y="3840480"/>
            <a:ext cx="10911535" cy="457200"/>
          </a:xfrm>
          <a:prstGeom prst="rect">
            <a:avLst/>
          </a:prstGeom>
          <a:noFill/>
        </p:spPr>
        <p:txBody>
          <a:bodyPr wrap="square" anchor="t" lIns="0" rIns="0" tIns="0" bIns="0">
            <a:spAutoFit/>
          </a:bodyPr>
          <a:lstStyle/>
          <a:p>
            <a:pPr algn="l"/>
            <a:r>
              <a:rPr sz="1700" b="1">
                <a:solidFill>
                  <a:srgbClr val="B23A2A"/>
                </a:solidFill>
                <a:latin typeface="微软雅黑"/>
                <a:ea typeface="微软雅黑"/>
                <a:cs typeface="微软雅黑"/>
              </a:rPr>
              <a:t>新课  ·  第4课时  ·  45分钟</a:t>
            </a:r>
          </a:p>
        </p:txBody>
      </p:sp>
      <p:sp>
        <p:nvSpPr>
          <p:cNvPr id="7" name="Rectangle 6"/>
          <p:cNvSpPr/>
          <p:nvPr/>
        </p:nvSpPr>
        <p:spPr>
          <a:xfrm>
            <a:off x="640080" y="5394960"/>
            <a:ext cx="2011680" cy="33020"/>
          </a:xfrm>
          <a:prstGeom prst="rect">
            <a:avLst/>
          </a:prstGeom>
          <a:solidFill>
            <a:srgbClr val="C8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23560"/>
            <a:ext cx="10911535" cy="548640"/>
          </a:xfrm>
          <a:prstGeom prst="rect">
            <a:avLst/>
          </a:prstGeom>
          <a:noFill/>
        </p:spPr>
        <p:txBody>
          <a:bodyPr wrap="square" anchor="t" lIns="0" rIns="0" tIns="0" bIns="0">
            <a:spAutoFit/>
          </a:bodyPr>
          <a:lstStyle/>
          <a:p>
            <a:pPr algn="l"/>
            <a:r>
              <a:rPr sz="1400" b="0">
                <a:solidFill>
                  <a:srgbClr val="6B6258"/>
                </a:solidFill>
                <a:latin typeface="微软雅黑"/>
                <a:ea typeface="微软雅黑"/>
                <a:cs typeface="微软雅黑"/>
              </a:rPr>
              <a:t>学习任务群：    |    年级：高一</a:t>
            </a:r>
          </a:p>
        </p:txBody>
      </p:sp>
      <p:sp>
        <p:nvSpPr>
          <p:cNvPr id="9" name="TextBox 8"/>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B23A2A"/>
                </a:solidFill>
                <a:latin typeface="微软雅黑"/>
                <a:ea typeface="微软雅黑"/>
                <a:cs typeface="微软雅黑"/>
              </a:rPr>
              <a:t>学习目标</a:t>
            </a:r>
          </a:p>
        </p:txBody>
      </p:sp>
      <p:sp>
        <p:nvSpPr>
          <p:cNvPr id="4" name="Rectangle 3"/>
          <p:cNvSpPr/>
          <p:nvPr/>
        </p:nvSpPr>
        <p:spPr>
          <a:xfrm>
            <a:off x="640080" y="1097280"/>
            <a:ext cx="822960" cy="30480"/>
          </a:xfrm>
          <a:prstGeom prst="rect">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04672" y="1581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636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1</a:t>
            </a:r>
          </a:p>
        </p:txBody>
      </p:sp>
      <p:sp>
        <p:nvSpPr>
          <p:cNvPr id="8" name="TextBox 7"/>
          <p:cNvSpPr txBox="1"/>
          <p:nvPr/>
        </p:nvSpPr>
        <p:spPr>
          <a:xfrm>
            <a:off x="1371600" y="1527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目标</a:t>
            </a:r>
          </a:p>
        </p:txBody>
      </p:sp>
      <p:sp>
        <p:nvSpPr>
          <p:cNvPr id="9" name="TextBox 8"/>
          <p:cNvSpPr txBox="1"/>
          <p:nvPr/>
        </p:nvSpPr>
        <p:spPr>
          <a:xfrm>
            <a:off x="1371600" y="1965960"/>
            <a:ext cx="4434840" cy="141732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政治认同：认同社会主义制度确立是中国历史上最深刻变革，增强制度自信。</a:t>
            </a:r>
          </a:p>
        </p:txBody>
      </p:sp>
      <p:sp>
        <p:nvSpPr>
          <p:cNvPr id="10" name="Rounded Rectangle 9"/>
          <p:cNvSpPr/>
          <p:nvPr/>
        </p:nvSpPr>
        <p:spPr>
          <a:xfrm>
            <a:off x="6263640" y="1417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28232" y="1581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8232" y="1636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2</a:t>
            </a:r>
          </a:p>
        </p:txBody>
      </p:sp>
      <p:sp>
        <p:nvSpPr>
          <p:cNvPr id="13" name="TextBox 12"/>
          <p:cNvSpPr txBox="1"/>
          <p:nvPr/>
        </p:nvSpPr>
        <p:spPr>
          <a:xfrm>
            <a:off x="6995160" y="1527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目标</a:t>
            </a:r>
          </a:p>
        </p:txBody>
      </p:sp>
      <p:sp>
        <p:nvSpPr>
          <p:cNvPr id="14" name="TextBox 13"/>
          <p:cNvSpPr txBox="1"/>
          <p:nvPr/>
        </p:nvSpPr>
        <p:spPr>
          <a:xfrm>
            <a:off x="6995160" y="1965960"/>
            <a:ext cx="4434840" cy="141732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科学精神：说明从新民主主义向社会主义过渡的历史必然与改造方式。</a:t>
            </a:r>
          </a:p>
        </p:txBody>
      </p:sp>
      <p:sp>
        <p:nvSpPr>
          <p:cNvPr id="15" name="Rounded Rectangle 14"/>
          <p:cNvSpPr/>
          <p:nvPr/>
        </p:nvSpPr>
        <p:spPr>
          <a:xfrm>
            <a:off x="640080" y="3703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4672" y="3867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3922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3</a:t>
            </a:r>
          </a:p>
        </p:txBody>
      </p:sp>
      <p:sp>
        <p:nvSpPr>
          <p:cNvPr id="18" name="TextBox 17"/>
          <p:cNvSpPr txBox="1"/>
          <p:nvPr/>
        </p:nvSpPr>
        <p:spPr>
          <a:xfrm>
            <a:off x="1371600" y="3813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目标</a:t>
            </a:r>
          </a:p>
        </p:txBody>
      </p:sp>
      <p:sp>
        <p:nvSpPr>
          <p:cNvPr id="19" name="TextBox 18"/>
          <p:cNvSpPr txBox="1"/>
          <p:nvPr/>
        </p:nvSpPr>
        <p:spPr>
          <a:xfrm>
            <a:off x="1371600" y="4251960"/>
            <a:ext cx="4434840" cy="141732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法治意识：理解社会主义制度的确立为社会主义法治建设奠定制度基础。</a:t>
            </a:r>
          </a:p>
        </p:txBody>
      </p:sp>
      <p:sp>
        <p:nvSpPr>
          <p:cNvPr id="20" name="Rounded Rectangle 19"/>
          <p:cNvSpPr/>
          <p:nvPr/>
        </p:nvSpPr>
        <p:spPr>
          <a:xfrm>
            <a:off x="6263640" y="3703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28232" y="3867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2" y="3922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4</a:t>
            </a:r>
          </a:p>
        </p:txBody>
      </p:sp>
      <p:sp>
        <p:nvSpPr>
          <p:cNvPr id="23" name="TextBox 22"/>
          <p:cNvSpPr txBox="1"/>
          <p:nvPr/>
        </p:nvSpPr>
        <p:spPr>
          <a:xfrm>
            <a:off x="6995160" y="3813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目标</a:t>
            </a:r>
          </a:p>
        </p:txBody>
      </p:sp>
      <p:sp>
        <p:nvSpPr>
          <p:cNvPr id="24" name="TextBox 23"/>
          <p:cNvSpPr txBox="1"/>
          <p:nvPr/>
        </p:nvSpPr>
        <p:spPr>
          <a:xfrm>
            <a:off x="6995160" y="4251960"/>
            <a:ext cx="4434840" cy="141732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公共参与：认识青年一代在巩固制度中的责任，树立建设志向。</a:t>
            </a:r>
          </a:p>
        </p:txBody>
      </p:sp>
      <p:sp>
        <p:nvSpPr>
          <p:cNvPr id="25" name="TextBox 24"/>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2E7D6B"/>
                </a:solidFill>
                <a:latin typeface="微软雅黑"/>
                <a:ea typeface="微软雅黑"/>
                <a:cs typeface="微软雅黑"/>
              </a:rPr>
              <a:t>课文背景</a:t>
            </a:r>
          </a:p>
        </p:txBody>
      </p:sp>
      <p:sp>
        <p:nvSpPr>
          <p:cNvPr id="4" name="Rectangle 3"/>
          <p:cNvSpPr/>
          <p:nvPr/>
        </p:nvSpPr>
        <p:spPr>
          <a:xfrm>
            <a:off x="640080" y="1097280"/>
            <a:ext cx="822960" cy="30480"/>
          </a:xfrm>
          <a:prstGeom prst="rect">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08760"/>
            <a:ext cx="6766560" cy="4572000"/>
          </a:xfrm>
          <a:prstGeom prst="rect">
            <a:avLst/>
          </a:prstGeom>
          <a:noFill/>
        </p:spPr>
        <p:txBody>
          <a:bodyPr wrap="square" anchor="t" lIns="0" rIns="0" tIns="0" bIns="0">
            <a:spAutoFit/>
          </a:bodyPr>
          <a:lstStyle/>
          <a:p>
            <a:pPr algn="l">
              <a:lnSpc>
                <a:spcPct val="150000"/>
              </a:lnSpc>
              <a:spcAft>
                <a:spcPts val="600"/>
              </a:spcAft>
            </a:pPr>
            <a:r>
              <a:rPr sz="1600" b="0">
                <a:solidFill>
                  <a:srgbClr val="1C2A33"/>
                </a:solidFill>
                <a:latin typeface="楷体"/>
                <a:ea typeface="楷体"/>
                <a:cs typeface="楷体"/>
              </a:rPr>
              <a:t>本框讲述新中国成立后过渡时期总路线与"三大改造"，1956年社会主义改造基本完成，确立社会主义基本制度；中共八大对主要矛盾与任务作出正确论断。重点在于理解社会主义制度的建立是中国历史上最深刻的社会变革。</a:t>
            </a:r>
          </a:p>
        </p:txBody>
      </p:sp>
      <p:pic>
        <p:nvPicPr>
          <p:cNvPr id="6" name="Picture 5" descr="renmin.jpg"/>
          <p:cNvPicPr>
            <a:picLocks noChangeAspect="1"/>
          </p:cNvPicPr>
          <p:nvPr/>
        </p:nvPicPr>
        <p:blipFill>
          <a:blip r:embed="rId2"/>
          <a:srcRect l="368" r="368"/>
          <a:stretch>
            <a:fillRect/>
          </a:stretch>
        </p:blipFill>
        <p:spPr>
          <a:xfrm>
            <a:off x="8046720" y="1508760"/>
            <a:ext cx="4114800" cy="3108960"/>
          </a:xfrm>
          <a:prstGeom prst="rect">
            <a:avLst/>
          </a:prstGeom>
        </p:spPr>
      </p:pic>
      <p:sp>
        <p:nvSpPr>
          <p:cNvPr id="7" name="TextBox 6"/>
          <p:cNvSpPr txBox="1"/>
          <p:nvPr/>
        </p:nvSpPr>
        <p:spPr>
          <a:xfrm>
            <a:off x="8046720" y="4663440"/>
            <a:ext cx="4114800" cy="365760"/>
          </a:xfrm>
          <a:prstGeom prst="rect">
            <a:avLst/>
          </a:prstGeom>
          <a:noFill/>
        </p:spPr>
        <p:txBody>
          <a:bodyPr wrap="square" anchor="t" lIns="0" rIns="0" tIns="0" bIns="0">
            <a:spAutoFit/>
          </a:bodyPr>
          <a:lstStyle/>
          <a:p>
            <a:pPr algn="ctr"/>
            <a:r>
              <a:rPr sz="1100" b="0">
                <a:solidFill>
                  <a:srgbClr val="6B6258"/>
                </a:solidFill>
                <a:latin typeface="微软雅黑"/>
                <a:ea typeface="微软雅黑"/>
                <a:cs typeface="微软雅黑"/>
              </a:rPr>
              <a:t>资料图（自由授权，复用 renmin.jpg）</a:t>
            </a:r>
          </a:p>
        </p:txBody>
      </p:sp>
      <p:sp>
        <p:nvSpPr>
          <p:cNvPr id="8" name="TextBox 7"/>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B23A2A"/>
                </a:solidFill>
                <a:latin typeface="微软雅黑"/>
                <a:ea typeface="微软雅黑"/>
                <a:cs typeface="微软雅黑"/>
              </a:rPr>
              <a:t>学习重点</a:t>
            </a:r>
          </a:p>
        </p:txBody>
      </p:sp>
      <p:sp>
        <p:nvSpPr>
          <p:cNvPr id="4" name="Rectangle 3"/>
          <p:cNvSpPr/>
          <p:nvPr/>
        </p:nvSpPr>
        <p:spPr>
          <a:xfrm>
            <a:off x="640080" y="1097280"/>
            <a:ext cx="822960" cy="30480"/>
          </a:xfrm>
          <a:prstGeom prst="rect">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371600"/>
            <a:ext cx="10911535" cy="914400"/>
          </a:xfrm>
          <a:prstGeom prst="roundRect">
            <a:avLst/>
          </a:prstGeom>
          <a:solidFill>
            <a:srgbClr val="FFFFFF"/>
          </a:solidFill>
          <a:ln w="22860">
            <a:solidFill>
              <a:srgbClr val="C8A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1481328"/>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7" name="TextBox 6"/>
          <p:cNvSpPr txBox="1"/>
          <p:nvPr/>
        </p:nvSpPr>
        <p:spPr>
          <a:xfrm>
            <a:off x="1371600" y="1920240"/>
            <a:ext cx="9997135" cy="274320"/>
          </a:xfrm>
          <a:prstGeom prst="rect">
            <a:avLst/>
          </a:prstGeom>
          <a:noFill/>
        </p:spPr>
        <p:txBody>
          <a:bodyPr wrap="square" anchor="t" lIns="0" rIns="0" tIns="0" bIns="0">
            <a:spAutoFit/>
          </a:bodyPr>
          <a:lstStyle/>
          <a:p>
            <a:pPr algn="l">
              <a:lnSpc>
                <a:spcPct val="128000"/>
              </a:lnSpc>
            </a:pPr>
            <a:r>
              <a:rPr sz="1300" b="0">
                <a:solidFill>
                  <a:srgbClr val="1C2A33"/>
                </a:solidFill>
                <a:latin typeface="楷体"/>
                <a:ea typeface="楷体"/>
                <a:cs typeface="楷体"/>
              </a:rPr>
              <a:t>① 过渡时期总路线：一化三改(工业化，改农业、手工业、资本主义工商业)。</a:t>
            </a:r>
          </a:p>
        </p:txBody>
      </p:sp>
      <p:sp>
        <p:nvSpPr>
          <p:cNvPr id="8" name="Rounded Rectangle 7"/>
          <p:cNvSpPr/>
          <p:nvPr/>
        </p:nvSpPr>
        <p:spPr>
          <a:xfrm>
            <a:off x="640080" y="2395728"/>
            <a:ext cx="10911535" cy="914400"/>
          </a:xfrm>
          <a:prstGeom prst="roundRect">
            <a:avLst/>
          </a:prstGeom>
          <a:solidFill>
            <a:srgbClr val="FFFFFF"/>
          </a:solidFill>
          <a:ln w="22860">
            <a:solidFill>
              <a:srgbClr val="C8A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2505456"/>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10" name="TextBox 9"/>
          <p:cNvSpPr txBox="1"/>
          <p:nvPr/>
        </p:nvSpPr>
        <p:spPr>
          <a:xfrm>
            <a:off x="1371600" y="2944368"/>
            <a:ext cx="9997135" cy="274320"/>
          </a:xfrm>
          <a:prstGeom prst="rect">
            <a:avLst/>
          </a:prstGeom>
          <a:noFill/>
        </p:spPr>
        <p:txBody>
          <a:bodyPr wrap="square" anchor="t" lIns="0" rIns="0" tIns="0" bIns="0">
            <a:spAutoFit/>
          </a:bodyPr>
          <a:lstStyle/>
          <a:p>
            <a:pPr algn="l">
              <a:lnSpc>
                <a:spcPct val="128000"/>
              </a:lnSpc>
            </a:pPr>
            <a:r>
              <a:rPr sz="1300" b="0">
                <a:solidFill>
                  <a:srgbClr val="1C2A33"/>
                </a:solidFill>
                <a:latin typeface="楷体"/>
                <a:ea typeface="楷体"/>
                <a:cs typeface="楷体"/>
              </a:rPr>
              <a:t>② 三大改造(1953-1956)：生产资料私有制转为公有制。</a:t>
            </a:r>
          </a:p>
        </p:txBody>
      </p:sp>
      <p:sp>
        <p:nvSpPr>
          <p:cNvPr id="11" name="Rounded Rectangle 10"/>
          <p:cNvSpPr/>
          <p:nvPr/>
        </p:nvSpPr>
        <p:spPr>
          <a:xfrm>
            <a:off x="640080" y="3419856"/>
            <a:ext cx="10911535" cy="914400"/>
          </a:xfrm>
          <a:prstGeom prst="roundRect">
            <a:avLst/>
          </a:prstGeom>
          <a:solidFill>
            <a:srgbClr val="FFFFFF"/>
          </a:solidFill>
          <a:ln w="22860">
            <a:solidFill>
              <a:srgbClr val="C8A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 y="3529584"/>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13" name="TextBox 12"/>
          <p:cNvSpPr txBox="1"/>
          <p:nvPr/>
        </p:nvSpPr>
        <p:spPr>
          <a:xfrm>
            <a:off x="1371600" y="3968496"/>
            <a:ext cx="9997135" cy="274320"/>
          </a:xfrm>
          <a:prstGeom prst="rect">
            <a:avLst/>
          </a:prstGeom>
          <a:noFill/>
        </p:spPr>
        <p:txBody>
          <a:bodyPr wrap="square" anchor="t" lIns="0" rIns="0" tIns="0" bIns="0">
            <a:spAutoFit/>
          </a:bodyPr>
          <a:lstStyle/>
          <a:p>
            <a:pPr algn="l">
              <a:lnSpc>
                <a:spcPct val="128000"/>
              </a:lnSpc>
            </a:pPr>
            <a:r>
              <a:rPr sz="1300" b="0">
                <a:solidFill>
                  <a:srgbClr val="1C2A33"/>
                </a:solidFill>
                <a:latin typeface="楷体"/>
                <a:ea typeface="楷体"/>
                <a:cs typeface="楷体"/>
              </a:rPr>
              <a:t>③ 1956年社会主义改造基本完成，确立社会主义基本制度。</a:t>
            </a:r>
          </a:p>
        </p:txBody>
      </p:sp>
      <p:sp>
        <p:nvSpPr>
          <p:cNvPr id="14" name="Rounded Rectangle 13"/>
          <p:cNvSpPr/>
          <p:nvPr/>
        </p:nvSpPr>
        <p:spPr>
          <a:xfrm>
            <a:off x="640080" y="4443984"/>
            <a:ext cx="10911535" cy="914400"/>
          </a:xfrm>
          <a:prstGeom prst="roundRect">
            <a:avLst/>
          </a:prstGeom>
          <a:solidFill>
            <a:srgbClr val="FFFFFF"/>
          </a:solidFill>
          <a:ln w="22860">
            <a:solidFill>
              <a:srgbClr val="C8A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71600" y="4553712"/>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16" name="TextBox 15"/>
          <p:cNvSpPr txBox="1"/>
          <p:nvPr/>
        </p:nvSpPr>
        <p:spPr>
          <a:xfrm>
            <a:off x="1371600" y="4992624"/>
            <a:ext cx="9997135" cy="274320"/>
          </a:xfrm>
          <a:prstGeom prst="rect">
            <a:avLst/>
          </a:prstGeom>
          <a:noFill/>
        </p:spPr>
        <p:txBody>
          <a:bodyPr wrap="square" anchor="t" lIns="0" rIns="0" tIns="0" bIns="0">
            <a:spAutoFit/>
          </a:bodyPr>
          <a:lstStyle/>
          <a:p>
            <a:pPr algn="l">
              <a:lnSpc>
                <a:spcPct val="128000"/>
              </a:lnSpc>
            </a:pPr>
            <a:r>
              <a:rPr sz="1300" b="0">
                <a:solidFill>
                  <a:srgbClr val="1C2A33"/>
                </a:solidFill>
                <a:latin typeface="楷体"/>
                <a:ea typeface="楷体"/>
                <a:cs typeface="楷体"/>
              </a:rPr>
              <a:t>④ 中共八大：正确指出主要矛盾是先进的社会主义制度同落后社会生产之间的矛盾。</a:t>
            </a:r>
          </a:p>
        </p:txBody>
      </p:sp>
      <p:sp>
        <p:nvSpPr>
          <p:cNvPr id="17" name="Rounded Rectangle 16"/>
          <p:cNvSpPr/>
          <p:nvPr/>
        </p:nvSpPr>
        <p:spPr>
          <a:xfrm>
            <a:off x="640080" y="5468112"/>
            <a:ext cx="10911535" cy="914400"/>
          </a:xfrm>
          <a:prstGeom prst="roundRect">
            <a:avLst/>
          </a:prstGeom>
          <a:solidFill>
            <a:srgbClr val="FFFFFF"/>
          </a:solidFill>
          <a:ln w="22860">
            <a:solidFill>
              <a:srgbClr val="C8A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71600" y="5577840"/>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19" name="TextBox 18"/>
          <p:cNvSpPr txBox="1"/>
          <p:nvPr/>
        </p:nvSpPr>
        <p:spPr>
          <a:xfrm>
            <a:off x="1371600" y="6016752"/>
            <a:ext cx="9997135" cy="274320"/>
          </a:xfrm>
          <a:prstGeom prst="rect">
            <a:avLst/>
          </a:prstGeom>
          <a:noFill/>
        </p:spPr>
        <p:txBody>
          <a:bodyPr wrap="square" anchor="t" lIns="0" rIns="0" tIns="0" bIns="0">
            <a:spAutoFit/>
          </a:bodyPr>
          <a:lstStyle/>
          <a:p>
            <a:pPr algn="l">
              <a:lnSpc>
                <a:spcPct val="128000"/>
              </a:lnSpc>
            </a:pPr>
            <a:r>
              <a:rPr sz="1300" b="0">
                <a:solidFill>
                  <a:srgbClr val="1C2A33"/>
                </a:solidFill>
                <a:latin typeface="楷体"/>
                <a:ea typeface="楷体"/>
                <a:cs typeface="楷体"/>
              </a:rPr>
              <a:t>⑤ 意义：中国进入社会主义社会，为现代化奠基。</a:t>
            </a:r>
          </a:p>
        </p:txBody>
      </p:sp>
      <p:sp>
        <p:nvSpPr>
          <p:cNvPr id="20" name="TextBox 19"/>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2E7D6B"/>
                </a:solidFill>
                <a:latin typeface="微软雅黑"/>
                <a:ea typeface="微软雅黑"/>
                <a:cs typeface="微软雅黑"/>
              </a:rPr>
              <a:t>学习路径</a:t>
            </a:r>
          </a:p>
        </p:txBody>
      </p:sp>
      <p:sp>
        <p:nvSpPr>
          <p:cNvPr id="4" name="Rectangle 3"/>
          <p:cNvSpPr/>
          <p:nvPr/>
        </p:nvSpPr>
        <p:spPr>
          <a:xfrm>
            <a:off x="640080" y="1097280"/>
            <a:ext cx="822960" cy="30480"/>
          </a:xfrm>
          <a:prstGeom prst="rect">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37160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04672" y="153619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9105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1</a:t>
            </a:r>
          </a:p>
        </p:txBody>
      </p:sp>
      <p:sp>
        <p:nvSpPr>
          <p:cNvPr id="8" name="TextBox 7"/>
          <p:cNvSpPr txBox="1"/>
          <p:nvPr/>
        </p:nvSpPr>
        <p:spPr>
          <a:xfrm>
            <a:off x="1371600" y="148132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Step 1 导入</a:t>
            </a:r>
          </a:p>
        </p:txBody>
      </p:sp>
      <p:sp>
        <p:nvSpPr>
          <p:cNvPr id="9" name="Rounded Rectangle 8"/>
          <p:cNvSpPr/>
          <p:nvPr/>
        </p:nvSpPr>
        <p:spPr>
          <a:xfrm>
            <a:off x="640080" y="219456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04672" y="235915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241401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2</a:t>
            </a:r>
          </a:p>
        </p:txBody>
      </p:sp>
      <p:sp>
        <p:nvSpPr>
          <p:cNvPr id="12" name="TextBox 11"/>
          <p:cNvSpPr txBox="1"/>
          <p:nvPr/>
        </p:nvSpPr>
        <p:spPr>
          <a:xfrm>
            <a:off x="1371600" y="2304288"/>
            <a:ext cx="9997135" cy="484632"/>
          </a:xfrm>
          <a:prstGeom prst="rect">
            <a:avLst/>
          </a:prstGeom>
          <a:noFill/>
        </p:spPr>
        <p:txBody>
          <a:bodyPr wrap="square" anchor="t" lIns="0" rIns="0" tIns="0" bIns="0">
            <a:spAutoFit/>
          </a:bodyPr>
          <a:lstStyle/>
          <a:p>
            <a:pPr algn="l">
              <a:lnSpc>
                <a:spcPct val="110000"/>
              </a:lnSpc>
            </a:pPr>
            <a:r>
              <a:rPr sz="1400" b="1">
                <a:solidFill>
                  <a:srgbClr val="1C2A33"/>
                </a:solidFill>
                <a:latin typeface="微软雅黑"/>
                <a:ea typeface="微软雅黑"/>
                <a:cs typeface="微软雅黑"/>
              </a:rPr>
              <a:t>Step 2 过渡时期总路线</a:t>
            </a:r>
          </a:p>
        </p:txBody>
      </p:sp>
      <p:sp>
        <p:nvSpPr>
          <p:cNvPr id="13" name="Rounded Rectangle 12"/>
          <p:cNvSpPr/>
          <p:nvPr/>
        </p:nvSpPr>
        <p:spPr>
          <a:xfrm>
            <a:off x="640080" y="301752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04672" y="318211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32369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3</a:t>
            </a:r>
          </a:p>
        </p:txBody>
      </p:sp>
      <p:sp>
        <p:nvSpPr>
          <p:cNvPr id="16" name="TextBox 15"/>
          <p:cNvSpPr txBox="1"/>
          <p:nvPr/>
        </p:nvSpPr>
        <p:spPr>
          <a:xfrm>
            <a:off x="1371600" y="312724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Step 3 三大改造</a:t>
            </a:r>
          </a:p>
        </p:txBody>
      </p:sp>
      <p:sp>
        <p:nvSpPr>
          <p:cNvPr id="17" name="Rounded Rectangle 16"/>
          <p:cNvSpPr/>
          <p:nvPr/>
        </p:nvSpPr>
        <p:spPr>
          <a:xfrm>
            <a:off x="640080" y="384048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04672" y="400507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405993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4</a:t>
            </a:r>
          </a:p>
        </p:txBody>
      </p:sp>
      <p:sp>
        <p:nvSpPr>
          <p:cNvPr id="20" name="TextBox 19"/>
          <p:cNvSpPr txBox="1"/>
          <p:nvPr/>
        </p:nvSpPr>
        <p:spPr>
          <a:xfrm>
            <a:off x="1371600" y="395020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Step 4 制度确立</a:t>
            </a:r>
          </a:p>
        </p:txBody>
      </p:sp>
      <p:sp>
        <p:nvSpPr>
          <p:cNvPr id="21" name="Rounded Rectangle 20"/>
          <p:cNvSpPr/>
          <p:nvPr/>
        </p:nvSpPr>
        <p:spPr>
          <a:xfrm>
            <a:off x="640080" y="466344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04672" y="482803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488289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5</a:t>
            </a:r>
          </a:p>
        </p:txBody>
      </p:sp>
      <p:sp>
        <p:nvSpPr>
          <p:cNvPr id="24" name="TextBox 23"/>
          <p:cNvSpPr txBox="1"/>
          <p:nvPr/>
        </p:nvSpPr>
        <p:spPr>
          <a:xfrm>
            <a:off x="1371600" y="477316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Step 5 中共八大</a:t>
            </a:r>
          </a:p>
        </p:txBody>
      </p:sp>
      <p:sp>
        <p:nvSpPr>
          <p:cNvPr id="25" name="Rounded Rectangle 24"/>
          <p:cNvSpPr/>
          <p:nvPr/>
        </p:nvSpPr>
        <p:spPr>
          <a:xfrm>
            <a:off x="640080" y="548640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4672" y="565099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2" y="570585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6</a:t>
            </a:r>
          </a:p>
        </p:txBody>
      </p:sp>
      <p:sp>
        <p:nvSpPr>
          <p:cNvPr id="28" name="TextBox 27"/>
          <p:cNvSpPr txBox="1"/>
          <p:nvPr/>
        </p:nvSpPr>
        <p:spPr>
          <a:xfrm>
            <a:off x="1371600" y="559612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Step 6 小结与作业</a:t>
            </a:r>
          </a:p>
        </p:txBody>
      </p:sp>
      <p:sp>
        <p:nvSpPr>
          <p:cNvPr id="29" name="TextBox 28"/>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B23A2A"/>
                </a:solidFill>
                <a:latin typeface="微软雅黑"/>
                <a:ea typeface="微软雅黑"/>
                <a:cs typeface="微软雅黑"/>
              </a:rPr>
              <a:t>易混易错</a:t>
            </a:r>
          </a:p>
        </p:txBody>
      </p:sp>
      <p:sp>
        <p:nvSpPr>
          <p:cNvPr id="4" name="Rectangle 3"/>
          <p:cNvSpPr/>
          <p:nvPr/>
        </p:nvSpPr>
        <p:spPr>
          <a:xfrm>
            <a:off x="640080" y="1097280"/>
            <a:ext cx="822960" cy="30480"/>
          </a:xfrm>
          <a:prstGeom prst="rect">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04672" y="1581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636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a:t>
            </a:r>
          </a:p>
        </p:txBody>
      </p:sp>
      <p:sp>
        <p:nvSpPr>
          <p:cNvPr id="8" name="TextBox 7"/>
          <p:cNvSpPr txBox="1"/>
          <p:nvPr/>
        </p:nvSpPr>
        <p:spPr>
          <a:xfrm>
            <a:off x="1371600" y="1527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9" name="TextBox 8"/>
          <p:cNvSpPr txBox="1"/>
          <p:nvPr/>
        </p:nvSpPr>
        <p:spPr>
          <a:xfrm>
            <a:off x="1371600" y="1965960"/>
            <a:ext cx="4434840" cy="1417320"/>
          </a:xfrm>
          <a:prstGeom prst="rect">
            <a:avLst/>
          </a:prstGeom>
          <a:noFill/>
        </p:spPr>
        <p:txBody>
          <a:bodyPr wrap="square" anchor="t" lIns="0" rIns="0" tIns="0" bIns="0">
            <a:spAutoFit/>
          </a:bodyPr>
          <a:lstStyle/>
          <a:p>
            <a:pPr algn="l">
              <a:lnSpc>
                <a:spcPct val="128000"/>
              </a:lnSpc>
            </a:pPr>
            <a:r>
              <a:rPr sz="1200" b="0">
                <a:solidFill>
                  <a:srgbClr val="1C2A33"/>
                </a:solidFill>
                <a:latin typeface="楷体"/>
                <a:ea typeface="楷体"/>
                <a:cs typeface="楷体"/>
              </a:rPr>
              <a:t>① 改造的性质。原因：学生易以为是"消灭私有"，需讲清是变革生产关系、建立公有制。</a:t>
            </a:r>
          </a:p>
        </p:txBody>
      </p:sp>
      <p:sp>
        <p:nvSpPr>
          <p:cNvPr id="10" name="Rounded Rectangle 9"/>
          <p:cNvSpPr/>
          <p:nvPr/>
        </p:nvSpPr>
        <p:spPr>
          <a:xfrm>
            <a:off x="6263640" y="1417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28232" y="1581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8232" y="1636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a:t>
            </a:r>
          </a:p>
        </p:txBody>
      </p:sp>
      <p:sp>
        <p:nvSpPr>
          <p:cNvPr id="13" name="TextBox 12"/>
          <p:cNvSpPr txBox="1"/>
          <p:nvPr/>
        </p:nvSpPr>
        <p:spPr>
          <a:xfrm>
            <a:off x="6995160" y="1527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14" name="TextBox 13"/>
          <p:cNvSpPr txBox="1"/>
          <p:nvPr/>
        </p:nvSpPr>
        <p:spPr>
          <a:xfrm>
            <a:off x="6995160" y="1965960"/>
            <a:ext cx="4434840" cy="141732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② 与土改区别。原因：土改是反封建、仍私有；改造是变公有，需对比。</a:t>
            </a:r>
          </a:p>
        </p:txBody>
      </p:sp>
      <p:sp>
        <p:nvSpPr>
          <p:cNvPr id="15" name="Rounded Rectangle 14"/>
          <p:cNvSpPr/>
          <p:nvPr/>
        </p:nvSpPr>
        <p:spPr>
          <a:xfrm>
            <a:off x="640080" y="3703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4672" y="3867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3922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a:t>
            </a:r>
          </a:p>
        </p:txBody>
      </p:sp>
      <p:sp>
        <p:nvSpPr>
          <p:cNvPr id="18" name="TextBox 17"/>
          <p:cNvSpPr txBox="1"/>
          <p:nvPr/>
        </p:nvSpPr>
        <p:spPr>
          <a:xfrm>
            <a:off x="1371600" y="3813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19" name="TextBox 18"/>
          <p:cNvSpPr txBox="1"/>
          <p:nvPr/>
        </p:nvSpPr>
        <p:spPr>
          <a:xfrm>
            <a:off x="1371600" y="4251960"/>
            <a:ext cx="4434840" cy="141732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③ 八大的价值。原因：易与后来失误混淆，需强调其"正确论断"地位。</a:t>
            </a:r>
          </a:p>
        </p:txBody>
      </p:sp>
      <p:sp>
        <p:nvSpPr>
          <p:cNvPr id="20" name="TextBox 19"/>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C8A86B"/>
                </a:solidFill>
                <a:latin typeface="微软雅黑"/>
                <a:ea typeface="微软雅黑"/>
                <a:cs typeface="微软雅黑"/>
              </a:rPr>
              <a:t>要点板书</a:t>
            </a:r>
          </a:p>
        </p:txBody>
      </p:sp>
      <p:sp>
        <p:nvSpPr>
          <p:cNvPr id="4" name="Rectangle 3"/>
          <p:cNvSpPr/>
          <p:nvPr/>
        </p:nvSpPr>
        <p:spPr>
          <a:xfrm>
            <a:off x="640080" y="1097280"/>
            <a:ext cx="822960" cy="30480"/>
          </a:xfrm>
          <a:prstGeom prst="rect">
            <a:avLst/>
          </a:prstGeom>
          <a:solidFill>
            <a:srgbClr val="C8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10911535" cy="5394960"/>
          </a:xfrm>
          <a:prstGeom prst="roundRect">
            <a:avLst/>
          </a:prstGeom>
          <a:solidFill>
            <a:srgbClr val="FFFFFF"/>
          </a:solidFill>
          <a:ln w="25400">
            <a:solidFill>
              <a:srgbClr val="C8A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10362895" cy="5120640"/>
          </a:xfrm>
          <a:prstGeom prst="rect">
            <a:avLst/>
          </a:prstGeom>
          <a:noFill/>
        </p:spPr>
        <p:txBody>
          <a:bodyPr wrap="square" anchor="t" lIns="0" rIns="0" tIns="0" bIns="0">
            <a:spAutoFit/>
          </a:bodyPr>
          <a:lstStyle/>
          <a:p>
            <a:pPr algn="l">
              <a:lnSpc>
                <a:spcPct val="110000"/>
              </a:lnSpc>
              <a:spcAft>
                <a:spcPts val="100"/>
              </a:spcAft>
            </a:pPr>
            <a:r>
              <a:rPr sz="1300" b="0">
                <a:solidFill>
                  <a:srgbClr val="1C2A33"/>
                </a:solidFill>
                <a:latin typeface="微软雅黑"/>
                <a:ea typeface="微软雅黑"/>
                <a:cs typeface="微软雅黑"/>
              </a:rPr>
              <a:t>┌─ 制度确立 ─────┐
│ 总路线:一化三改│
│ 农业:合作化 │
│ 手工业:合作社 │
│ 工商:公私合营 │
│ 1956 私有→公有│
│ 社会主义制度 │
│ 八大:主要矛盾 │
│ 最深刻变革 │
└──────────────┘</a:t>
            </a:r>
          </a:p>
        </p:txBody>
      </p:sp>
      <p:sp>
        <p:nvSpPr>
          <p:cNvPr id="7" name="TextBox 6"/>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2E7D6B"/>
                </a:solidFill>
                <a:latin typeface="微软雅黑"/>
                <a:ea typeface="微软雅黑"/>
                <a:cs typeface="微软雅黑"/>
              </a:rPr>
              <a:t>分层作业</a:t>
            </a:r>
          </a:p>
        </p:txBody>
      </p:sp>
      <p:sp>
        <p:nvSpPr>
          <p:cNvPr id="4" name="Rectangle 3"/>
          <p:cNvSpPr/>
          <p:nvPr/>
        </p:nvSpPr>
        <p:spPr>
          <a:xfrm>
            <a:off x="640080" y="1097280"/>
            <a:ext cx="822960" cy="30480"/>
          </a:xfrm>
          <a:prstGeom prst="rect">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10911535" cy="141732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1527048"/>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7" name="TextBox 6"/>
          <p:cNvSpPr txBox="1"/>
          <p:nvPr/>
        </p:nvSpPr>
        <p:spPr>
          <a:xfrm>
            <a:off x="1371600" y="1965960"/>
            <a:ext cx="9997135" cy="777240"/>
          </a:xfrm>
          <a:prstGeom prst="rect">
            <a:avLst/>
          </a:prstGeom>
          <a:noFill/>
        </p:spPr>
        <p:txBody>
          <a:bodyPr wrap="square" anchor="t" lIns="0" rIns="0" tIns="0" bIns="0">
            <a:spAutoFit/>
          </a:bodyPr>
          <a:lstStyle/>
          <a:p>
            <a:pPr algn="l">
              <a:lnSpc>
                <a:spcPct val="128000"/>
              </a:lnSpc>
            </a:pPr>
            <a:r>
              <a:rPr sz="1100" b="0">
                <a:solidFill>
                  <a:srgbClr val="1C2A33"/>
                </a:solidFill>
                <a:latin typeface="楷体"/>
                <a:ea typeface="楷体"/>
                <a:cs typeface="楷体"/>
              </a:rPr>
              <a:t>【基础作业】1. 过渡时期总路线的核心是"____"(一化三改)。2. ____年社会主义改造基本完成，社会主义制度确立。</a:t>
            </a:r>
          </a:p>
        </p:txBody>
      </p:sp>
      <p:sp>
        <p:nvSpPr>
          <p:cNvPr id="8" name="Rounded Rectangle 7"/>
          <p:cNvSpPr/>
          <p:nvPr/>
        </p:nvSpPr>
        <p:spPr>
          <a:xfrm>
            <a:off x="640080" y="2971800"/>
            <a:ext cx="10911535" cy="141732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3081528"/>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10" name="TextBox 9"/>
          <p:cNvSpPr txBox="1"/>
          <p:nvPr/>
        </p:nvSpPr>
        <p:spPr>
          <a:xfrm>
            <a:off x="1371600" y="3520440"/>
            <a:ext cx="9997135" cy="77724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【提高作业】说明土地改革与三大改造的根本不同。</a:t>
            </a:r>
          </a:p>
        </p:txBody>
      </p:sp>
      <p:sp>
        <p:nvSpPr>
          <p:cNvPr id="11" name="TextBox 10"/>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C8A86B"/>
                </a:solidFill>
                <a:latin typeface="微软雅黑"/>
                <a:ea typeface="微软雅黑"/>
                <a:cs typeface="微软雅黑"/>
              </a:rPr>
              <a:t>本课小结</a:t>
            </a:r>
          </a:p>
        </p:txBody>
      </p:sp>
      <p:sp>
        <p:nvSpPr>
          <p:cNvPr id="4" name="Rectangle 3"/>
          <p:cNvSpPr/>
          <p:nvPr/>
        </p:nvSpPr>
        <p:spPr>
          <a:xfrm>
            <a:off x="640080" y="1097280"/>
            <a:ext cx="822960" cy="30480"/>
          </a:xfrm>
          <a:prstGeom prst="rect">
            <a:avLst/>
          </a:prstGeom>
          <a:solidFill>
            <a:srgbClr val="C8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737360"/>
            <a:ext cx="54864" cy="431800"/>
          </a:xfrm>
          <a:prstGeom prst="rect">
            <a:avLst/>
          </a:prstGeom>
          <a:solidFill>
            <a:srgbClr val="C8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45920"/>
            <a:ext cx="10682935" cy="2194560"/>
          </a:xfrm>
          <a:prstGeom prst="rect">
            <a:avLst/>
          </a:prstGeom>
          <a:noFill/>
        </p:spPr>
        <p:txBody>
          <a:bodyPr wrap="square" anchor="t" lIns="0" rIns="0" tIns="0" bIns="0">
            <a:spAutoFit/>
          </a:bodyPr>
          <a:lstStyle/>
          <a:p>
            <a:pPr algn="l">
              <a:lnSpc>
                <a:spcPct val="150000"/>
              </a:lnSpc>
              <a:spcAft>
                <a:spcPts val="1000"/>
              </a:spcAft>
            </a:pPr>
            <a:r>
              <a:rPr sz="2200" b="0">
                <a:solidFill>
                  <a:srgbClr val="1C2A33"/>
                </a:solidFill>
                <a:latin typeface="楷体"/>
                <a:ea typeface="楷体"/>
                <a:cs typeface="楷体"/>
              </a:rPr>
              <a:t>本单元主题：第二课 只有社会主义才能救中国。把今天学到的方法带进下一篇——自己读、自己想、自己写。</a:t>
            </a:r>
          </a:p>
          <a:p>
            <a:pPr algn="l"/>
            <a:r>
              <a:rPr sz="1600" b="1">
                <a:solidFill>
                  <a:srgbClr val="B23A2A"/>
                </a:solidFill>
                <a:latin typeface="微软雅黑"/>
                <a:ea typeface="微软雅黑"/>
                <a:cs typeface="微软雅黑"/>
              </a:rPr>
              <a:t>方法迁移：圈关键信息 → 理事件脉络 → 析人物精神</a:t>
            </a:r>
          </a:p>
        </p:txBody>
      </p:sp>
      <p:sp>
        <p:nvSpPr>
          <p:cNvPr id="7" name="TextBox 6"/>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