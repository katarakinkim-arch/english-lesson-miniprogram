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11535" cy="502920"/>
          </a:xfrm>
          <a:prstGeom prst="rect">
            <a:avLst/>
          </a:prstGeom>
          <a:noFill/>
        </p:spPr>
        <p:txBody>
          <a:bodyPr wrap="square" anchor="t" lIns="0" rIns="0" tIns="0" bIns="0">
            <a:spAutoFit/>
          </a:bodyPr>
          <a:lstStyle/>
          <a:p>
            <a:pPr algn="l">
              <a:spcAft>
                <a:spcPts val="0"/>
              </a:spcAft>
            </a:pPr>
            <a:r>
              <a:rPr sz="1200" b="1">
                <a:solidFill>
                  <a:srgbClr val="B23A2A"/>
                </a:solidFill>
                <a:latin typeface="微软雅黑"/>
                <a:ea typeface="微软雅黑"/>
                <a:cs typeface="微软雅黑"/>
              </a:rPr>
              <a:t>政治 · 必修3 政治与法治 · 第2单元 第六课 我国的基本政治制度</a:t>
            </a:r>
          </a:p>
        </p:txBody>
      </p:sp>
      <p:sp>
        <p:nvSpPr>
          <p:cNvPr id="4" name="Rectangle 3"/>
          <p:cNvSpPr/>
          <p:nvPr/>
        </p:nvSpPr>
        <p:spPr>
          <a:xfrm>
            <a:off x="640080" y="1207008"/>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10911535" cy="2011680"/>
          </a:xfrm>
          <a:prstGeom prst="rect">
            <a:avLst/>
          </a:prstGeom>
          <a:noFill/>
        </p:spPr>
        <p:txBody>
          <a:bodyPr wrap="square" anchor="t" lIns="0" rIns="0" tIns="0" bIns="0">
            <a:spAutoFit/>
          </a:bodyPr>
          <a:lstStyle/>
          <a:p>
            <a:pPr algn="l">
              <a:lnSpc>
                <a:spcPct val="115000"/>
              </a:lnSpc>
            </a:pPr>
            <a:r>
              <a:rPr sz="4000" b="1">
                <a:solidFill>
                  <a:srgbClr val="1C2A33"/>
                </a:solidFill>
                <a:latin typeface="楷体"/>
                <a:ea typeface="楷体"/>
                <a:cs typeface="楷体"/>
              </a:rPr>
              <a:t>中国共产党领导的多党合作和政治协商制度</a:t>
            </a:r>
          </a:p>
        </p:txBody>
      </p:sp>
      <p:sp>
        <p:nvSpPr>
          <p:cNvPr id="6" name="TextBox 5"/>
          <p:cNvSpPr txBox="1"/>
          <p:nvPr/>
        </p:nvSpPr>
        <p:spPr>
          <a:xfrm>
            <a:off x="640080" y="3840480"/>
            <a:ext cx="10911535" cy="457200"/>
          </a:xfrm>
          <a:prstGeom prst="rect">
            <a:avLst/>
          </a:prstGeom>
          <a:noFill/>
        </p:spPr>
        <p:txBody>
          <a:bodyPr wrap="square" anchor="t" lIns="0" rIns="0" tIns="0" bIns="0">
            <a:spAutoFit/>
          </a:bodyPr>
          <a:lstStyle/>
          <a:p>
            <a:pPr algn="l"/>
            <a:r>
              <a:rPr sz="1700" b="1">
                <a:solidFill>
                  <a:srgbClr val="B23A2A"/>
                </a:solidFill>
                <a:latin typeface="微软雅黑"/>
                <a:ea typeface="微软雅黑"/>
                <a:cs typeface="微软雅黑"/>
              </a:rPr>
              <a:t>新课  ·  第8课时  ·  45分钟</a:t>
            </a:r>
          </a:p>
        </p:txBody>
      </p:sp>
      <p:sp>
        <p:nvSpPr>
          <p:cNvPr id="7" name="Rectangle 6"/>
          <p:cNvSpPr/>
          <p:nvPr/>
        </p:nvSpPr>
        <p:spPr>
          <a:xfrm>
            <a:off x="640080" y="5394960"/>
            <a:ext cx="2011680" cy="3302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623560"/>
            <a:ext cx="10911535" cy="548640"/>
          </a:xfrm>
          <a:prstGeom prst="rect">
            <a:avLst/>
          </a:prstGeom>
          <a:noFill/>
        </p:spPr>
        <p:txBody>
          <a:bodyPr wrap="square" anchor="t" lIns="0" rIns="0" tIns="0" bIns="0">
            <a:spAutoFit/>
          </a:bodyPr>
          <a:lstStyle/>
          <a:p>
            <a:pPr algn="l"/>
            <a:r>
              <a:rPr sz="1400" b="0">
                <a:solidFill>
                  <a:srgbClr val="6B6258"/>
                </a:solidFill>
                <a:latin typeface="微软雅黑"/>
                <a:ea typeface="微软雅黑"/>
                <a:cs typeface="微软雅黑"/>
              </a:rPr>
              <a:t>学习任务群：    |    年级：高二</a:t>
            </a:r>
          </a:p>
        </p:txBody>
      </p:sp>
      <p:sp>
        <p:nvSpPr>
          <p:cNvPr id="9" name="TextBox 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学习目标</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政治认同：认同我国共产党领导的多党合作和政治协商制度。</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科学精神：分析我国政党制度与西方多党制的本质区别。</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法治意识：理解多党合作以宪法为根本活动准则。</a:t>
            </a:r>
          </a:p>
        </p:txBody>
      </p:sp>
      <p:sp>
        <p:nvSpPr>
          <p:cNvPr id="20" name="Rounded Rectangle 19"/>
          <p:cNvSpPr/>
          <p:nvPr/>
        </p:nvSpPr>
        <p:spPr>
          <a:xfrm>
            <a:off x="626364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3" name="TextBox 22"/>
          <p:cNvSpPr txBox="1"/>
          <p:nvPr/>
        </p:nvSpPr>
        <p:spPr>
          <a:xfrm>
            <a:off x="699516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24" name="TextBox 23"/>
          <p:cNvSpPr txBox="1"/>
          <p:nvPr/>
        </p:nvSpPr>
        <p:spPr>
          <a:xfrm>
            <a:off x="699516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公共参与：了解政协职能，增强协商民主意识。</a:t>
            </a:r>
          </a:p>
        </p:txBody>
      </p:sp>
      <p:sp>
        <p:nvSpPr>
          <p:cNvPr id="25" name="TextBox 24"/>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课文背景</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6766560" cy="4572000"/>
          </a:xfrm>
          <a:prstGeom prst="rect">
            <a:avLst/>
          </a:prstGeom>
          <a:noFill/>
        </p:spPr>
        <p:txBody>
          <a:bodyPr wrap="square" anchor="t" lIns="0" rIns="0" tIns="0" bIns="0">
            <a:spAutoFit/>
          </a:bodyPr>
          <a:lstStyle/>
          <a:p>
            <a:pPr algn="l">
              <a:lnSpc>
                <a:spcPct val="150000"/>
              </a:lnSpc>
              <a:spcAft>
                <a:spcPts val="600"/>
              </a:spcAft>
            </a:pPr>
            <a:r>
              <a:rPr sz="1600" b="0">
                <a:solidFill>
                  <a:srgbClr val="1C2A33"/>
                </a:solidFill>
                <a:latin typeface="楷体"/>
                <a:ea typeface="楷体"/>
                <a:cs typeface="楷体"/>
              </a:rPr>
              <a:t>本框阐明中国共产党领导的多党合作和政治协商制度是我国基本政治制度：共产党执政、各民主党派参政，人民政协是爱国统一战线组织，履行政治协商、民主监督、参政议政职能。</a:t>
            </a:r>
          </a:p>
        </p:txBody>
      </p:sp>
      <p:pic>
        <p:nvPicPr>
          <p:cNvPr id="6" name="Picture 5" descr="renmin.jpg"/>
          <p:cNvPicPr>
            <a:picLocks noChangeAspect="1"/>
          </p:cNvPicPr>
          <p:nvPr/>
        </p:nvPicPr>
        <p:blipFill>
          <a:blip r:embed="rId2"/>
          <a:srcRect l="368" r="368"/>
          <a:stretch>
            <a:fillRect/>
          </a:stretch>
        </p:blipFill>
        <p:spPr>
          <a:xfrm>
            <a:off x="8046720" y="1508760"/>
            <a:ext cx="4114800" cy="3108960"/>
          </a:xfrm>
          <a:prstGeom prst="rect">
            <a:avLst/>
          </a:prstGeom>
        </p:spPr>
      </p:pic>
      <p:sp>
        <p:nvSpPr>
          <p:cNvPr id="7" name="TextBox 6"/>
          <p:cNvSpPr txBox="1"/>
          <p:nvPr/>
        </p:nvSpPr>
        <p:spPr>
          <a:xfrm>
            <a:off x="8046720" y="4663440"/>
            <a:ext cx="4114800" cy="365760"/>
          </a:xfrm>
          <a:prstGeom prst="rect">
            <a:avLst/>
          </a:prstGeom>
          <a:noFill/>
        </p:spPr>
        <p:txBody>
          <a:bodyPr wrap="square" anchor="t" lIns="0" rIns="0" tIns="0" bIns="0">
            <a:spAutoFit/>
          </a:bodyPr>
          <a:lstStyle/>
          <a:p>
            <a:pPr algn="ctr"/>
            <a:r>
              <a:rPr sz="1100" b="0">
                <a:solidFill>
                  <a:srgbClr val="6B6258"/>
                </a:solidFill>
                <a:latin typeface="微软雅黑"/>
                <a:ea typeface="微软雅黑"/>
                <a:cs typeface="微软雅黑"/>
              </a:rPr>
              <a:t>资料图（自由授权，复用 renmin.jpg）</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学习重点</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813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20240"/>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① 格局：共产党执政、各民主党派参政(非反对党)。</a:t>
            </a:r>
          </a:p>
        </p:txBody>
      </p:sp>
      <p:sp>
        <p:nvSpPr>
          <p:cNvPr id="8" name="Rounded Rectangle 7"/>
          <p:cNvSpPr/>
          <p:nvPr/>
        </p:nvSpPr>
        <p:spPr>
          <a:xfrm>
            <a:off x="640080" y="2395728"/>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505456"/>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2944368"/>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② 方针：长期共存、互相监督、肝胆相照、荣辱与共。</a:t>
            </a:r>
          </a:p>
        </p:txBody>
      </p:sp>
      <p:sp>
        <p:nvSpPr>
          <p:cNvPr id="11" name="Rounded Rectangle 10"/>
          <p:cNvSpPr/>
          <p:nvPr/>
        </p:nvSpPr>
        <p:spPr>
          <a:xfrm>
            <a:off x="640080" y="3419856"/>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529584"/>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3" name="TextBox 12"/>
          <p:cNvSpPr txBox="1"/>
          <p:nvPr/>
        </p:nvSpPr>
        <p:spPr>
          <a:xfrm>
            <a:off x="1371600" y="3968496"/>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③ 根本准则：宪法。</a:t>
            </a:r>
          </a:p>
        </p:txBody>
      </p:sp>
      <p:sp>
        <p:nvSpPr>
          <p:cNvPr id="14" name="Rounded Rectangle 13"/>
          <p:cNvSpPr/>
          <p:nvPr/>
        </p:nvSpPr>
        <p:spPr>
          <a:xfrm>
            <a:off x="640080" y="4443984"/>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4553712"/>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6" name="TextBox 15"/>
          <p:cNvSpPr txBox="1"/>
          <p:nvPr/>
        </p:nvSpPr>
        <p:spPr>
          <a:xfrm>
            <a:off x="1371600" y="4992624"/>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④ 政协：爱国统一战线组织，履行政治协商、民主监督、参政议政。</a:t>
            </a:r>
          </a:p>
        </p:txBody>
      </p:sp>
      <p:sp>
        <p:nvSpPr>
          <p:cNvPr id="17" name="Rounded Rectangle 16"/>
          <p:cNvSpPr/>
          <p:nvPr/>
        </p:nvSpPr>
        <p:spPr>
          <a:xfrm>
            <a:off x="640080" y="5468112"/>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5577840"/>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9" name="TextBox 18"/>
          <p:cNvSpPr txBox="1"/>
          <p:nvPr/>
        </p:nvSpPr>
        <p:spPr>
          <a:xfrm>
            <a:off x="1371600" y="6016752"/>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⑤ 特色：共产党领导、多党派合作，新型政党制度。</a:t>
            </a:r>
          </a:p>
        </p:txBody>
      </p:sp>
      <p:sp>
        <p:nvSpPr>
          <p:cNvPr id="20" name="TextBox 1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学习路径</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361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910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4813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1 导入</a:t>
            </a:r>
          </a:p>
        </p:txBody>
      </p:sp>
      <p:sp>
        <p:nvSpPr>
          <p:cNvPr id="9" name="Rounded Rectangle 8"/>
          <p:cNvSpPr/>
          <p:nvPr/>
        </p:nvSpPr>
        <p:spPr>
          <a:xfrm>
            <a:off x="640080" y="219456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35915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41401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2" name="TextBox 11"/>
          <p:cNvSpPr txBox="1"/>
          <p:nvPr/>
        </p:nvSpPr>
        <p:spPr>
          <a:xfrm>
            <a:off x="1371600" y="230428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2 执政与参政</a:t>
            </a:r>
          </a:p>
        </p:txBody>
      </p:sp>
      <p:sp>
        <p:nvSpPr>
          <p:cNvPr id="13" name="Rounded Rectangle 12"/>
          <p:cNvSpPr/>
          <p:nvPr/>
        </p:nvSpPr>
        <p:spPr>
          <a:xfrm>
            <a:off x="640080" y="301752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2" y="318211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369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6" name="TextBox 15"/>
          <p:cNvSpPr txBox="1"/>
          <p:nvPr/>
        </p:nvSpPr>
        <p:spPr>
          <a:xfrm>
            <a:off x="1371600" y="312724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3 十六字方针</a:t>
            </a:r>
          </a:p>
        </p:txBody>
      </p:sp>
      <p:sp>
        <p:nvSpPr>
          <p:cNvPr id="17" name="Rounded Rectangle 16"/>
          <p:cNvSpPr/>
          <p:nvPr/>
        </p:nvSpPr>
        <p:spPr>
          <a:xfrm>
            <a:off x="640080" y="384048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2" y="400507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5993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0" name="TextBox 19"/>
          <p:cNvSpPr txBox="1"/>
          <p:nvPr/>
        </p:nvSpPr>
        <p:spPr>
          <a:xfrm>
            <a:off x="1371600" y="395020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4 人民政协</a:t>
            </a:r>
          </a:p>
        </p:txBody>
      </p:sp>
      <p:sp>
        <p:nvSpPr>
          <p:cNvPr id="21" name="Rounded Rectangle 20"/>
          <p:cNvSpPr/>
          <p:nvPr/>
        </p:nvSpPr>
        <p:spPr>
          <a:xfrm>
            <a:off x="640080" y="466344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4672" y="482803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88289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5</a:t>
            </a:r>
          </a:p>
        </p:txBody>
      </p:sp>
      <p:sp>
        <p:nvSpPr>
          <p:cNvPr id="24" name="TextBox 23"/>
          <p:cNvSpPr txBox="1"/>
          <p:nvPr/>
        </p:nvSpPr>
        <p:spPr>
          <a:xfrm>
            <a:off x="1371600" y="477316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5 制度优势</a:t>
            </a:r>
          </a:p>
        </p:txBody>
      </p:sp>
      <p:sp>
        <p:nvSpPr>
          <p:cNvPr id="25" name="Rounded Rectangle 24"/>
          <p:cNvSpPr/>
          <p:nvPr/>
        </p:nvSpPr>
        <p:spPr>
          <a:xfrm>
            <a:off x="640080" y="54864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56509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058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6</a:t>
            </a:r>
          </a:p>
        </p:txBody>
      </p:sp>
      <p:sp>
        <p:nvSpPr>
          <p:cNvPr id="28" name="TextBox 27"/>
          <p:cNvSpPr txBox="1"/>
          <p:nvPr/>
        </p:nvSpPr>
        <p:spPr>
          <a:xfrm>
            <a:off x="1371600" y="55961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6 小结与作业</a:t>
            </a:r>
          </a:p>
        </p:txBody>
      </p:sp>
      <p:sp>
        <p:nvSpPr>
          <p:cNvPr id="29" name="TextBox 2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易混易错</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① 参政≠反对党。原因：学生易套西方"在野党"，需讲清"参政党"定位。</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② 政协性质。原因：易误为"权力机关"，需强调"统一战线组织"。</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③ 制度优势。原因：易与西方比"谁更好"，需讲适配国情。</a:t>
            </a:r>
          </a:p>
        </p:txBody>
      </p:sp>
      <p:sp>
        <p:nvSpPr>
          <p:cNvPr id="20" name="TextBox 1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要点板书</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5394960"/>
          </a:xfrm>
          <a:prstGeom prst="roundRect">
            <a:avLst/>
          </a:prstGeom>
          <a:solidFill>
            <a:srgbClr val="FFFFFF"/>
          </a:solidFill>
          <a:ln w="2540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62895" cy="5120640"/>
          </a:xfrm>
          <a:prstGeom prst="rect">
            <a:avLst/>
          </a:prstGeom>
          <a:noFill/>
        </p:spPr>
        <p:txBody>
          <a:bodyPr wrap="square" anchor="t" lIns="0" rIns="0" tIns="0" bIns="0">
            <a:spAutoFit/>
          </a:bodyPr>
          <a:lstStyle/>
          <a:p>
            <a:pPr algn="l">
              <a:lnSpc>
                <a:spcPct val="110000"/>
              </a:lnSpc>
              <a:spcAft>
                <a:spcPts val="100"/>
              </a:spcAft>
            </a:pPr>
            <a:r>
              <a:rPr sz="1300" b="0">
                <a:solidFill>
                  <a:srgbClr val="1C2A33"/>
                </a:solidFill>
                <a:latin typeface="微软雅黑"/>
                <a:ea typeface="微软雅黑"/>
                <a:cs typeface="微软雅黑"/>
              </a:rPr>
              <a:t>┌─ 多党合作 ────┐
│ 执政党:共产 │
│ 党参政党 │
│ 方针:十六字 │
│ 政协:统一战 │
│ 线组织 │
│ 职能:协商监 │
│ 督参政 │
│ 新型政党制 │
└──────────────┘</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分层作业</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5270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65960"/>
            <a:ext cx="9997135" cy="777240"/>
          </a:xfrm>
          <a:prstGeom prst="rect">
            <a:avLst/>
          </a:prstGeom>
          <a:noFill/>
        </p:spPr>
        <p:txBody>
          <a:bodyPr wrap="square" anchor="t" lIns="0" rIns="0" tIns="0" bIns="0">
            <a:spAutoFit/>
          </a:bodyPr>
          <a:lstStyle/>
          <a:p>
            <a:pPr algn="l">
              <a:lnSpc>
                <a:spcPct val="128000"/>
              </a:lnSpc>
            </a:pPr>
            <a:r>
              <a:rPr sz="1100" b="0">
                <a:solidFill>
                  <a:srgbClr val="1C2A33"/>
                </a:solidFill>
                <a:latin typeface="楷体"/>
                <a:ea typeface="楷体"/>
                <a:cs typeface="楷体"/>
              </a:rPr>
              <a:t>【基础作业】1. 我国政党制度中，共产党是____党，民主党派是____党。2. 人民政协履行政治协商、____、____三项职能。</a:t>
            </a:r>
          </a:p>
        </p:txBody>
      </p:sp>
      <p:sp>
        <p:nvSpPr>
          <p:cNvPr id="8" name="Rounded Rectangle 7"/>
          <p:cNvSpPr/>
          <p:nvPr/>
        </p:nvSpPr>
        <p:spPr>
          <a:xfrm>
            <a:off x="640080" y="297180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815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520440"/>
            <a:ext cx="9997135" cy="77724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【提高作业】为什么我国民主党派不是"反对党"？</a:t>
            </a:r>
          </a:p>
        </p:txBody>
      </p:sp>
      <p:sp>
        <p:nvSpPr>
          <p:cNvPr id="11" name="TextBox 10"/>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本课小结</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4864" cy="43180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10682935" cy="2194560"/>
          </a:xfrm>
          <a:prstGeom prst="rect">
            <a:avLst/>
          </a:prstGeom>
          <a:noFill/>
        </p:spPr>
        <p:txBody>
          <a:bodyPr wrap="square" anchor="t" lIns="0" rIns="0" tIns="0" bIns="0">
            <a:spAutoFit/>
          </a:bodyPr>
          <a:lstStyle/>
          <a:p>
            <a:pPr algn="l">
              <a:lnSpc>
                <a:spcPct val="150000"/>
              </a:lnSpc>
              <a:spcAft>
                <a:spcPts val="1000"/>
              </a:spcAft>
            </a:pPr>
            <a:r>
              <a:rPr sz="2200" b="0">
                <a:solidFill>
                  <a:srgbClr val="1C2A33"/>
                </a:solidFill>
                <a:latin typeface="楷体"/>
                <a:ea typeface="楷体"/>
                <a:cs typeface="楷体"/>
              </a:rPr>
              <a:t>本单元主题：第六课 我国的基本政治制度。把今天学到的方法带进下一篇——自己读、自己想、自己写。</a:t>
            </a:r>
          </a:p>
          <a:p>
            <a:pPr algn="l"/>
            <a:r>
              <a:rPr sz="1600" b="1">
                <a:solidFill>
                  <a:srgbClr val="B23A2A"/>
                </a:solidFill>
                <a:latin typeface="微软雅黑"/>
                <a:ea typeface="微软雅黑"/>
                <a:cs typeface="微软雅黑"/>
              </a:rPr>
              <a:t>方法迁移：圈关键信息 → 理事件脉络 → 析人物精神</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