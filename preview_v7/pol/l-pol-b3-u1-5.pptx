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政治 · 必修3 政治与法治 · 第1单元 第三课 坚持和加强党的全面领导</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坚持和加强党的全面领导</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新课  ·  第5课时  ·  45分钟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年级：高二</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政治认同：认同中国共产党领导是中国特色社会主义最本质特征。</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科学精神：分析党的领导方式与依法治国、人民当家作主的统一。</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法治意识：理解党依法执政，把法治作为治国理政基本方式。</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公共参与：拥护党的领导，增强"听党话跟党走"自觉。</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本框阐明中国共产党领导是中国特色社会主义最本质特征和最大优势，要坚决维护党中央权威和集中统一领导，坚持党对一切工作的领导，坚持全面从严治党、依法执政。</a:t>
            </a:r>
          </a:p>
        </p:txBody>
      </p:sp>
      <p:pic>
        <p:nvPicPr>
          <p:cNvPr id="6" name="Picture 5" descr="renmin.jpg"/>
          <p:cNvPicPr>
            <a:picLocks noChangeAspect="1"/>
          </p:cNvPicPr>
          <p:nvPr/>
        </p:nvPicPr>
        <p:blipFill>
          <a:blip r:embed="rId2"/>
          <a:srcRect l="368" r="368"/>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renmin.jpg）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① 最本质特征：党的领导是中国特色社会主义最本质特征和最大优势。</a:t>
            </a:r>
          </a:p>
        </p:txBody>
      </p:sp>
      <p:sp>
        <p:nvSpPr>
          <p:cNvPr id="8" name="Rounded Rectangle 7"/>
          <p:cNvSpPr/>
          <p:nvPr/>
        </p:nvSpPr>
        <p:spPr>
          <a:xfrm>
            <a:off x="640080" y="2395728"/>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2505456"/>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2944368"/>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② 领导方式：政治领导、思想领导、组织领导。</a:t>
            </a:r>
          </a:p>
        </p:txBody>
      </p:sp>
      <p:sp>
        <p:nvSpPr>
          <p:cNvPr id="11" name="Rounded Rectangle 10"/>
          <p:cNvSpPr/>
          <p:nvPr/>
        </p:nvSpPr>
        <p:spPr>
          <a:xfrm>
            <a:off x="640080" y="3419856"/>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3529584"/>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3" name="TextBox 12"/>
          <p:cNvSpPr txBox="1"/>
          <p:nvPr/>
        </p:nvSpPr>
        <p:spPr>
          <a:xfrm>
            <a:off x="1371600" y="3968496"/>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③ 核心：坚决维护党中央权威和集中统一领导。</a:t>
            </a:r>
          </a:p>
        </p:txBody>
      </p:sp>
      <p:sp>
        <p:nvSpPr>
          <p:cNvPr id="14" name="Rounded Rectangle 13"/>
          <p:cNvSpPr/>
          <p:nvPr/>
        </p:nvSpPr>
        <p:spPr>
          <a:xfrm>
            <a:off x="640080" y="4443984"/>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71600" y="4553712"/>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6" name="TextBox 15"/>
          <p:cNvSpPr txBox="1"/>
          <p:nvPr/>
        </p:nvSpPr>
        <p:spPr>
          <a:xfrm>
            <a:off x="1371600" y="4992624"/>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④ 依法执政：党治国理政的基本方式，支持人大依法履职。</a:t>
            </a:r>
          </a:p>
        </p:txBody>
      </p:sp>
      <p:sp>
        <p:nvSpPr>
          <p:cNvPr id="17" name="Rounded Rectangle 16"/>
          <p:cNvSpPr/>
          <p:nvPr/>
        </p:nvSpPr>
        <p:spPr>
          <a:xfrm>
            <a:off x="640080" y="5468112"/>
            <a:ext cx="10911535" cy="914400"/>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5577840"/>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6016752"/>
            <a:ext cx="9997135" cy="274320"/>
          </a:xfrm>
          <a:prstGeom prst="rect">
            <a:avLst/>
          </a:prstGeom>
          <a:noFill/>
        </p:spPr>
        <p:txBody>
          <a:bodyPr wrap="square" anchor="t" lIns="0" rIns="0" tIns="0" bIns="0">
            <a:spAutoFit/>
          </a:bodyPr>
          <a:lstStyle/>
          <a:p>
            <a:pPr algn="l">
              <a:lnSpc>
                <a:spcPct val="128000"/>
              </a:lnSpc>
            </a:pPr>
            <a:r>
              <a:rPr sz="1300" b="0">
                <a:solidFill>
                  <a:srgbClr val="1C2A33"/>
                </a:solidFill>
                <a:latin typeface="楷体"/>
                <a:ea typeface="楷体"/>
                <a:cs typeface="楷体"/>
              </a:rPr>
              <a:t>⑤ 从严治党：打铁必须自身硬，全面从严治党。</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1 导入</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400" b="1">
                <a:solidFill>
                  <a:srgbClr val="1C2A33"/>
                </a:solidFill>
                <a:latin typeface="微软雅黑"/>
                <a:ea typeface="微软雅黑"/>
                <a:cs typeface="微软雅黑"/>
              </a:rPr>
              <a:t>Step 2 三种领导方式</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400" b="1">
                <a:solidFill>
                  <a:srgbClr val="1C2A33"/>
                </a:solidFill>
                <a:latin typeface="微软雅黑"/>
                <a:ea typeface="微软雅黑"/>
                <a:cs typeface="微软雅黑"/>
              </a:rPr>
              <a:t>Step 3 维护党中央权威</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4 依法执政</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400" b="1">
                <a:solidFill>
                  <a:srgbClr val="1C2A33"/>
                </a:solidFill>
                <a:latin typeface="微软雅黑"/>
                <a:ea typeface="微软雅黑"/>
                <a:cs typeface="微软雅黑"/>
              </a:rPr>
              <a:t>Step 5 全面从严治党</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Step 6 小结与作业</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① 最本质特征。原因：学生易与"根本保证"等表述混，需单列强调。</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② 三种领导方式。原因：易混，需逐一释义(方向/思想/组织人事)。</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③ 领导一切≠包办。原因：易误解，需讲"总揽全局协调各方"。</a:t>
            </a:r>
          </a:p>
        </p:txBody>
      </p:sp>
      <p:sp>
        <p:nvSpPr>
          <p:cNvPr id="20" name="TextBox 1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党的领导 ────┐
│ 最本质特征 │
│ 三方式: │
│ 政治/思想/ │
│ 组织 │
│ 核心:维护中 │
│ 央权威 │
│ 依法执政 │
│ 从严治党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【基础作业】1. 中国特色社会主义最本质的特征是____。2. 党的三种领导方式是政治领导、____领导、____领导。</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【提高作业】说明"坚持党的领导"与"依法治国"的关系。</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本单元主题：第三课 坚持和加强党的全面领导。把今天学到的方法带进下一篇——自己读、自己想、自己写。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