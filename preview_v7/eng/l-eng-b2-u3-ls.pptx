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11535" cy="502920"/>
          </a:xfrm>
          <a:prstGeom prst="rect">
            <a:avLst/>
          </a:prstGeom>
          <a:noFill/>
        </p:spPr>
        <p:txBody>
          <a:bodyPr wrap="square" anchor="t" lIns="0" rIns="0" tIns="0" bIns="0">
            <a:spAutoFit/>
          </a:bodyPr>
          <a:lstStyle/>
          <a:p>
            <a:pPr algn="l">
              <a:spcAft>
                <a:spcPts val="0"/>
              </a:spcAft>
            </a:pPr>
            <a:r>
              <a:rPr sz="1200" b="1">
                <a:solidFill>
                  <a:srgbClr val="B23A2A"/>
                </a:solidFill>
                <a:latin typeface="微软雅黑"/>
                <a:ea typeface="微软雅黑"/>
                <a:cs typeface="微软雅黑"/>
              </a:rPr>
              <a:t>英语 · 必修第二册 · 第3单元 The Internet</a:t>
            </a:r>
          </a:p>
        </p:txBody>
      </p:sp>
      <p:sp>
        <p:nvSpPr>
          <p:cNvPr id="4" name="Rectangle 3"/>
          <p:cNvSpPr/>
          <p:nvPr/>
        </p:nvSpPr>
        <p:spPr>
          <a:xfrm>
            <a:off x="640080" y="1207008"/>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911535" cy="2011680"/>
          </a:xfrm>
          <a:prstGeom prst="rect">
            <a:avLst/>
          </a:prstGeom>
          <a:noFill/>
        </p:spPr>
        <p:txBody>
          <a:bodyPr wrap="square" anchor="t" lIns="0" rIns="0" tIns="0" bIns="0">
            <a:spAutoFit/>
          </a:bodyPr>
          <a:lstStyle/>
          <a:p>
            <a:pPr algn="l">
              <a:lnSpc>
                <a:spcPct val="115000"/>
              </a:lnSpc>
            </a:pPr>
            <a:r>
              <a:rPr sz="4000" b="1">
                <a:solidFill>
                  <a:srgbClr val="1C2A33"/>
                </a:solidFill>
                <a:latin typeface="楷体"/>
                <a:ea typeface="楷体"/>
                <a:cs typeface="楷体"/>
              </a:rPr>
              <a:t>Listening &amp; Speaking · The Internet (P1)</a:t>
            </a:r>
          </a:p>
        </p:txBody>
      </p:sp>
      <p:sp>
        <p:nvSpPr>
          <p:cNvPr id="6" name="TextBox 5"/>
          <p:cNvSpPr txBox="1"/>
          <p:nvPr/>
        </p:nvSpPr>
        <p:spPr>
          <a:xfrm>
            <a:off x="640080" y="3840480"/>
            <a:ext cx="10911535" cy="457200"/>
          </a:xfrm>
          <a:prstGeom prst="rect">
            <a:avLst/>
          </a:prstGeom>
          <a:noFill/>
        </p:spPr>
        <p:txBody>
          <a:bodyPr wrap="square" anchor="t" lIns="0" rIns="0" tIns="0" bIns="0">
            <a:spAutoFit/>
          </a:bodyPr>
          <a:lstStyle/>
          <a:p>
            <a:pPr algn="l"/>
            <a:r>
              <a:rPr sz="1700" b="1">
                <a:solidFill>
                  <a:srgbClr val="B23A2A"/>
                </a:solidFill>
                <a:latin typeface="微软雅黑"/>
                <a:ea typeface="微软雅黑"/>
                <a:cs typeface="微软雅黑"/>
              </a:rPr>
              <a:t>听与说  ·  第1课时  ·  40分钟</a:t>
            </a:r>
          </a:p>
        </p:txBody>
      </p:sp>
      <p:sp>
        <p:nvSpPr>
          <p:cNvPr id="7" name="Rectangle 6"/>
          <p:cNvSpPr/>
          <p:nvPr/>
        </p:nvSpPr>
        <p:spPr>
          <a:xfrm>
            <a:off x="640080" y="5394960"/>
            <a:ext cx="2011680" cy="3302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23560"/>
            <a:ext cx="10911535" cy="548640"/>
          </a:xfrm>
          <a:prstGeom prst="rect">
            <a:avLst/>
          </a:prstGeom>
          <a:noFill/>
        </p:spPr>
        <p:txBody>
          <a:bodyPr wrap="square" anchor="t" lIns="0" rIns="0" tIns="0" bIns="0">
            <a:spAutoFit/>
          </a:bodyPr>
          <a:lstStyle/>
          <a:p>
            <a:pPr algn="l"/>
            <a:r>
              <a:rPr sz="1400" b="0">
                <a:solidFill>
                  <a:srgbClr val="6B6258"/>
                </a:solidFill>
                <a:latin typeface="微软雅黑"/>
                <a:ea typeface="微软雅黑"/>
                <a:cs typeface="微软雅黑"/>
              </a:rPr>
              <a:t>学习任务群：    |    年级：高一</a:t>
            </a:r>
          </a:p>
        </p:txBody>
      </p:sp>
      <p:sp>
        <p:nvSpPr>
          <p:cNvPr id="9" name="TextBox 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学习目标</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200" b="0">
                <a:solidFill>
                  <a:srgbClr val="1C2A33"/>
                </a:solidFill>
                <a:latin typeface="楷体"/>
                <a:ea typeface="楷体"/>
                <a:cs typeface="楷体"/>
              </a:rPr>
              <a:t>语言能力：听懂关于上网习惯的调查对话，提取关键信息（时长/活动/偏好），准确使用 8-10 个互联网相关词汇。</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文化意识：了解不同国家青少年上网习惯的异同，形成对互联网使用的批判性认知。</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思维品质：通过"听前预测—听中分类—听后比较"形成系统听力策略。</a:t>
            </a:r>
          </a:p>
        </p:txBody>
      </p:sp>
      <p:sp>
        <p:nvSpPr>
          <p:cNvPr id="20" name="Rounded Rectangle 19"/>
          <p:cNvSpPr/>
          <p:nvPr/>
        </p:nvSpPr>
        <p:spPr>
          <a:xfrm>
            <a:off x="626364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823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3" name="TextBox 22"/>
          <p:cNvSpPr txBox="1"/>
          <p:nvPr/>
        </p:nvSpPr>
        <p:spPr>
          <a:xfrm>
            <a:off x="699516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24" name="TextBox 23"/>
          <p:cNvSpPr txBox="1"/>
          <p:nvPr/>
        </p:nvSpPr>
        <p:spPr>
          <a:xfrm>
            <a:off x="6995160" y="4251960"/>
            <a:ext cx="4434840" cy="1417320"/>
          </a:xfrm>
          <a:prstGeom prst="rect">
            <a:avLst/>
          </a:prstGeom>
          <a:noFill/>
        </p:spPr>
        <p:txBody>
          <a:bodyPr wrap="square" anchor="t" lIns="0" rIns="0" tIns="0" bIns="0">
            <a:spAutoFit/>
          </a:bodyPr>
          <a:lstStyle/>
          <a:p>
            <a:pPr algn="l">
              <a:lnSpc>
                <a:spcPct val="128000"/>
              </a:lnSpc>
            </a:pPr>
            <a:r>
              <a:rPr sz="1100" b="0">
                <a:solidFill>
                  <a:srgbClr val="1C2A33"/>
                </a:solidFill>
                <a:latin typeface="楷体"/>
                <a:ea typeface="楷体"/>
                <a:cs typeface="楷体"/>
              </a:rPr>
              <a:t>学习能力：能用 How much time do you spend...? / What do you usually do...? 询问并描述自己的上网习惯。</a:t>
            </a:r>
          </a:p>
        </p:txBody>
      </p:sp>
      <p:sp>
        <p:nvSpPr>
          <p:cNvPr id="25" name="TextBox 24"/>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课文背景</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6766560" cy="4572000"/>
          </a:xfrm>
          <a:prstGeom prst="rect">
            <a:avLst/>
          </a:prstGeom>
          <a:noFill/>
        </p:spPr>
        <p:txBody>
          <a:bodyPr wrap="square" anchor="t" lIns="0" rIns="0" tIns="0" bIns="0">
            <a:spAutoFit/>
          </a:bodyPr>
          <a:lstStyle/>
          <a:p>
            <a:pPr algn="l">
              <a:lnSpc>
                <a:spcPct val="150000"/>
              </a:lnSpc>
              <a:spcAft>
                <a:spcPts val="600"/>
              </a:spcAft>
            </a:pPr>
            <a:r>
              <a:rPr sz="1600" b="0">
                <a:solidFill>
                  <a:srgbClr val="1C2A33"/>
                </a:solidFill>
                <a:latin typeface="楷体"/>
                <a:ea typeface="楷体"/>
                <a:cs typeface="楷体"/>
              </a:rPr>
              <a:t>本课为必修第二册 Unit 3 The Internet 第一课时（Listening and Speaking），属单元导入+输入环节。语篇为一段关于青少年上网习惯的调查对话与一则介绍互联网用途的听力材料，功能语境是"询问并描述上网活动"。语言重点为互联网相关词汇（browse, stream, download, update, blog, account, network）及询问上网习惯句型（How much time do you spend online? / What do you usually do on the Internet?）。为 Reading 语篇"STRONGER TOGETHER"中互联网改变人生的叙事做词汇与话题预热。</a:t>
            </a:r>
          </a:p>
        </p:txBody>
      </p:sp>
      <p:pic>
        <p:nvPicPr>
          <p:cNvPr id="6" name="Picture 5" descr="typewriter.jpg"/>
          <p:cNvPicPr>
            <a:picLocks noChangeAspect="1"/>
          </p:cNvPicPr>
          <p:nvPr/>
        </p:nvPicPr>
        <p:blipFill>
          <a:blip r:embed="rId2"/>
          <a:srcRect l="5860" r="5860"/>
          <a:stretch>
            <a:fillRect/>
          </a:stretch>
        </p:blipFill>
        <p:spPr>
          <a:xfrm>
            <a:off x="8046720" y="1508760"/>
            <a:ext cx="4114800" cy="3108960"/>
          </a:xfrm>
          <a:prstGeom prst="rect">
            <a:avLst/>
          </a:prstGeom>
        </p:spPr>
      </p:pic>
      <p:sp>
        <p:nvSpPr>
          <p:cNvPr id="7" name="TextBox 6"/>
          <p:cNvSpPr txBox="1"/>
          <p:nvPr/>
        </p:nvSpPr>
        <p:spPr>
          <a:xfrm>
            <a:off x="8046720" y="4663440"/>
            <a:ext cx="4114800" cy="365760"/>
          </a:xfrm>
          <a:prstGeom prst="rect">
            <a:avLst/>
          </a:prstGeom>
          <a:noFill/>
        </p:spPr>
        <p:txBody>
          <a:bodyPr wrap="square" anchor="t" lIns="0" rIns="0" tIns="0" bIns="0">
            <a:spAutoFit/>
          </a:bodyPr>
          <a:lstStyle/>
          <a:p>
            <a:pPr algn="ctr"/>
            <a:r>
              <a:rPr sz="1100" b="0">
                <a:solidFill>
                  <a:srgbClr val="6B6258"/>
                </a:solidFill>
                <a:latin typeface="微软雅黑"/>
                <a:ea typeface="微软雅黑"/>
                <a:cs typeface="微软雅黑"/>
              </a:rPr>
              <a:t>资料图（自由授权，复用 typewriter.jpg）</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学习重点</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171907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4813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20240"/>
            <a:ext cx="9997135" cy="1078992"/>
          </a:xfrm>
          <a:prstGeom prst="rect">
            <a:avLst/>
          </a:prstGeom>
          <a:noFill/>
        </p:spPr>
        <p:txBody>
          <a:bodyPr wrap="square" anchor="t" lIns="0" rIns="0" tIns="0" bIns="0">
            <a:spAutoFit/>
          </a:bodyPr>
          <a:lstStyle/>
          <a:p>
            <a:pPr algn="l">
              <a:lnSpc>
                <a:spcPct val="128000"/>
              </a:lnSpc>
            </a:pPr>
            <a:r>
              <a:rPr sz="1000" b="0">
                <a:solidFill>
                  <a:srgbClr val="1C2A33"/>
                </a:solidFill>
                <a:latin typeface="楷体"/>
                <a:ea typeface="楷体"/>
                <a:cs typeface="楷体"/>
              </a:rPr>
              <a:t>① 互联网核心词汇：browse / stream / download / update / blog / account / network / search engine ② 询问上网习惯句型：How much time do you spend online? / What do you use the Internet for? / I usually... / I also... ③ 听力微技能：听前预测活动类型、听中分类（娱乐/学习/社交）。</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学习路径</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361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910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4813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导入激活</a:t>
            </a:r>
          </a:p>
        </p:txBody>
      </p:sp>
      <p:sp>
        <p:nvSpPr>
          <p:cNvPr id="9" name="Rounded Rectangle 8"/>
          <p:cNvSpPr/>
          <p:nvPr/>
        </p:nvSpPr>
        <p:spPr>
          <a:xfrm>
            <a:off x="640080" y="219456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2" y="235915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41401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2" name="TextBox 11"/>
          <p:cNvSpPr txBox="1"/>
          <p:nvPr/>
        </p:nvSpPr>
        <p:spPr>
          <a:xfrm>
            <a:off x="1371600" y="230428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词汇输入</a:t>
            </a:r>
          </a:p>
        </p:txBody>
      </p:sp>
      <p:sp>
        <p:nvSpPr>
          <p:cNvPr id="13" name="Rounded Rectangle 12"/>
          <p:cNvSpPr/>
          <p:nvPr/>
        </p:nvSpPr>
        <p:spPr>
          <a:xfrm>
            <a:off x="640080" y="301752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318211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2369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6" name="TextBox 15"/>
          <p:cNvSpPr txBox="1"/>
          <p:nvPr/>
        </p:nvSpPr>
        <p:spPr>
          <a:xfrm>
            <a:off x="1371600" y="312724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听前预测</a:t>
            </a:r>
          </a:p>
        </p:txBody>
      </p:sp>
      <p:sp>
        <p:nvSpPr>
          <p:cNvPr id="17" name="Rounded Rectangle 16"/>
          <p:cNvSpPr/>
          <p:nvPr/>
        </p:nvSpPr>
        <p:spPr>
          <a:xfrm>
            <a:off x="640080" y="384048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00507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05993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0" name="TextBox 19"/>
          <p:cNvSpPr txBox="1"/>
          <p:nvPr/>
        </p:nvSpPr>
        <p:spPr>
          <a:xfrm>
            <a:off x="1371600" y="395020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听中分类</a:t>
            </a:r>
          </a:p>
        </p:txBody>
      </p:sp>
      <p:sp>
        <p:nvSpPr>
          <p:cNvPr id="21" name="Rounded Rectangle 20"/>
          <p:cNvSpPr/>
          <p:nvPr/>
        </p:nvSpPr>
        <p:spPr>
          <a:xfrm>
            <a:off x="640080" y="466344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 y="482803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88289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5</a:t>
            </a:r>
          </a:p>
        </p:txBody>
      </p:sp>
      <p:sp>
        <p:nvSpPr>
          <p:cNvPr id="24" name="TextBox 23"/>
          <p:cNvSpPr txBox="1"/>
          <p:nvPr/>
        </p:nvSpPr>
        <p:spPr>
          <a:xfrm>
            <a:off x="1371600" y="477316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句型操练</a:t>
            </a:r>
          </a:p>
        </p:txBody>
      </p:sp>
      <p:sp>
        <p:nvSpPr>
          <p:cNvPr id="25" name="Rounded Rectangle 24"/>
          <p:cNvSpPr/>
          <p:nvPr/>
        </p:nvSpPr>
        <p:spPr>
          <a:xfrm>
            <a:off x="640080" y="54864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56509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7058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6</a:t>
            </a:r>
          </a:p>
        </p:txBody>
      </p:sp>
      <p:sp>
        <p:nvSpPr>
          <p:cNvPr id="28" name="TextBox 27"/>
          <p:cNvSpPr txBox="1"/>
          <p:nvPr/>
        </p:nvSpPr>
        <p:spPr>
          <a:xfrm>
            <a:off x="1371600" y="55961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调查任务</a:t>
            </a:r>
          </a:p>
        </p:txBody>
      </p:sp>
      <p:sp>
        <p:nvSpPr>
          <p:cNvPr id="29" name="TextBox 2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易混易错</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000" b="0">
                <a:solidFill>
                  <a:srgbClr val="1C2A33"/>
                </a:solidFill>
                <a:latin typeface="楷体"/>
                <a:ea typeface="楷体"/>
                <a:cs typeface="楷体"/>
              </a:rPr>
              <a:t>① browse（浏览）与 browser（浏览器）词性混淆。原因：形近。：browse 是动词，browser 是名词（浏览器软件）。② download /daʊnləʊd/ 发音重音在第一音节——学生易读成 /daʊnˈləʊd/。③ spend time doing（花时间做某事）— 学生易写成 spend time to do。</a:t>
            </a:r>
          </a:p>
        </p:txBody>
      </p:sp>
      <p:sp>
        <p:nvSpPr>
          <p:cNvPr id="10" name="TextBox 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要点板书</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5394960"/>
          </a:xfrm>
          <a:prstGeom prst="roundRect">
            <a:avLst/>
          </a:prstGeom>
          <a:solidFill>
            <a:srgbClr val="FFFFFF"/>
          </a:solidFill>
          <a:ln w="2540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62895" cy="5120640"/>
          </a:xfrm>
          <a:prstGeom prst="rect">
            <a:avLst/>
          </a:prstGeom>
          <a:noFill/>
        </p:spPr>
        <p:txBody>
          <a:bodyPr wrap="square" anchor="t" lIns="0" rIns="0" tIns="0" bIns="0">
            <a:spAutoFit/>
          </a:bodyPr>
          <a:lstStyle/>
          <a:p>
            <a:pPr algn="l">
              <a:lnSpc>
                <a:spcPct val="110000"/>
              </a:lnSpc>
              <a:spcAft>
                <a:spcPts val="100"/>
              </a:spcAft>
            </a:pPr>
            <a:r>
              <a:rPr sz="1300" b="0">
                <a:solidFill>
                  <a:srgbClr val="1C2A33"/>
                </a:solidFill>
                <a:latin typeface="微软雅黑"/>
                <a:ea typeface="微软雅黑"/>
                <a:cs typeface="微软雅黑"/>
              </a:rPr>
              <a:t>┌─ U3 Listening &amp; Speaking ──────────┐
│ Internet Activities: │
│ browse / stream / download / update │
│ blog / account / network / search │
│ engine / social media │
│ │
│ Asking about habits: │
│ How much time do you spend online? │
│ What do you usually do on the Net? │
│ How often do you...? │
│ │
│ Survey Results (top 3): │
│ 1. Stream videos/music 2. Chat │
│ 3. Browse social media │
└──────────────────────────────────────┘</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分层作业</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5270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65960"/>
            <a:ext cx="9997135" cy="777240"/>
          </a:xfrm>
          <a:prstGeom prst="rect">
            <a:avLst/>
          </a:prstGeom>
          <a:noFill/>
        </p:spPr>
        <p:txBody>
          <a:bodyPr wrap="square" anchor="t" lIns="0" rIns="0" tIns="0" bIns="0">
            <a:spAutoFit/>
          </a:bodyPr>
          <a:lstStyle/>
          <a:p>
            <a:pPr algn="l">
              <a:lnSpc>
                <a:spcPct val="128000"/>
              </a:lnSpc>
            </a:pPr>
            <a:r>
              <a:rPr sz="1000" b="0">
                <a:solidFill>
                  <a:srgbClr val="1C2A33"/>
                </a:solidFill>
                <a:latin typeface="楷体"/>
                <a:ea typeface="楷体"/>
                <a:cs typeface="楷体"/>
              </a:rPr>
              <a:t>【基础作业】1. 听录音听力文本 2 遍，圈出所有网络活动词汇。2. 用 How much time...? / What do you usually...? 写 3 个关于上网习惯的问答。</a:t>
            </a:r>
          </a:p>
        </p:txBody>
      </p:sp>
      <p:sp>
        <p:nvSpPr>
          <p:cNvPr id="8" name="Rounded Rectangle 7"/>
          <p:cNvSpPr/>
          <p:nvPr/>
        </p:nvSpPr>
        <p:spPr>
          <a:xfrm>
            <a:off x="640080" y="297180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0815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520440"/>
            <a:ext cx="9997135" cy="777240"/>
          </a:xfrm>
          <a:prstGeom prst="rect">
            <a:avLst/>
          </a:prstGeom>
          <a:noFill/>
        </p:spPr>
        <p:txBody>
          <a:bodyPr wrap="square" anchor="t" lIns="0" rIns="0" tIns="0" bIns="0">
            <a:spAutoFit/>
          </a:bodyPr>
          <a:lstStyle/>
          <a:p>
            <a:pPr algn="l">
              <a:lnSpc>
                <a:spcPct val="128000"/>
              </a:lnSpc>
            </a:pPr>
            <a:r>
              <a:rPr sz="1200" b="0">
                <a:solidFill>
                  <a:srgbClr val="1C2A33"/>
                </a:solidFill>
                <a:latin typeface="楷体"/>
                <a:ea typeface="楷体"/>
                <a:cs typeface="楷体"/>
              </a:rPr>
              <a:t>【提高作业】用英文写 50 词关于自己的上网习惯自述，包含时长/主要活动/最喜欢的一个网站或App。</a:t>
            </a:r>
          </a:p>
        </p:txBody>
      </p:sp>
      <p:sp>
        <p:nvSpPr>
          <p:cNvPr id="11" name="TextBox 10"/>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本课小结</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54864" cy="43180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10682935" cy="2194560"/>
          </a:xfrm>
          <a:prstGeom prst="rect">
            <a:avLst/>
          </a:prstGeom>
          <a:noFill/>
        </p:spPr>
        <p:txBody>
          <a:bodyPr wrap="square" anchor="t" lIns="0" rIns="0" tIns="0" bIns="0">
            <a:spAutoFit/>
          </a:bodyPr>
          <a:lstStyle/>
          <a:p>
            <a:pPr algn="l">
              <a:lnSpc>
                <a:spcPct val="150000"/>
              </a:lnSpc>
              <a:spcAft>
                <a:spcPts val="1000"/>
              </a:spcAft>
            </a:pPr>
            <a:r>
              <a:rPr sz="2200" b="0">
                <a:solidFill>
                  <a:srgbClr val="1C2A33"/>
                </a:solidFill>
                <a:latin typeface="楷体"/>
                <a:ea typeface="楷体"/>
                <a:cs typeface="楷体"/>
              </a:rPr>
              <a:t>本单元主题：The Internet。把今天学到的方法带进下一篇——自己读、自己想、自己写。</a:t>
            </a:r>
          </a:p>
          <a:p>
            <a:pPr algn="l"/>
            <a:r>
              <a:rPr sz="1600" b="1">
                <a:solidFill>
                  <a:srgbClr val="B23A2A"/>
                </a:solidFill>
                <a:latin typeface="微软雅黑"/>
                <a:ea typeface="微软雅黑"/>
                <a:cs typeface="微软雅黑"/>
              </a:rPr>
              <a:t>方法迁移：圈关键信息 → 理事件脉络 → 析人物精神</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