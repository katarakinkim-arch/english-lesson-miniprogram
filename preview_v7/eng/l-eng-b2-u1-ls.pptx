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11535" cy="502920"/>
          </a:xfrm>
          <a:prstGeom prst="rect">
            <a:avLst/>
          </a:prstGeom>
          <a:noFill/>
        </p:spPr>
        <p:txBody>
          <a:bodyPr wrap="square" anchor="t" lIns="0" rIns="0" tIns="0" bIns="0">
            <a:spAutoFit/>
          </a:bodyPr>
          <a:lstStyle/>
          <a:p>
            <a:pPr algn="l">
              <a:spcAft>
                <a:spcPts val="0"/>
              </a:spcAft>
            </a:pPr>
            <a:r>
              <a:rPr sz="1200" b="1">
                <a:solidFill>
                  <a:srgbClr val="B23A2A"/>
                </a:solidFill>
                <a:latin typeface="微软雅黑"/>
                <a:ea typeface="微软雅黑"/>
                <a:cs typeface="微软雅黑"/>
              </a:rPr>
              <a:t>英语 · 必修第二册 · 第1单元 Cultural Heritage</a:t>
            </a:r>
          </a:p>
        </p:txBody>
      </p:sp>
      <p:sp>
        <p:nvSpPr>
          <p:cNvPr id="4" name="Rectangle 3"/>
          <p:cNvSpPr/>
          <p:nvPr/>
        </p:nvSpPr>
        <p:spPr>
          <a:xfrm>
            <a:off x="640080" y="1207008"/>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911535" cy="2011680"/>
          </a:xfrm>
          <a:prstGeom prst="rect">
            <a:avLst/>
          </a:prstGeom>
          <a:noFill/>
        </p:spPr>
        <p:txBody>
          <a:bodyPr wrap="square" anchor="t" lIns="0" rIns="0" tIns="0" bIns="0">
            <a:spAutoFit/>
          </a:bodyPr>
          <a:lstStyle/>
          <a:p>
            <a:pPr algn="l">
              <a:lnSpc>
                <a:spcPct val="115000"/>
              </a:lnSpc>
            </a:pPr>
            <a:r>
              <a:rPr sz="4000" b="1">
                <a:solidFill>
                  <a:srgbClr val="1C2A33"/>
                </a:solidFill>
                <a:latin typeface="楷体"/>
                <a:ea typeface="楷体"/>
                <a:cs typeface="楷体"/>
              </a:rPr>
              <a:t>Listening &amp; Speaking · Cultural Heritage (P1)</a:t>
            </a:r>
          </a:p>
        </p:txBody>
      </p:sp>
      <p:sp>
        <p:nvSpPr>
          <p:cNvPr id="6" name="TextBox 5"/>
          <p:cNvSpPr txBox="1"/>
          <p:nvPr/>
        </p:nvSpPr>
        <p:spPr>
          <a:xfrm>
            <a:off x="640080" y="3840480"/>
            <a:ext cx="10911535" cy="457200"/>
          </a:xfrm>
          <a:prstGeom prst="rect">
            <a:avLst/>
          </a:prstGeom>
          <a:noFill/>
        </p:spPr>
        <p:txBody>
          <a:bodyPr wrap="square" anchor="t" lIns="0" rIns="0" tIns="0" bIns="0">
            <a:spAutoFit/>
          </a:bodyPr>
          <a:lstStyle/>
          <a:p>
            <a:pPr algn="l"/>
            <a:r>
              <a:rPr sz="1700" b="1">
                <a:solidFill>
                  <a:srgbClr val="B23A2A"/>
                </a:solidFill>
                <a:latin typeface="微软雅黑"/>
                <a:ea typeface="微软雅黑"/>
                <a:cs typeface="微软雅黑"/>
              </a:rPr>
              <a:t>听与说  ·  第1课时  ·  40分钟</a:t>
            </a:r>
          </a:p>
        </p:txBody>
      </p:sp>
      <p:sp>
        <p:nvSpPr>
          <p:cNvPr id="7" name="Rectangle 6"/>
          <p:cNvSpPr/>
          <p:nvPr/>
        </p:nvSpPr>
        <p:spPr>
          <a:xfrm>
            <a:off x="640080" y="5394960"/>
            <a:ext cx="2011680" cy="3302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23560"/>
            <a:ext cx="10911535" cy="548640"/>
          </a:xfrm>
          <a:prstGeom prst="rect">
            <a:avLst/>
          </a:prstGeom>
          <a:noFill/>
        </p:spPr>
        <p:txBody>
          <a:bodyPr wrap="square" anchor="t" lIns="0" rIns="0" tIns="0" bIns="0">
            <a:spAutoFit/>
          </a:bodyPr>
          <a:lstStyle/>
          <a:p>
            <a:pPr algn="l"/>
            <a:r>
              <a:rPr sz="1400" b="0">
                <a:solidFill>
                  <a:srgbClr val="6B6258"/>
                </a:solidFill>
                <a:latin typeface="微软雅黑"/>
                <a:ea typeface="微软雅黑"/>
                <a:cs typeface="微软雅黑"/>
              </a:rPr>
              <a:t>学习任务群：    |    年级：高一</a:t>
            </a:r>
          </a:p>
        </p:txBody>
      </p:sp>
      <p:sp>
        <p:nvSpPr>
          <p:cNvPr id="9" name="TextBox 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学习目标</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200" b="0">
                <a:solidFill>
                  <a:srgbClr val="1C2A33"/>
                </a:solidFill>
                <a:latin typeface="楷体"/>
                <a:ea typeface="楷体"/>
                <a:cs typeface="楷体"/>
              </a:rPr>
              <a:t>语言能力：听懂关于泰山文化遗产的听力材料，提取关键信息（名称/地点/价值），准确使用 6-8 个遗产保护词汇。</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文化意识：了解中国及世界文化遗产的多样性，增强文化遗产保护意识。</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思维品质：通过"听前预测—听中验证—听后推理"形成系统听力策略。</a:t>
            </a:r>
          </a:p>
        </p:txBody>
      </p:sp>
      <p:sp>
        <p:nvSpPr>
          <p:cNvPr id="20" name="Rounded Rectangle 19"/>
          <p:cNvSpPr/>
          <p:nvPr/>
        </p:nvSpPr>
        <p:spPr>
          <a:xfrm>
            <a:off x="626364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823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3" name="TextBox 22"/>
          <p:cNvSpPr txBox="1"/>
          <p:nvPr/>
        </p:nvSpPr>
        <p:spPr>
          <a:xfrm>
            <a:off x="699516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24" name="TextBox 23"/>
          <p:cNvSpPr txBox="1"/>
          <p:nvPr/>
        </p:nvSpPr>
        <p:spPr>
          <a:xfrm>
            <a:off x="6995160" y="4251960"/>
            <a:ext cx="4434840" cy="1417320"/>
          </a:xfrm>
          <a:prstGeom prst="rect">
            <a:avLst/>
          </a:prstGeom>
          <a:noFill/>
        </p:spPr>
        <p:txBody>
          <a:bodyPr wrap="square" anchor="t" lIns="0" rIns="0" tIns="0" bIns="0">
            <a:spAutoFit/>
          </a:bodyPr>
          <a:lstStyle/>
          <a:p>
            <a:pPr algn="l">
              <a:lnSpc>
                <a:spcPct val="128000"/>
              </a:lnSpc>
            </a:pPr>
            <a:r>
              <a:rPr sz="1100" b="0">
                <a:solidFill>
                  <a:srgbClr val="1C2A33"/>
                </a:solidFill>
                <a:latin typeface="楷体"/>
                <a:ea typeface="楷体"/>
                <a:cs typeface="楷体"/>
              </a:rPr>
              <a:t>学习能力：能用 I suggest that... / It is worth protecting because... 就文化遗产保护做简短发言。</a:t>
            </a:r>
          </a:p>
        </p:txBody>
      </p:sp>
      <p:sp>
        <p:nvSpPr>
          <p:cNvPr id="25" name="TextBox 24"/>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课文背景</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6766560" cy="4572000"/>
          </a:xfrm>
          <a:prstGeom prst="rect">
            <a:avLst/>
          </a:prstGeom>
          <a:noFill/>
        </p:spPr>
        <p:txBody>
          <a:bodyPr wrap="square" anchor="t" lIns="0" rIns="0" tIns="0" bIns="0">
            <a:spAutoFit/>
          </a:bodyPr>
          <a:lstStyle/>
          <a:p>
            <a:pPr algn="l">
              <a:lnSpc>
                <a:spcPct val="150000"/>
              </a:lnSpc>
              <a:spcAft>
                <a:spcPts val="600"/>
              </a:spcAft>
            </a:pPr>
            <a:r>
              <a:rPr sz="1600" b="0">
                <a:solidFill>
                  <a:srgbClr val="1C2A33"/>
                </a:solidFill>
                <a:latin typeface="楷体"/>
                <a:ea typeface="楷体"/>
                <a:cs typeface="楷体"/>
              </a:rPr>
              <a:t>本课为必修第二册 Unit 1 Cultural Heritage 第一课时（Listening and Speaking），属单元导入+输入环节。语篇为一段关于世界遗产地的对话与一段介绍泰山文化遗产的听力材料，功能语境是"识别与描述文化遗产"。语言重点为遗产保护词汇（heritage, preserve, relic, temple, ancient, UNESCO）及提出建议句型（I suggest that... / It is a good idea to...）。承接必修一U4定语从句基础，为Reading的"问题-解决方案"议论文做词汇与话题预热。</a:t>
            </a:r>
          </a:p>
        </p:txBody>
      </p:sp>
      <p:pic>
        <p:nvPicPr>
          <p:cNvPr id="6" name="Picture 5" descr="typewriter.jpg"/>
          <p:cNvPicPr>
            <a:picLocks noChangeAspect="1"/>
          </p:cNvPicPr>
          <p:nvPr/>
        </p:nvPicPr>
        <p:blipFill>
          <a:blip r:embed="rId2"/>
          <a:srcRect l="5860" r="5860"/>
          <a:stretch>
            <a:fillRect/>
          </a:stretch>
        </p:blipFill>
        <p:spPr>
          <a:xfrm>
            <a:off x="8046720" y="1508760"/>
            <a:ext cx="4114800" cy="3108960"/>
          </a:xfrm>
          <a:prstGeom prst="rect">
            <a:avLst/>
          </a:prstGeom>
        </p:spPr>
      </p:pic>
      <p:sp>
        <p:nvSpPr>
          <p:cNvPr id="7" name="TextBox 6"/>
          <p:cNvSpPr txBox="1"/>
          <p:nvPr/>
        </p:nvSpPr>
        <p:spPr>
          <a:xfrm>
            <a:off x="8046720" y="4663440"/>
            <a:ext cx="4114800" cy="365760"/>
          </a:xfrm>
          <a:prstGeom prst="rect">
            <a:avLst/>
          </a:prstGeom>
          <a:noFill/>
        </p:spPr>
        <p:txBody>
          <a:bodyPr wrap="square" anchor="t" lIns="0" rIns="0" tIns="0" bIns="0">
            <a:spAutoFit/>
          </a:bodyPr>
          <a:lstStyle/>
          <a:p>
            <a:pPr algn="ctr"/>
            <a:r>
              <a:rPr sz="1100" b="0">
                <a:solidFill>
                  <a:srgbClr val="6B6258"/>
                </a:solidFill>
                <a:latin typeface="微软雅黑"/>
                <a:ea typeface="微软雅黑"/>
                <a:cs typeface="微软雅黑"/>
              </a:rPr>
              <a:t>资料图（自由授权，复用 typewriter.jpg）</a:t>
            </a:r>
          </a:p>
        </p:txBody>
      </p:sp>
      <p:sp>
        <p:nvSpPr>
          <p:cNvPr id="8" name="TextBox 7"/>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学习重点</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171907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4813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20240"/>
            <a:ext cx="9997135" cy="1078992"/>
          </a:xfrm>
          <a:prstGeom prst="rect">
            <a:avLst/>
          </a:prstGeom>
          <a:noFill/>
        </p:spPr>
        <p:txBody>
          <a:bodyPr wrap="square" anchor="t" lIns="0" rIns="0" tIns="0" bIns="0">
            <a:spAutoFit/>
          </a:bodyPr>
          <a:lstStyle/>
          <a:p>
            <a:pPr algn="l">
              <a:lnSpc>
                <a:spcPct val="128000"/>
              </a:lnSpc>
            </a:pPr>
            <a:r>
              <a:rPr sz="1000" b="0">
                <a:solidFill>
                  <a:srgbClr val="1C2A33"/>
                </a:solidFill>
                <a:latin typeface="楷体"/>
                <a:ea typeface="楷体"/>
                <a:cs typeface="楷体"/>
              </a:rPr>
              <a:t>① 文化遗产核心词汇：heritage / preserve / relic / temple / ancient / UNESCO ② 提建议句型：I suggest (that)... / It is a good idea to... / We should... ③ 听力微技能：听前读题支预测关键词、听中抓数字与地点名。</a:t>
            </a:r>
          </a:p>
        </p:txBody>
      </p:sp>
      <p:sp>
        <p:nvSpPr>
          <p:cNvPr id="8" name="TextBox 7"/>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学习路径</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361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910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4813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导入激活</a:t>
            </a:r>
          </a:p>
        </p:txBody>
      </p:sp>
      <p:sp>
        <p:nvSpPr>
          <p:cNvPr id="9" name="Rounded Rectangle 8"/>
          <p:cNvSpPr/>
          <p:nvPr/>
        </p:nvSpPr>
        <p:spPr>
          <a:xfrm>
            <a:off x="640080" y="219456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2" y="235915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41401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2" name="TextBox 11"/>
          <p:cNvSpPr txBox="1"/>
          <p:nvPr/>
        </p:nvSpPr>
        <p:spPr>
          <a:xfrm>
            <a:off x="1371600" y="230428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词汇输入</a:t>
            </a:r>
          </a:p>
        </p:txBody>
      </p:sp>
      <p:sp>
        <p:nvSpPr>
          <p:cNvPr id="13" name="Rounded Rectangle 12"/>
          <p:cNvSpPr/>
          <p:nvPr/>
        </p:nvSpPr>
        <p:spPr>
          <a:xfrm>
            <a:off x="640080" y="301752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318211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2369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6" name="TextBox 15"/>
          <p:cNvSpPr txBox="1"/>
          <p:nvPr/>
        </p:nvSpPr>
        <p:spPr>
          <a:xfrm>
            <a:off x="1371600" y="312724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听前预测</a:t>
            </a:r>
          </a:p>
        </p:txBody>
      </p:sp>
      <p:sp>
        <p:nvSpPr>
          <p:cNvPr id="17" name="Rounded Rectangle 16"/>
          <p:cNvSpPr/>
          <p:nvPr/>
        </p:nvSpPr>
        <p:spPr>
          <a:xfrm>
            <a:off x="640080" y="384048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00507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05993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0" name="TextBox 19"/>
          <p:cNvSpPr txBox="1"/>
          <p:nvPr/>
        </p:nvSpPr>
        <p:spPr>
          <a:xfrm>
            <a:off x="1371600" y="395020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听中填卡</a:t>
            </a:r>
          </a:p>
        </p:txBody>
      </p:sp>
      <p:sp>
        <p:nvSpPr>
          <p:cNvPr id="21" name="Rounded Rectangle 20"/>
          <p:cNvSpPr/>
          <p:nvPr/>
        </p:nvSpPr>
        <p:spPr>
          <a:xfrm>
            <a:off x="640080" y="466344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2" y="482803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88289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5</a:t>
            </a:r>
          </a:p>
        </p:txBody>
      </p:sp>
      <p:sp>
        <p:nvSpPr>
          <p:cNvPr id="24" name="TextBox 23"/>
          <p:cNvSpPr txBox="1"/>
          <p:nvPr/>
        </p:nvSpPr>
        <p:spPr>
          <a:xfrm>
            <a:off x="1371600" y="477316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句型操练</a:t>
            </a:r>
          </a:p>
        </p:txBody>
      </p:sp>
      <p:sp>
        <p:nvSpPr>
          <p:cNvPr id="25" name="Rounded Rectangle 24"/>
          <p:cNvSpPr/>
          <p:nvPr/>
        </p:nvSpPr>
        <p:spPr>
          <a:xfrm>
            <a:off x="640080" y="54864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56509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7058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6</a:t>
            </a:r>
          </a:p>
        </p:txBody>
      </p:sp>
      <p:sp>
        <p:nvSpPr>
          <p:cNvPr id="28" name="TextBox 27"/>
          <p:cNvSpPr txBox="1"/>
          <p:nvPr/>
        </p:nvSpPr>
        <p:spPr>
          <a:xfrm>
            <a:off x="1371600" y="55961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说话任务</a:t>
            </a:r>
          </a:p>
        </p:txBody>
      </p:sp>
      <p:sp>
        <p:nvSpPr>
          <p:cNvPr id="29" name="TextBox 2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易混易错</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000" b="0">
                <a:solidFill>
                  <a:srgbClr val="1C2A33"/>
                </a:solidFill>
                <a:latin typeface="楷体"/>
                <a:ea typeface="楷体"/>
                <a:cs typeface="楷体"/>
              </a:rPr>
              <a:t>① preserve（保护/保存）与 protect（保护/防护）的用法区别。原因：中文均译"保护"，需语境区分。：preserve 强调保持原有状态，protect 强调防止伤害。② 听力中数字+地名叠加 — 学生易混淆年份与海拔。③ temple /templ/ 发音 — 学生易读成 /tempəl/。</a:t>
            </a:r>
          </a:p>
        </p:txBody>
      </p:sp>
      <p:sp>
        <p:nvSpPr>
          <p:cNvPr id="10" name="TextBox 9"/>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要点板书</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5394960"/>
          </a:xfrm>
          <a:prstGeom prst="roundRect">
            <a:avLst/>
          </a:prstGeom>
          <a:solidFill>
            <a:srgbClr val="FFFFFF"/>
          </a:solidFill>
          <a:ln w="2540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62895" cy="5120640"/>
          </a:xfrm>
          <a:prstGeom prst="rect">
            <a:avLst/>
          </a:prstGeom>
          <a:noFill/>
        </p:spPr>
        <p:txBody>
          <a:bodyPr wrap="square" anchor="t" lIns="0" rIns="0" tIns="0" bIns="0">
            <a:spAutoFit/>
          </a:bodyPr>
          <a:lstStyle/>
          <a:p>
            <a:pPr algn="l">
              <a:lnSpc>
                <a:spcPct val="110000"/>
              </a:lnSpc>
              <a:spcAft>
                <a:spcPts val="100"/>
              </a:spcAft>
            </a:pPr>
            <a:r>
              <a:rPr sz="1300" b="0">
                <a:solidFill>
                  <a:srgbClr val="1C2A33"/>
                </a:solidFill>
                <a:latin typeface="微软雅黑"/>
                <a:ea typeface="微软雅黑"/>
                <a:cs typeface="微软雅黑"/>
              </a:rPr>
              <a:t>┌─ U1 Listening &amp; Speaking ──────┐
│ Heritage: ancient / UNESCO │
│ preserve / relic / temple / symbol│
│ │
│ I suggest (that)... │
│ It is a good idea to... │
│ I recommend + doing... │
│ │
│ Mount Tai Symbol Card: │
│ Age: &gt;3000y | Value: symbol of │
│ Chinese civilization │
└──────────────────────────────────┘</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分层作业</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52704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65960"/>
            <a:ext cx="9997135" cy="777240"/>
          </a:xfrm>
          <a:prstGeom prst="rect">
            <a:avLst/>
          </a:prstGeom>
          <a:noFill/>
        </p:spPr>
        <p:txBody>
          <a:bodyPr wrap="square" anchor="t" lIns="0" rIns="0" tIns="0" bIns="0">
            <a:spAutoFit/>
          </a:bodyPr>
          <a:lstStyle/>
          <a:p>
            <a:pPr algn="l">
              <a:lnSpc>
                <a:spcPct val="128000"/>
              </a:lnSpc>
            </a:pPr>
            <a:r>
              <a:rPr sz="1100" b="0">
                <a:solidFill>
                  <a:srgbClr val="1C2A33"/>
                </a:solidFill>
                <a:latin typeface="楷体"/>
                <a:ea typeface="楷体"/>
                <a:cs typeface="楷体"/>
              </a:rPr>
              <a:t>【基础作业】1. 听录音听力文本 2 遍，圈出所有遗产保护词汇。2. 用 I suggest that... 写 3 句遗产保护建议。</a:t>
            </a:r>
          </a:p>
        </p:txBody>
      </p:sp>
      <p:sp>
        <p:nvSpPr>
          <p:cNvPr id="8" name="Rounded Rectangle 7"/>
          <p:cNvSpPr/>
          <p:nvPr/>
        </p:nvSpPr>
        <p:spPr>
          <a:xfrm>
            <a:off x="640080" y="297180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0815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3520440"/>
            <a:ext cx="9997135" cy="777240"/>
          </a:xfrm>
          <a:prstGeom prst="rect">
            <a:avLst/>
          </a:prstGeom>
          <a:noFill/>
        </p:spPr>
        <p:txBody>
          <a:bodyPr wrap="square" anchor="t" lIns="0" rIns="0" tIns="0" bIns="0">
            <a:spAutoFit/>
          </a:bodyPr>
          <a:lstStyle/>
          <a:p>
            <a:pPr algn="l">
              <a:lnSpc>
                <a:spcPct val="128000"/>
              </a:lnSpc>
            </a:pPr>
            <a:r>
              <a:rPr sz="1200" b="0">
                <a:solidFill>
                  <a:srgbClr val="1C2A33"/>
                </a:solidFill>
                <a:latin typeface="楷体"/>
                <a:ea typeface="楷体"/>
                <a:cs typeface="楷体"/>
              </a:rPr>
              <a:t>【提高作业】用英文写一段 50 词推荐语：推荐一处你了解的世界遗产（中英文均可），包含名称/地点/至少 2 点价值。</a:t>
            </a:r>
          </a:p>
        </p:txBody>
      </p:sp>
      <p:sp>
        <p:nvSpPr>
          <p:cNvPr id="11" name="TextBox 10"/>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本课小结</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54864" cy="43180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10682935" cy="2194560"/>
          </a:xfrm>
          <a:prstGeom prst="rect">
            <a:avLst/>
          </a:prstGeom>
          <a:noFill/>
        </p:spPr>
        <p:txBody>
          <a:bodyPr wrap="square" anchor="t" lIns="0" rIns="0" tIns="0" bIns="0">
            <a:spAutoFit/>
          </a:bodyPr>
          <a:lstStyle/>
          <a:p>
            <a:pPr algn="l">
              <a:lnSpc>
                <a:spcPct val="150000"/>
              </a:lnSpc>
              <a:spcAft>
                <a:spcPts val="1000"/>
              </a:spcAft>
            </a:pPr>
            <a:r>
              <a:rPr sz="2200" b="0">
                <a:solidFill>
                  <a:srgbClr val="1C2A33"/>
                </a:solidFill>
                <a:latin typeface="楷体"/>
                <a:ea typeface="楷体"/>
                <a:cs typeface="楷体"/>
              </a:rPr>
              <a:t>本单元主题：Cultural Heritage。把今天学到的方法带进下一篇——自己读、自己想、自己写。</a:t>
            </a:r>
          </a:p>
          <a:p>
            <a:pPr algn="l"/>
            <a:r>
              <a:rPr sz="1600" b="1">
                <a:solidFill>
                  <a:srgbClr val="B23A2A"/>
                </a:solidFill>
                <a:latin typeface="微软雅黑"/>
                <a:ea typeface="微软雅黑"/>
                <a:cs typeface="微软雅黑"/>
              </a:rPr>
              <a:t>方法迁移：圈关键信息 → 理事件脉络 → 析人物精神</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