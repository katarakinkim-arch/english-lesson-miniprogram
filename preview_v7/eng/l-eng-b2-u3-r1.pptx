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jp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640080"/>
            <a:ext cx="10911535" cy="502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200" b="1">
                <a:solidFill>
                  <a:srgbClr val="B23A2A"/>
                </a:solidFill>
                <a:latin typeface="微软雅黑"/>
                <a:ea typeface="微软雅黑"/>
                <a:cs typeface="微软雅黑"/>
              </a:rPr>
              <a:t>英语 · 必修第二册 · 第3单元 The Internet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207008"/>
            <a:ext cx="822960" cy="30480"/>
          </a:xfrm>
          <a:prstGeom prst="rect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737360"/>
            <a:ext cx="10911535" cy="2011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4000" b="1">
                <a:solidFill>
                  <a:srgbClr val="1C2A33"/>
                </a:solidFill>
                <a:latin typeface="楷体"/>
                <a:ea typeface="楷体"/>
                <a:cs typeface="楷体"/>
              </a:rPr>
              <a:t>Reading and Thinking · The Internet (P2)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3840480"/>
            <a:ext cx="10911535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700" b="1">
                <a:solidFill>
                  <a:srgbClr val="B23A2A"/>
                </a:solidFill>
                <a:latin typeface="微软雅黑"/>
                <a:ea typeface="微软雅黑"/>
                <a:cs typeface="微软雅黑"/>
              </a:rPr>
              <a:t>阅读  ·  第2课时  ·  40分钟</a:t>
            </a:r>
          </a:p>
        </p:txBody>
      </p:sp>
      <p:sp>
        <p:nvSpPr>
          <p:cNvPr id="7" name="Rectangle 6"/>
          <p:cNvSpPr/>
          <p:nvPr/>
        </p:nvSpPr>
        <p:spPr>
          <a:xfrm>
            <a:off x="640080" y="5394960"/>
            <a:ext cx="2011680" cy="33020"/>
          </a:xfrm>
          <a:prstGeom prst="rect">
            <a:avLst/>
          </a:prstGeom>
          <a:solidFill>
            <a:srgbClr val="C8A8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40080" y="5623560"/>
            <a:ext cx="10911535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学习任务群：    |    年级：高一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002975" y="6355080"/>
            <a:ext cx="731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01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640080"/>
            <a:ext cx="6400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>
                <a:solidFill>
                  <a:srgbClr val="B23A2A"/>
                </a:solidFill>
                <a:latin typeface="微软雅黑"/>
                <a:ea typeface="微软雅黑"/>
                <a:cs typeface="微软雅黑"/>
              </a:rPr>
              <a:t>学习目标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097280"/>
            <a:ext cx="822960" cy="30480"/>
          </a:xfrm>
          <a:prstGeom prst="rect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640080" y="1417320"/>
            <a:ext cx="5349240" cy="20574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B23A2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804672" y="1581912"/>
            <a:ext cx="457200" cy="457200"/>
          </a:xfrm>
          <a:prstGeom prst="ellipse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04672" y="163677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371600" y="1527048"/>
            <a:ext cx="44348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>目标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371600" y="1965960"/>
            <a:ext cx="4434840" cy="1417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1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语言能力：读懂人物报道类叙事文，提取 Jan Tchamani 的人生转折点/互联网如何改变她/在线社区的影响；掌握 8-10 个核心动词。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63640" y="1417320"/>
            <a:ext cx="5349240" cy="20574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B23A2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6428232" y="1581912"/>
            <a:ext cx="457200" cy="457200"/>
          </a:xfrm>
          <a:prstGeom prst="ellipse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428232" y="163677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2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995160" y="1527048"/>
            <a:ext cx="44348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>目标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995160" y="1965960"/>
            <a:ext cx="4434840" cy="1417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4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文化意识：理解互联网在消除孤独、赋能弱势群体方面的积极社会作用。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40080" y="3703320"/>
            <a:ext cx="5349240" cy="20574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B23A2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Oval 15"/>
          <p:cNvSpPr/>
          <p:nvPr/>
        </p:nvSpPr>
        <p:spPr>
          <a:xfrm>
            <a:off x="804672" y="3867912"/>
            <a:ext cx="457200" cy="457200"/>
          </a:xfrm>
          <a:prstGeom prst="ellipse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04672" y="392277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3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371600" y="3813048"/>
            <a:ext cx="44348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>目标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371600" y="4251960"/>
            <a:ext cx="4434840" cy="1417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4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思维品质：通过"困境→转折→行动→影响"故事弧线分析培养叙事结构思维。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6263640" y="3703320"/>
            <a:ext cx="5349240" cy="20574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B23A2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6428232" y="3867912"/>
            <a:ext cx="457200" cy="457200"/>
          </a:xfrm>
          <a:prstGeom prst="ellipse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428232" y="392277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4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995160" y="3813048"/>
            <a:ext cx="44348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>目标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995160" y="4251960"/>
            <a:ext cx="4434840" cy="1417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2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学习能力：能用"Before→Turning Point→After→Impact"框架复述人物故事。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1002975" y="6355080"/>
            <a:ext cx="731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02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640080"/>
            <a:ext cx="6400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>
                <a:solidFill>
                  <a:srgbClr val="2E7D6B"/>
                </a:solidFill>
                <a:latin typeface="微软雅黑"/>
                <a:ea typeface="微软雅黑"/>
                <a:cs typeface="微软雅黑"/>
              </a:rPr>
              <a:t>课文背景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097280"/>
            <a:ext cx="822960" cy="30480"/>
          </a:xfrm>
          <a:prstGeom prst="rect">
            <a:avLst/>
          </a:prstGeom>
          <a:solidFill>
            <a:srgbClr val="2E7D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508760"/>
            <a:ext cx="6766560" cy="4572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50000"/>
              </a:lnSpc>
              <a:spcAft>
                <a:spcPts val="600"/>
              </a:spcAft>
            </a:pPr>
            <a:r>
              <a:rPr sz="16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本课为必修第二册 Unit 3 第二课时（Reading I），语篇 STRONGER TOGETHER: HOW WE HAVE BEEN CHANGED BY THE INTERNET 是一篇人物报道/叙事文，讲述英国伯明翰 61 岁女性 Jan Tchamani 因病失业后通过互联网学习新技能、创办在线社区帮助他人、最终改变自己与许多人生活的故事。结构为"困境→互联网启蒙→建立社区→影响扩散"。语言重点为叙事时间顺序词（at first / then / later / so far）与互联网赋能动词（access, inspire, remove, connect, benefit）。</a:t>
            </a:r>
          </a:p>
        </p:txBody>
      </p:sp>
      <p:pic>
        <p:nvPicPr>
          <p:cNvPr id="6" name="Picture 5" descr="typewriter.jpg"/>
          <p:cNvPicPr>
            <a:picLocks noChangeAspect="1"/>
          </p:cNvPicPr>
          <p:nvPr/>
        </p:nvPicPr>
        <p:blipFill>
          <a:blip r:embed="rId2"/>
          <a:srcRect l="5860" r="5860"/>
          <a:stretch>
            <a:fillRect/>
          </a:stretch>
        </p:blipFill>
        <p:spPr>
          <a:xfrm>
            <a:off x="8046720" y="1508760"/>
            <a:ext cx="4114800" cy="3108960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8046720" y="4663440"/>
            <a:ext cx="4114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资料图（自由授权，复用 typewriter.jpg）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002975" y="6355080"/>
            <a:ext cx="731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03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640080"/>
            <a:ext cx="6400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>
                <a:solidFill>
                  <a:srgbClr val="B23A2A"/>
                </a:solidFill>
                <a:latin typeface="微软雅黑"/>
                <a:ea typeface="微软雅黑"/>
                <a:cs typeface="微软雅黑"/>
              </a:rPr>
              <a:t>学习重点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097280"/>
            <a:ext cx="822960" cy="30480"/>
          </a:xfrm>
          <a:prstGeom prst="rect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640080" y="1371600"/>
            <a:ext cx="10911535" cy="1719072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C8A8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371600" y="1481328"/>
            <a:ext cx="9997135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/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371600" y="1920240"/>
            <a:ext cx="9997135" cy="10789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0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① 叙事弧线：Loneliness→Discover Internet→Learn Skills→Create Community→Help Others ② 时间标志词：at first / then / later / after a while / so far / now ③ 核心短语：be out of work / access the Internet / apply for / benefit from / bridge the gap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002975" y="6355080"/>
            <a:ext cx="731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04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640080"/>
            <a:ext cx="6400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>
                <a:solidFill>
                  <a:srgbClr val="2E7D6B"/>
                </a:solidFill>
                <a:latin typeface="微软雅黑"/>
                <a:ea typeface="微软雅黑"/>
                <a:cs typeface="微软雅黑"/>
              </a:rPr>
              <a:t>学习路径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097280"/>
            <a:ext cx="822960" cy="30480"/>
          </a:xfrm>
          <a:prstGeom prst="rect">
            <a:avLst/>
          </a:prstGeom>
          <a:solidFill>
            <a:srgbClr val="2E7D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640080" y="1371600"/>
            <a:ext cx="10911535" cy="6858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2E7D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804672" y="1536192"/>
            <a:ext cx="457200" cy="457200"/>
          </a:xfrm>
          <a:prstGeom prst="ellipse">
            <a:avLst/>
          </a:prstGeom>
          <a:solidFill>
            <a:srgbClr val="2E7D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04672" y="159105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371600" y="1481328"/>
            <a:ext cx="9997135" cy="4846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>导入设问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40080" y="2194560"/>
            <a:ext cx="10911535" cy="6858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2E7D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Oval 9"/>
          <p:cNvSpPr/>
          <p:nvPr/>
        </p:nvSpPr>
        <p:spPr>
          <a:xfrm>
            <a:off x="804672" y="2359152"/>
            <a:ext cx="457200" cy="457200"/>
          </a:xfrm>
          <a:prstGeom prst="ellipse">
            <a:avLst/>
          </a:prstGeom>
          <a:solidFill>
            <a:srgbClr val="2E7D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04672" y="241401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2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371600" y="2304288"/>
            <a:ext cx="9997135" cy="4846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>快速阅读抓主线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40080" y="3017520"/>
            <a:ext cx="10911535" cy="6858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2E7D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804672" y="3182112"/>
            <a:ext cx="457200" cy="457200"/>
          </a:xfrm>
          <a:prstGeom prst="ellipse">
            <a:avLst/>
          </a:prstGeom>
          <a:solidFill>
            <a:srgbClr val="2E7D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04672" y="323697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3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371600" y="3127248"/>
            <a:ext cx="9997135" cy="4846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4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>精读段落1-2 困境与转折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640080" y="3840480"/>
            <a:ext cx="10911535" cy="6858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2E7D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Oval 17"/>
          <p:cNvSpPr/>
          <p:nvPr/>
        </p:nvSpPr>
        <p:spPr>
          <a:xfrm>
            <a:off x="804672" y="4005072"/>
            <a:ext cx="457200" cy="457200"/>
          </a:xfrm>
          <a:prstGeom prst="ellipse">
            <a:avLst/>
          </a:prstGeom>
          <a:solidFill>
            <a:srgbClr val="2E7D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04672" y="405993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4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371600" y="3950208"/>
            <a:ext cx="9997135" cy="4846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4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>精读段落3-5 社区与影响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640080" y="4663440"/>
            <a:ext cx="10911535" cy="6858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2E7D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Oval 21"/>
          <p:cNvSpPr/>
          <p:nvPr/>
        </p:nvSpPr>
        <p:spPr>
          <a:xfrm>
            <a:off x="804672" y="4828032"/>
            <a:ext cx="457200" cy="457200"/>
          </a:xfrm>
          <a:prstGeom prst="ellipse">
            <a:avLst/>
          </a:prstGeom>
          <a:solidFill>
            <a:srgbClr val="2E7D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804672" y="488289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5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371600" y="4773168"/>
            <a:ext cx="9997135" cy="4846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>归纳主题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640080" y="5486400"/>
            <a:ext cx="10911535" cy="6858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2E7D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Oval 25"/>
          <p:cNvSpPr/>
          <p:nvPr/>
        </p:nvSpPr>
        <p:spPr>
          <a:xfrm>
            <a:off x="804672" y="5650992"/>
            <a:ext cx="457200" cy="457200"/>
          </a:xfrm>
          <a:prstGeom prst="ellipse">
            <a:avLst/>
          </a:prstGeom>
          <a:solidFill>
            <a:srgbClr val="2E7D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804672" y="570585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6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371600" y="5596128"/>
            <a:ext cx="9997135" cy="4846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>小结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1002975" y="6355080"/>
            <a:ext cx="731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05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640080"/>
            <a:ext cx="6400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>
                <a:solidFill>
                  <a:srgbClr val="B23A2A"/>
                </a:solidFill>
                <a:latin typeface="微软雅黑"/>
                <a:ea typeface="微软雅黑"/>
                <a:cs typeface="微软雅黑"/>
              </a:rPr>
              <a:t>易混易错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097280"/>
            <a:ext cx="822960" cy="30480"/>
          </a:xfrm>
          <a:prstGeom prst="rect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640080" y="1417320"/>
            <a:ext cx="5349240" cy="20574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B23A2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804672" y="1581912"/>
            <a:ext cx="457200" cy="457200"/>
          </a:xfrm>
          <a:prstGeom prst="ellipse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04672" y="163677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!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371600" y="1527048"/>
            <a:ext cx="44348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/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371600" y="1965960"/>
            <a:ext cx="4434840" cy="1417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0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① access（使用/访问）作动词与名词用法。原因：学生只知名词义"通道"。提醒：本文中 access the Internet = 上网。② apply for（申请）与 apply to（适用于）区别。③ benefit from（从…获益）— 学生易写成 benefit by。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002975" y="6355080"/>
            <a:ext cx="731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06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640080"/>
            <a:ext cx="6400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>
                <a:solidFill>
                  <a:srgbClr val="C8A86B"/>
                </a:solidFill>
                <a:latin typeface="微软雅黑"/>
                <a:ea typeface="微软雅黑"/>
                <a:cs typeface="微软雅黑"/>
              </a:rPr>
              <a:t>要点板书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097280"/>
            <a:ext cx="822960" cy="30480"/>
          </a:xfrm>
          <a:prstGeom prst="rect">
            <a:avLst/>
          </a:prstGeom>
          <a:solidFill>
            <a:srgbClr val="C8A8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640080" y="1417320"/>
            <a:ext cx="10911535" cy="5394960"/>
          </a:xfrm>
          <a:prstGeom prst="roundRect">
            <a:avLst/>
          </a:prstGeom>
          <a:solidFill>
            <a:srgbClr val="FFFFFF"/>
          </a:solidFill>
          <a:ln w="25400">
            <a:solidFill>
              <a:srgbClr val="C8A8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914400" y="1554480"/>
            <a:ext cx="10362895" cy="5120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100"/>
              </a:spcAft>
            </a:pPr>
            <a:r>
              <a:rPr sz="1300" b="0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>┌─ U3 Reading I: STRONGER TOGETHER ──────┐
│ Jan's Story Arc: │
│ Lonely → Discover Internet → Learn IT │
│ → Create Community → Help Thousands │
│ │
│ out of work / access / apply for │
│ inspire / connect / benefit from │
│ bridge the gap / so far │
│ │
│ Title: "Stronger Together" │
│ = Internet connects → community builds │
│ → together we overcome loneliness │
└───────────────────────────────────────────┘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002975" y="6355080"/>
            <a:ext cx="731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07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640080"/>
            <a:ext cx="6400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>
                <a:solidFill>
                  <a:srgbClr val="2E7D6B"/>
                </a:solidFill>
                <a:latin typeface="微软雅黑"/>
                <a:ea typeface="微软雅黑"/>
                <a:cs typeface="微软雅黑"/>
              </a:rPr>
              <a:t>分层作业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097280"/>
            <a:ext cx="822960" cy="30480"/>
          </a:xfrm>
          <a:prstGeom prst="rect">
            <a:avLst/>
          </a:prstGeom>
          <a:solidFill>
            <a:srgbClr val="2E7D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640080" y="1417320"/>
            <a:ext cx="10911535" cy="141732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2E7D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371600" y="1527048"/>
            <a:ext cx="9997135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/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371600" y="1965960"/>
            <a:ext cx="9997135" cy="777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1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【基础作业】1. 朗读课文第2-5段 2 遍，圈出所有时间标志词。2. 用故事弧线的4个阶段各写1句描述 Jan 的经历。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40080" y="2971800"/>
            <a:ext cx="10911535" cy="141732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2E7D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371600" y="3081528"/>
            <a:ext cx="9997135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/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371600" y="3520440"/>
            <a:ext cx="9997135" cy="777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0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【提高作业】用 80 词左右写一段：How has the Internet changed YOUR life?（用 access / benefit from / connect）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1002975" y="6355080"/>
            <a:ext cx="731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08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640080"/>
            <a:ext cx="6400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>
                <a:solidFill>
                  <a:srgbClr val="C8A86B"/>
                </a:solidFill>
                <a:latin typeface="微软雅黑"/>
                <a:ea typeface="微软雅黑"/>
                <a:cs typeface="微软雅黑"/>
              </a:rPr>
              <a:t>本课小结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097280"/>
            <a:ext cx="822960" cy="30480"/>
          </a:xfrm>
          <a:prstGeom prst="rect">
            <a:avLst/>
          </a:prstGeom>
          <a:solidFill>
            <a:srgbClr val="C8A8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640080" y="1737360"/>
            <a:ext cx="54864" cy="431800"/>
          </a:xfrm>
          <a:prstGeom prst="rect">
            <a:avLst/>
          </a:prstGeom>
          <a:solidFill>
            <a:srgbClr val="C8A8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68680" y="1645920"/>
            <a:ext cx="10682935" cy="21945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50000"/>
              </a:lnSpc>
              <a:spcAft>
                <a:spcPts val="1000"/>
              </a:spcAft>
            </a:pPr>
            <a:r>
              <a:rPr sz="22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本单元主题：The Internet。把今天学到的方法带进下一篇——自己读、自己想、自己写。</a:t>
            </a:r>
          </a:p>
          <a:p>
            <a:pPr algn="l"/>
            <a:r>
              <a:rPr sz="1600" b="1">
                <a:solidFill>
                  <a:srgbClr val="B23A2A"/>
                </a:solidFill>
                <a:latin typeface="微软雅黑"/>
                <a:ea typeface="微软雅黑"/>
                <a:cs typeface="微软雅黑"/>
              </a:rPr>
              <a:t>方法迁移：圈关键信息 → 理事件脉络 → 析人物精神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002975" y="6355080"/>
            <a:ext cx="731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09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