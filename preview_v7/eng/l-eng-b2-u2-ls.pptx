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911535" cy="502920"/>
          </a:xfrm>
          <a:prstGeom prst="rect">
            <a:avLst/>
          </a:prstGeom>
          <a:noFill/>
        </p:spPr>
        <p:txBody>
          <a:bodyPr wrap="square" anchor="t" lIns="0" rIns="0" tIns="0" bIns="0">
            <a:spAutoFit/>
          </a:bodyPr>
          <a:lstStyle/>
          <a:p>
            <a:pPr algn="l">
              <a:spcAft>
                <a:spcPts val="0"/>
              </a:spcAft>
            </a:pPr>
            <a:r>
              <a:rPr sz="1200" b="1">
                <a:solidFill>
                  <a:srgbClr val="B23A2A"/>
                </a:solidFill>
                <a:latin typeface="微软雅黑"/>
                <a:ea typeface="微软雅黑"/>
                <a:cs typeface="微软雅黑"/>
              </a:rPr>
              <a:t>英语 · 必修第二册 · 第2单元 Wildlife Protection</a:t>
            </a:r>
          </a:p>
        </p:txBody>
      </p:sp>
      <p:sp>
        <p:nvSpPr>
          <p:cNvPr id="4" name="Rectangle 3"/>
          <p:cNvSpPr/>
          <p:nvPr/>
        </p:nvSpPr>
        <p:spPr>
          <a:xfrm>
            <a:off x="640080" y="1207008"/>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911535" cy="2011680"/>
          </a:xfrm>
          <a:prstGeom prst="rect">
            <a:avLst/>
          </a:prstGeom>
          <a:noFill/>
        </p:spPr>
        <p:txBody>
          <a:bodyPr wrap="square" anchor="t" lIns="0" rIns="0" tIns="0" bIns="0">
            <a:spAutoFit/>
          </a:bodyPr>
          <a:lstStyle/>
          <a:p>
            <a:pPr algn="l">
              <a:lnSpc>
                <a:spcPct val="115000"/>
              </a:lnSpc>
            </a:pPr>
            <a:r>
              <a:rPr sz="4000" b="1">
                <a:solidFill>
                  <a:srgbClr val="1C2A33"/>
                </a:solidFill>
                <a:latin typeface="楷体"/>
                <a:ea typeface="楷体"/>
                <a:cs typeface="楷体"/>
              </a:rPr>
              <a:t>Listening &amp; Speaking · Wildlife Protection (P1)</a:t>
            </a:r>
          </a:p>
        </p:txBody>
      </p:sp>
      <p:sp>
        <p:nvSpPr>
          <p:cNvPr id="6" name="TextBox 5"/>
          <p:cNvSpPr txBox="1"/>
          <p:nvPr/>
        </p:nvSpPr>
        <p:spPr>
          <a:xfrm>
            <a:off x="640080" y="3840480"/>
            <a:ext cx="10911535" cy="457200"/>
          </a:xfrm>
          <a:prstGeom prst="rect">
            <a:avLst/>
          </a:prstGeom>
          <a:noFill/>
        </p:spPr>
        <p:txBody>
          <a:bodyPr wrap="square" anchor="t" lIns="0" rIns="0" tIns="0" bIns="0">
            <a:spAutoFit/>
          </a:bodyPr>
          <a:lstStyle/>
          <a:p>
            <a:pPr algn="l"/>
            <a:r>
              <a:rPr sz="1700" b="1">
                <a:solidFill>
                  <a:srgbClr val="B23A2A"/>
                </a:solidFill>
                <a:latin typeface="微软雅黑"/>
                <a:ea typeface="微软雅黑"/>
                <a:cs typeface="微软雅黑"/>
              </a:rPr>
              <a:t>听与说  ·  第1课时  ·  40分钟</a:t>
            </a:r>
          </a:p>
        </p:txBody>
      </p:sp>
      <p:sp>
        <p:nvSpPr>
          <p:cNvPr id="7" name="Rectangle 6"/>
          <p:cNvSpPr/>
          <p:nvPr/>
        </p:nvSpPr>
        <p:spPr>
          <a:xfrm>
            <a:off x="640080" y="5394960"/>
            <a:ext cx="2011680" cy="3302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23560"/>
            <a:ext cx="10911535" cy="548640"/>
          </a:xfrm>
          <a:prstGeom prst="rect">
            <a:avLst/>
          </a:prstGeom>
          <a:noFill/>
        </p:spPr>
        <p:txBody>
          <a:bodyPr wrap="square" anchor="t" lIns="0" rIns="0" tIns="0" bIns="0">
            <a:spAutoFit/>
          </a:bodyPr>
          <a:lstStyle/>
          <a:p>
            <a:pPr algn="l"/>
            <a:r>
              <a:rPr sz="1400" b="0">
                <a:solidFill>
                  <a:srgbClr val="6B6258"/>
                </a:solidFill>
                <a:latin typeface="微软雅黑"/>
                <a:ea typeface="微软雅黑"/>
                <a:cs typeface="微软雅黑"/>
              </a:rPr>
              <a:t>学习任务群：    |    年级：高一</a:t>
            </a:r>
          </a:p>
        </p:txBody>
      </p:sp>
      <p:sp>
        <p:nvSpPr>
          <p:cNvPr id="9" name="TextBox 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学习目标</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100" b="0">
                <a:solidFill>
                  <a:srgbClr val="1C2A33"/>
                </a:solidFill>
                <a:latin typeface="楷体"/>
                <a:ea typeface="楷体"/>
                <a:cs typeface="楷体"/>
              </a:rPr>
              <a:t>语言能力：听懂关于濒危动物保护的听力材料，提取关键信息（物种名/数量/威胁/措施），准确使用 8-10 个野生动物保护词汇。</a:t>
            </a:r>
          </a:p>
        </p:txBody>
      </p:sp>
      <p:sp>
        <p:nvSpPr>
          <p:cNvPr id="10" name="Rounded Rectangle 9"/>
          <p:cNvSpPr/>
          <p:nvPr/>
        </p:nvSpPr>
        <p:spPr>
          <a:xfrm>
            <a:off x="626364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3" name="TextBox 12"/>
          <p:cNvSpPr txBox="1"/>
          <p:nvPr/>
        </p:nvSpPr>
        <p:spPr>
          <a:xfrm>
            <a:off x="699516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4" name="TextBox 13"/>
          <p:cNvSpPr txBox="1"/>
          <p:nvPr/>
        </p:nvSpPr>
        <p:spPr>
          <a:xfrm>
            <a:off x="6995160" y="1965960"/>
            <a:ext cx="4434840" cy="1417320"/>
          </a:xfrm>
          <a:prstGeom prst="rect">
            <a:avLst/>
          </a:prstGeom>
          <a:noFill/>
        </p:spPr>
        <p:txBody>
          <a:bodyPr wrap="square" anchor="t" lIns="0" rIns="0" tIns="0" bIns="0">
            <a:spAutoFit/>
          </a:bodyPr>
          <a:lstStyle/>
          <a:p>
            <a:pPr algn="l">
              <a:lnSpc>
                <a:spcPct val="128000"/>
              </a:lnSpc>
            </a:pPr>
            <a:r>
              <a:rPr sz="1200" b="0">
                <a:solidFill>
                  <a:srgbClr val="1C2A33"/>
                </a:solidFill>
                <a:latin typeface="楷体"/>
                <a:ea typeface="楷体"/>
                <a:cs typeface="楷体"/>
              </a:rPr>
              <a:t>文化意识：了解全球濒危野生动物现状，形成"保护野生动物就是保护人类自己"的生态意识。</a:t>
            </a:r>
          </a:p>
        </p:txBody>
      </p:sp>
      <p:sp>
        <p:nvSpPr>
          <p:cNvPr id="15" name="Rounded Rectangle 14"/>
          <p:cNvSpPr/>
          <p:nvPr/>
        </p:nvSpPr>
        <p:spPr>
          <a:xfrm>
            <a:off x="64008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8" name="TextBox 17"/>
          <p:cNvSpPr txBox="1"/>
          <p:nvPr/>
        </p:nvSpPr>
        <p:spPr>
          <a:xfrm>
            <a:off x="137160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9" name="TextBox 18"/>
          <p:cNvSpPr txBox="1"/>
          <p:nvPr/>
        </p:nvSpPr>
        <p:spPr>
          <a:xfrm>
            <a:off x="137160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思维品质：通过"听前预测—听中核实—听后推理"训练听力策略，培养信息筛选能力。</a:t>
            </a:r>
          </a:p>
        </p:txBody>
      </p:sp>
      <p:sp>
        <p:nvSpPr>
          <p:cNvPr id="20" name="Rounded Rectangle 19"/>
          <p:cNvSpPr/>
          <p:nvPr/>
        </p:nvSpPr>
        <p:spPr>
          <a:xfrm>
            <a:off x="626364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823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3" name="TextBox 22"/>
          <p:cNvSpPr txBox="1"/>
          <p:nvPr/>
        </p:nvSpPr>
        <p:spPr>
          <a:xfrm>
            <a:off x="699516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24" name="TextBox 23"/>
          <p:cNvSpPr txBox="1"/>
          <p:nvPr/>
        </p:nvSpPr>
        <p:spPr>
          <a:xfrm>
            <a:off x="6995160" y="4251960"/>
            <a:ext cx="4434840" cy="1417320"/>
          </a:xfrm>
          <a:prstGeom prst="rect">
            <a:avLst/>
          </a:prstGeom>
          <a:noFill/>
        </p:spPr>
        <p:txBody>
          <a:bodyPr wrap="square" anchor="t" lIns="0" rIns="0" tIns="0" bIns="0">
            <a:spAutoFit/>
          </a:bodyPr>
          <a:lstStyle/>
          <a:p>
            <a:pPr algn="l">
              <a:lnSpc>
                <a:spcPct val="128000"/>
              </a:lnSpc>
            </a:pPr>
            <a:r>
              <a:rPr sz="1100" b="0">
                <a:solidFill>
                  <a:srgbClr val="1C2A33"/>
                </a:solidFill>
                <a:latin typeface="楷体"/>
                <a:ea typeface="楷体"/>
                <a:cs typeface="楷体"/>
              </a:rPr>
              <a:t>学习能力：能用 We must... / It is worrying that... / I'm concerned about... 就濒危动物保护做简短发言。</a:t>
            </a:r>
          </a:p>
        </p:txBody>
      </p:sp>
      <p:sp>
        <p:nvSpPr>
          <p:cNvPr id="25" name="TextBox 24"/>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课文背景</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6766560" cy="4572000"/>
          </a:xfrm>
          <a:prstGeom prst="rect">
            <a:avLst/>
          </a:prstGeom>
          <a:noFill/>
        </p:spPr>
        <p:txBody>
          <a:bodyPr wrap="square" anchor="t" lIns="0" rIns="0" tIns="0" bIns="0">
            <a:spAutoFit/>
          </a:bodyPr>
          <a:lstStyle/>
          <a:p>
            <a:pPr algn="l">
              <a:lnSpc>
                <a:spcPct val="150000"/>
              </a:lnSpc>
              <a:spcAft>
                <a:spcPts val="600"/>
              </a:spcAft>
            </a:pPr>
            <a:r>
              <a:rPr sz="1600" b="0">
                <a:solidFill>
                  <a:srgbClr val="1C2A33"/>
                </a:solidFill>
                <a:latin typeface="楷体"/>
                <a:ea typeface="楷体"/>
                <a:cs typeface="楷体"/>
              </a:rPr>
              <a:t>本课为必修第二册 Unit 2 Wildlife Protection 第一课时（Listening and Speaking），属单元导入+输入环节。语篇为一段关于濒危动物保护的对话与一则野生动物保护组织志愿者的介绍音频，功能语境是"谈论濒危动物现状与保护措施"。语言重点为野生动物保护词汇（endangered, species, habitat, extinct, poaching, reserve）及表达关切与建议句型（We must... / It is worrying that... / I'm concerned about...）。为Reading语篇"A DAY IN THE CLOUDS"中藏羚羊保护话题做词汇与话题预热。</a:t>
            </a:r>
          </a:p>
        </p:txBody>
      </p:sp>
      <p:pic>
        <p:nvPicPr>
          <p:cNvPr id="6" name="Picture 5" descr="typewriter.jpg"/>
          <p:cNvPicPr>
            <a:picLocks noChangeAspect="1"/>
          </p:cNvPicPr>
          <p:nvPr/>
        </p:nvPicPr>
        <p:blipFill>
          <a:blip r:embed="rId2"/>
          <a:srcRect l="5860" r="5860"/>
          <a:stretch>
            <a:fillRect/>
          </a:stretch>
        </p:blipFill>
        <p:spPr>
          <a:xfrm>
            <a:off x="8046720" y="1508760"/>
            <a:ext cx="4114800" cy="3108960"/>
          </a:xfrm>
          <a:prstGeom prst="rect">
            <a:avLst/>
          </a:prstGeom>
        </p:spPr>
      </p:pic>
      <p:sp>
        <p:nvSpPr>
          <p:cNvPr id="7" name="TextBox 6"/>
          <p:cNvSpPr txBox="1"/>
          <p:nvPr/>
        </p:nvSpPr>
        <p:spPr>
          <a:xfrm>
            <a:off x="8046720" y="4663440"/>
            <a:ext cx="4114800" cy="365760"/>
          </a:xfrm>
          <a:prstGeom prst="rect">
            <a:avLst/>
          </a:prstGeom>
          <a:noFill/>
        </p:spPr>
        <p:txBody>
          <a:bodyPr wrap="square" anchor="t" lIns="0" rIns="0" tIns="0" bIns="0">
            <a:spAutoFit/>
          </a:bodyPr>
          <a:lstStyle/>
          <a:p>
            <a:pPr algn="ctr"/>
            <a:r>
              <a:rPr sz="1100" b="0">
                <a:solidFill>
                  <a:srgbClr val="6B6258"/>
                </a:solidFill>
                <a:latin typeface="微软雅黑"/>
                <a:ea typeface="微软雅黑"/>
                <a:cs typeface="微软雅黑"/>
              </a:rPr>
              <a:t>资料图（自由授权，复用 typewriter.jpg）</a:t>
            </a:r>
          </a:p>
        </p:txBody>
      </p:sp>
      <p:sp>
        <p:nvSpPr>
          <p:cNvPr id="8" name="TextBox 7"/>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学习重点</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1719072"/>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4813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20240"/>
            <a:ext cx="9997135" cy="1078992"/>
          </a:xfrm>
          <a:prstGeom prst="rect">
            <a:avLst/>
          </a:prstGeom>
          <a:noFill/>
        </p:spPr>
        <p:txBody>
          <a:bodyPr wrap="square" anchor="t" lIns="0" rIns="0" tIns="0" bIns="0">
            <a:spAutoFit/>
          </a:bodyPr>
          <a:lstStyle/>
          <a:p>
            <a:pPr algn="l">
              <a:lnSpc>
                <a:spcPct val="128000"/>
              </a:lnSpc>
            </a:pPr>
            <a:r>
              <a:rPr sz="1000" b="0">
                <a:solidFill>
                  <a:srgbClr val="1C2A33"/>
                </a:solidFill>
                <a:latin typeface="楷体"/>
                <a:ea typeface="楷体"/>
                <a:cs typeface="楷体"/>
              </a:rPr>
              <a:t>① 野生动物保护核心词汇：endangered / species / habitat / extinct / poaching / reserve / illegal / conservation ② 表达关切句型：We must... / It is worrying that... / I'm concerned about... ③ 听力微技能：听前读图表预测数据、听中抓数字与原因。</a:t>
            </a:r>
          </a:p>
        </p:txBody>
      </p:sp>
      <p:sp>
        <p:nvSpPr>
          <p:cNvPr id="8" name="TextBox 7"/>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学习路径</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361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910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4813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导入激活</a:t>
            </a:r>
          </a:p>
        </p:txBody>
      </p:sp>
      <p:sp>
        <p:nvSpPr>
          <p:cNvPr id="9" name="Rounded Rectangle 8"/>
          <p:cNvSpPr/>
          <p:nvPr/>
        </p:nvSpPr>
        <p:spPr>
          <a:xfrm>
            <a:off x="640080" y="219456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4672" y="235915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41401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2" name="TextBox 11"/>
          <p:cNvSpPr txBox="1"/>
          <p:nvPr/>
        </p:nvSpPr>
        <p:spPr>
          <a:xfrm>
            <a:off x="1371600" y="230428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词汇输入</a:t>
            </a:r>
          </a:p>
        </p:txBody>
      </p:sp>
      <p:sp>
        <p:nvSpPr>
          <p:cNvPr id="13" name="Rounded Rectangle 12"/>
          <p:cNvSpPr/>
          <p:nvPr/>
        </p:nvSpPr>
        <p:spPr>
          <a:xfrm>
            <a:off x="640080" y="301752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318211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2369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6" name="TextBox 15"/>
          <p:cNvSpPr txBox="1"/>
          <p:nvPr/>
        </p:nvSpPr>
        <p:spPr>
          <a:xfrm>
            <a:off x="1371600" y="312724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听前预测</a:t>
            </a:r>
          </a:p>
        </p:txBody>
      </p:sp>
      <p:sp>
        <p:nvSpPr>
          <p:cNvPr id="17" name="Rounded Rectangle 16"/>
          <p:cNvSpPr/>
          <p:nvPr/>
        </p:nvSpPr>
        <p:spPr>
          <a:xfrm>
            <a:off x="640080" y="384048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 y="400507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05993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0" name="TextBox 19"/>
          <p:cNvSpPr txBox="1"/>
          <p:nvPr/>
        </p:nvSpPr>
        <p:spPr>
          <a:xfrm>
            <a:off x="1371600" y="395020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听中填数据</a:t>
            </a:r>
          </a:p>
        </p:txBody>
      </p:sp>
      <p:sp>
        <p:nvSpPr>
          <p:cNvPr id="21" name="Rounded Rectangle 20"/>
          <p:cNvSpPr/>
          <p:nvPr/>
        </p:nvSpPr>
        <p:spPr>
          <a:xfrm>
            <a:off x="640080" y="466344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4672" y="482803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88289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5</a:t>
            </a:r>
          </a:p>
        </p:txBody>
      </p:sp>
      <p:sp>
        <p:nvSpPr>
          <p:cNvPr id="24" name="TextBox 23"/>
          <p:cNvSpPr txBox="1"/>
          <p:nvPr/>
        </p:nvSpPr>
        <p:spPr>
          <a:xfrm>
            <a:off x="1371600" y="477316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句型操练</a:t>
            </a:r>
          </a:p>
        </p:txBody>
      </p:sp>
      <p:sp>
        <p:nvSpPr>
          <p:cNvPr id="25" name="Rounded Rectangle 24"/>
          <p:cNvSpPr/>
          <p:nvPr/>
        </p:nvSpPr>
        <p:spPr>
          <a:xfrm>
            <a:off x="640080" y="54864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4672" y="56509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57058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6</a:t>
            </a:r>
          </a:p>
        </p:txBody>
      </p:sp>
      <p:sp>
        <p:nvSpPr>
          <p:cNvPr id="28" name="TextBox 27"/>
          <p:cNvSpPr txBox="1"/>
          <p:nvPr/>
        </p:nvSpPr>
        <p:spPr>
          <a:xfrm>
            <a:off x="1371600" y="55961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说话任务</a:t>
            </a:r>
          </a:p>
        </p:txBody>
      </p:sp>
      <p:sp>
        <p:nvSpPr>
          <p:cNvPr id="29" name="TextBox 2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易混易错</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000" b="0">
                <a:solidFill>
                  <a:srgbClr val="1C2A33"/>
                </a:solidFill>
                <a:latin typeface="楷体"/>
                <a:ea typeface="楷体"/>
                <a:cs typeface="楷体"/>
              </a:rPr>
              <a:t>① endangered（濒危的）与 dangerous（危险的）学生易混淆。原因：词形相近。：endangered = 被危及的（需要被保护），dangerous = 危险的（会伤害人）。② species /spiːʃiːz/ 单复数同形 — 学生易误加 -s 变 specieses。③ poaching /pəʊtʃɪŋ/ 与 poach /pəʊtʃ/ 的发音——ch 读 /tʃ/ 不是 /k/。</a:t>
            </a:r>
          </a:p>
        </p:txBody>
      </p:sp>
      <p:sp>
        <p:nvSpPr>
          <p:cNvPr id="10" name="TextBox 9"/>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要点板书</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5394960"/>
          </a:xfrm>
          <a:prstGeom prst="roundRect">
            <a:avLst/>
          </a:prstGeom>
          <a:solidFill>
            <a:srgbClr val="FFFFFF"/>
          </a:solidFill>
          <a:ln w="2540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62895" cy="5120640"/>
          </a:xfrm>
          <a:prstGeom prst="rect">
            <a:avLst/>
          </a:prstGeom>
          <a:noFill/>
        </p:spPr>
        <p:txBody>
          <a:bodyPr wrap="square" anchor="t" lIns="0" rIns="0" tIns="0" bIns="0">
            <a:spAutoFit/>
          </a:bodyPr>
          <a:lstStyle/>
          <a:p>
            <a:pPr algn="l">
              <a:lnSpc>
                <a:spcPct val="110000"/>
              </a:lnSpc>
              <a:spcAft>
                <a:spcPts val="100"/>
              </a:spcAft>
            </a:pPr>
            <a:r>
              <a:rPr sz="1300" b="0">
                <a:solidFill>
                  <a:srgbClr val="1C2A33"/>
                </a:solidFill>
                <a:latin typeface="微软雅黑"/>
                <a:ea typeface="微软雅黑"/>
                <a:cs typeface="微软雅黑"/>
              </a:rPr>
              <a:t>┌─ U2 Listening &amp; Speaking ──────────┐
│ Wildlife: endangered / species │
│ habitat / extinct / poaching / IUCN │
│ reserve / illegal / conservation │
│ │
│ Expressing concern: │
│ We must + do... │
│ It is worrying that... │
│ I'm concerned about + n. │
│ │
│ Data Card: Tibetan Antelope │
│ Population: ~300,000 │
│ Threats: poaching / habitat loss │
└──────────────────────────────────────┘</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分层作业</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52704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65960"/>
            <a:ext cx="9997135" cy="777240"/>
          </a:xfrm>
          <a:prstGeom prst="rect">
            <a:avLst/>
          </a:prstGeom>
          <a:noFill/>
        </p:spPr>
        <p:txBody>
          <a:bodyPr wrap="square" anchor="t" lIns="0" rIns="0" tIns="0" bIns="0">
            <a:spAutoFit/>
          </a:bodyPr>
          <a:lstStyle/>
          <a:p>
            <a:pPr algn="l">
              <a:lnSpc>
                <a:spcPct val="128000"/>
              </a:lnSpc>
            </a:pPr>
            <a:r>
              <a:rPr sz="1100" b="0">
                <a:solidFill>
                  <a:srgbClr val="1C2A33"/>
                </a:solidFill>
                <a:latin typeface="楷体"/>
                <a:ea typeface="楷体"/>
                <a:cs typeface="楷体"/>
              </a:rPr>
              <a:t>【基础作业】1. 听录音听力文本 2 遍，圈出所有野生动物保护词汇。2. 用 I'm concerned about... 写 3 句关于不同濒危动物的关切表达。</a:t>
            </a:r>
          </a:p>
        </p:txBody>
      </p:sp>
      <p:sp>
        <p:nvSpPr>
          <p:cNvPr id="8" name="Rounded Rectangle 7"/>
          <p:cNvSpPr/>
          <p:nvPr/>
        </p:nvSpPr>
        <p:spPr>
          <a:xfrm>
            <a:off x="640080" y="297180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0815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0" name="TextBox 9"/>
          <p:cNvSpPr txBox="1"/>
          <p:nvPr/>
        </p:nvSpPr>
        <p:spPr>
          <a:xfrm>
            <a:off x="1371600" y="3520440"/>
            <a:ext cx="9997135" cy="777240"/>
          </a:xfrm>
          <a:prstGeom prst="rect">
            <a:avLst/>
          </a:prstGeom>
          <a:noFill/>
        </p:spPr>
        <p:txBody>
          <a:bodyPr wrap="square" anchor="t" lIns="0" rIns="0" tIns="0" bIns="0">
            <a:spAutoFit/>
          </a:bodyPr>
          <a:lstStyle/>
          <a:p>
            <a:pPr algn="l">
              <a:lnSpc>
                <a:spcPct val="128000"/>
              </a:lnSpc>
            </a:pPr>
            <a:r>
              <a:rPr sz="1200" b="0">
                <a:solidFill>
                  <a:srgbClr val="1C2A33"/>
                </a:solidFill>
                <a:latin typeface="楷体"/>
                <a:ea typeface="楷体"/>
                <a:cs typeface="楷体"/>
              </a:rPr>
              <a:t>【提高作业】用英文写一段 50 词介绍一种你关心的濒危动物，包含名称/现存数量/威胁/你的关切感受。</a:t>
            </a:r>
          </a:p>
        </p:txBody>
      </p:sp>
      <p:sp>
        <p:nvSpPr>
          <p:cNvPr id="11" name="TextBox 10"/>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本课小结</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37360"/>
            <a:ext cx="54864" cy="43180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10682935" cy="2194560"/>
          </a:xfrm>
          <a:prstGeom prst="rect">
            <a:avLst/>
          </a:prstGeom>
          <a:noFill/>
        </p:spPr>
        <p:txBody>
          <a:bodyPr wrap="square" anchor="t" lIns="0" rIns="0" tIns="0" bIns="0">
            <a:spAutoFit/>
          </a:bodyPr>
          <a:lstStyle/>
          <a:p>
            <a:pPr algn="l">
              <a:lnSpc>
                <a:spcPct val="150000"/>
              </a:lnSpc>
              <a:spcAft>
                <a:spcPts val="1000"/>
              </a:spcAft>
            </a:pPr>
            <a:r>
              <a:rPr sz="2200" b="0">
                <a:solidFill>
                  <a:srgbClr val="1C2A33"/>
                </a:solidFill>
                <a:latin typeface="楷体"/>
                <a:ea typeface="楷体"/>
                <a:cs typeface="楷体"/>
              </a:rPr>
              <a:t>本单元主题：Wildlife Protection。把今天学到的方法带进下一篇——自己读、自己想、自己写。</a:t>
            </a:r>
          </a:p>
          <a:p>
            <a:pPr algn="l"/>
            <a:r>
              <a:rPr sz="1600" b="1">
                <a:solidFill>
                  <a:srgbClr val="B23A2A"/>
                </a:solidFill>
                <a:latin typeface="微软雅黑"/>
                <a:ea typeface="微软雅黑"/>
                <a:cs typeface="微软雅黑"/>
              </a:rPr>
              <a:t>方法迁移：圈关键信息 → 理事件脉络 → 析人物精神</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