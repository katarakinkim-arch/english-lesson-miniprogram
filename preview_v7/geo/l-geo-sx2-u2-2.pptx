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10911535" cy="502920"/>
          </a:xfrm>
          <a:prstGeom prst="rect">
            <a:avLst/>
          </a:prstGeom>
          <a:noFill/>
        </p:spPr>
        <p:txBody>
          <a:bodyPr wrap="square" anchor="t" lIns="0" rIns="0" tIns="0" bIns="0">
            <a:spAutoFit/>
          </a:bodyPr>
          <a:lstStyle/>
          <a:p>
            <a:pPr algn="l">
              <a:spcAft>
                <a:spcPts val="0"/>
              </a:spcAft>
            </a:pPr>
            <a:r>
              <a:rPr sz="1200" b="1">
                <a:solidFill>
                  <a:srgbClr val="B23A2A"/>
                </a:solidFill>
                <a:latin typeface="微软雅黑"/>
                <a:ea typeface="微软雅黑"/>
                <a:cs typeface="微软雅黑"/>
              </a:rPr>
              <a:t>地理 · 选择性必修2 区域发展 · 第2单元 资源枯竭型城市的转型</a:t>
            </a:r>
          </a:p>
        </p:txBody>
      </p:sp>
      <p:sp>
        <p:nvSpPr>
          <p:cNvPr id="4" name="Rectangle 3"/>
          <p:cNvSpPr/>
          <p:nvPr/>
        </p:nvSpPr>
        <p:spPr>
          <a:xfrm>
            <a:off x="640080" y="1207008"/>
            <a:ext cx="822960" cy="30480"/>
          </a:xfrm>
          <a:prstGeom prst="rect">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37360"/>
            <a:ext cx="10911535" cy="2011680"/>
          </a:xfrm>
          <a:prstGeom prst="rect">
            <a:avLst/>
          </a:prstGeom>
          <a:noFill/>
        </p:spPr>
        <p:txBody>
          <a:bodyPr wrap="square" anchor="t" lIns="0" rIns="0" tIns="0" bIns="0">
            <a:spAutoFit/>
          </a:bodyPr>
          <a:lstStyle/>
          <a:p>
            <a:pPr algn="l">
              <a:lnSpc>
                <a:spcPct val="115000"/>
              </a:lnSpc>
            </a:pPr>
            <a:r>
              <a:rPr sz="4000" b="1">
                <a:solidFill>
                  <a:srgbClr val="1C2A33"/>
                </a:solidFill>
                <a:latin typeface="楷体"/>
                <a:ea typeface="楷体"/>
                <a:cs typeface="楷体"/>
              </a:rPr>
              <a:t>生态脆弱区的综合治理</a:t>
            </a:r>
          </a:p>
        </p:txBody>
      </p:sp>
      <p:sp>
        <p:nvSpPr>
          <p:cNvPr id="6" name="TextBox 5"/>
          <p:cNvSpPr txBox="1"/>
          <p:nvPr/>
        </p:nvSpPr>
        <p:spPr>
          <a:xfrm>
            <a:off x="640080" y="3840480"/>
            <a:ext cx="10911535" cy="457200"/>
          </a:xfrm>
          <a:prstGeom prst="rect">
            <a:avLst/>
          </a:prstGeom>
          <a:noFill/>
        </p:spPr>
        <p:txBody>
          <a:bodyPr wrap="square" anchor="t" lIns="0" rIns="0" tIns="0" bIns="0">
            <a:spAutoFit/>
          </a:bodyPr>
          <a:lstStyle/>
          <a:p>
            <a:pPr algn="l"/>
            <a:r>
              <a:rPr sz="1700" b="1">
                <a:solidFill>
                  <a:srgbClr val="B23A2A"/>
                </a:solidFill>
                <a:latin typeface="微软雅黑"/>
                <a:ea typeface="微软雅黑"/>
                <a:cs typeface="微软雅黑"/>
              </a:rPr>
              <a:t>新课  ·  第2课时  ·  45分钟</a:t>
            </a:r>
          </a:p>
        </p:txBody>
      </p:sp>
      <p:sp>
        <p:nvSpPr>
          <p:cNvPr id="7" name="Rectangle 6"/>
          <p:cNvSpPr/>
          <p:nvPr/>
        </p:nvSpPr>
        <p:spPr>
          <a:xfrm>
            <a:off x="640080" y="5394960"/>
            <a:ext cx="2011680" cy="33020"/>
          </a:xfrm>
          <a:prstGeom prst="rect">
            <a:avLst/>
          </a:prstGeom>
          <a:solidFill>
            <a:srgbClr val="C8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623560"/>
            <a:ext cx="10911535" cy="548640"/>
          </a:xfrm>
          <a:prstGeom prst="rect">
            <a:avLst/>
          </a:prstGeom>
          <a:noFill/>
        </p:spPr>
        <p:txBody>
          <a:bodyPr wrap="square" anchor="t" lIns="0" rIns="0" tIns="0" bIns="0">
            <a:spAutoFit/>
          </a:bodyPr>
          <a:lstStyle/>
          <a:p>
            <a:pPr algn="l"/>
            <a:r>
              <a:rPr sz="1400" b="0">
                <a:solidFill>
                  <a:srgbClr val="6B6258"/>
                </a:solidFill>
                <a:latin typeface="微软雅黑"/>
                <a:ea typeface="微软雅黑"/>
                <a:cs typeface="微软雅黑"/>
              </a:rPr>
              <a:t>学习任务群：    |    年级：高二</a:t>
            </a:r>
          </a:p>
        </p:txBody>
      </p:sp>
      <p:sp>
        <p:nvSpPr>
          <p:cNvPr id="9" name="TextBox 8"/>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B23A2A"/>
                </a:solidFill>
                <a:latin typeface="微软雅黑"/>
                <a:ea typeface="微软雅黑"/>
                <a:cs typeface="微软雅黑"/>
              </a:rPr>
              <a:t>学习目标</a:t>
            </a:r>
          </a:p>
        </p:txBody>
      </p:sp>
      <p:sp>
        <p:nvSpPr>
          <p:cNvPr id="4" name="Rectangle 3"/>
          <p:cNvSpPr/>
          <p:nvPr/>
        </p:nvSpPr>
        <p:spPr>
          <a:xfrm>
            <a:off x="640080" y="1097280"/>
            <a:ext cx="822960" cy="30480"/>
          </a:xfrm>
          <a:prstGeom prst="rect">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5349240" cy="2057400"/>
          </a:xfrm>
          <a:prstGeom prst="roundRect">
            <a:avLst/>
          </a:prstGeom>
          <a:solidFill>
            <a:srgbClr val="FFFFFF"/>
          </a:solidFill>
          <a:ln w="22860">
            <a:solidFill>
              <a:srgbClr val="B23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04672" y="1581912"/>
            <a:ext cx="457200" cy="457200"/>
          </a:xfrm>
          <a:prstGeom prst="ellipse">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6367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1</a:t>
            </a:r>
          </a:p>
        </p:txBody>
      </p:sp>
      <p:sp>
        <p:nvSpPr>
          <p:cNvPr id="8" name="TextBox 7"/>
          <p:cNvSpPr txBox="1"/>
          <p:nvPr/>
        </p:nvSpPr>
        <p:spPr>
          <a:xfrm>
            <a:off x="1371600" y="1527048"/>
            <a:ext cx="4434840"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目标</a:t>
            </a:r>
          </a:p>
        </p:txBody>
      </p:sp>
      <p:sp>
        <p:nvSpPr>
          <p:cNvPr id="9" name="TextBox 8"/>
          <p:cNvSpPr txBox="1"/>
          <p:nvPr/>
        </p:nvSpPr>
        <p:spPr>
          <a:xfrm>
            <a:off x="1371600" y="1965960"/>
            <a:ext cx="4434840" cy="1417320"/>
          </a:xfrm>
          <a:prstGeom prst="rect">
            <a:avLst/>
          </a:prstGeom>
          <a:noFill/>
        </p:spPr>
        <p:txBody>
          <a:bodyPr wrap="square" anchor="t" lIns="0" rIns="0" tIns="0" bIns="0">
            <a:spAutoFit/>
          </a:bodyPr>
          <a:lstStyle/>
          <a:p>
            <a:pPr algn="l">
              <a:lnSpc>
                <a:spcPct val="128000"/>
              </a:lnSpc>
            </a:pPr>
            <a:r>
              <a:rPr sz="1400" b="0">
                <a:solidFill>
                  <a:srgbClr val="1C2A33"/>
                </a:solidFill>
                <a:latin typeface="楷体"/>
                <a:ea typeface="楷体"/>
                <a:cs typeface="楷体"/>
              </a:rPr>
              <a:t>人地协调观：树立生态修复与保护优先理念。</a:t>
            </a:r>
          </a:p>
        </p:txBody>
      </p:sp>
      <p:sp>
        <p:nvSpPr>
          <p:cNvPr id="10" name="Rounded Rectangle 9"/>
          <p:cNvSpPr/>
          <p:nvPr/>
        </p:nvSpPr>
        <p:spPr>
          <a:xfrm>
            <a:off x="6263640" y="1417320"/>
            <a:ext cx="5349240" cy="2057400"/>
          </a:xfrm>
          <a:prstGeom prst="roundRect">
            <a:avLst/>
          </a:prstGeom>
          <a:solidFill>
            <a:srgbClr val="FFFFFF"/>
          </a:solidFill>
          <a:ln w="22860">
            <a:solidFill>
              <a:srgbClr val="B23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28232" y="1581912"/>
            <a:ext cx="457200" cy="457200"/>
          </a:xfrm>
          <a:prstGeom prst="ellipse">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28232" y="16367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2</a:t>
            </a:r>
          </a:p>
        </p:txBody>
      </p:sp>
      <p:sp>
        <p:nvSpPr>
          <p:cNvPr id="13" name="TextBox 12"/>
          <p:cNvSpPr txBox="1"/>
          <p:nvPr/>
        </p:nvSpPr>
        <p:spPr>
          <a:xfrm>
            <a:off x="6995160" y="1527048"/>
            <a:ext cx="4434840"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目标</a:t>
            </a:r>
          </a:p>
        </p:txBody>
      </p:sp>
      <p:sp>
        <p:nvSpPr>
          <p:cNvPr id="14" name="TextBox 13"/>
          <p:cNvSpPr txBox="1"/>
          <p:nvPr/>
        </p:nvSpPr>
        <p:spPr>
          <a:xfrm>
            <a:off x="6995160" y="1965960"/>
            <a:ext cx="4434840" cy="1417320"/>
          </a:xfrm>
          <a:prstGeom prst="rect">
            <a:avLst/>
          </a:prstGeom>
          <a:noFill/>
        </p:spPr>
        <p:txBody>
          <a:bodyPr wrap="square" anchor="t" lIns="0" rIns="0" tIns="0" bIns="0">
            <a:spAutoFit/>
          </a:bodyPr>
          <a:lstStyle/>
          <a:p>
            <a:pPr algn="l">
              <a:lnSpc>
                <a:spcPct val="128000"/>
              </a:lnSpc>
            </a:pPr>
            <a:r>
              <a:rPr sz="1400" b="0">
                <a:solidFill>
                  <a:srgbClr val="1C2A33"/>
                </a:solidFill>
                <a:latin typeface="楷体"/>
                <a:ea typeface="楷体"/>
                <a:cs typeface="楷体"/>
              </a:rPr>
              <a:t>综合思维：综合生物工程农业措施治理。</a:t>
            </a:r>
          </a:p>
        </p:txBody>
      </p:sp>
      <p:sp>
        <p:nvSpPr>
          <p:cNvPr id="15" name="Rounded Rectangle 14"/>
          <p:cNvSpPr/>
          <p:nvPr/>
        </p:nvSpPr>
        <p:spPr>
          <a:xfrm>
            <a:off x="640080" y="3703320"/>
            <a:ext cx="5349240" cy="2057400"/>
          </a:xfrm>
          <a:prstGeom prst="roundRect">
            <a:avLst/>
          </a:prstGeom>
          <a:solidFill>
            <a:srgbClr val="FFFFFF"/>
          </a:solidFill>
          <a:ln w="22860">
            <a:solidFill>
              <a:srgbClr val="B23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4672" y="3867912"/>
            <a:ext cx="457200" cy="457200"/>
          </a:xfrm>
          <a:prstGeom prst="ellipse">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39227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3</a:t>
            </a:r>
          </a:p>
        </p:txBody>
      </p:sp>
      <p:sp>
        <p:nvSpPr>
          <p:cNvPr id="18" name="TextBox 17"/>
          <p:cNvSpPr txBox="1"/>
          <p:nvPr/>
        </p:nvSpPr>
        <p:spPr>
          <a:xfrm>
            <a:off x="1371600" y="3813048"/>
            <a:ext cx="4434840"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目标</a:t>
            </a:r>
          </a:p>
        </p:txBody>
      </p:sp>
      <p:sp>
        <p:nvSpPr>
          <p:cNvPr id="19" name="TextBox 18"/>
          <p:cNvSpPr txBox="1"/>
          <p:nvPr/>
        </p:nvSpPr>
        <p:spPr>
          <a:xfrm>
            <a:off x="1371600" y="4251960"/>
            <a:ext cx="4434840" cy="1417320"/>
          </a:xfrm>
          <a:prstGeom prst="rect">
            <a:avLst/>
          </a:prstGeom>
          <a:noFill/>
        </p:spPr>
        <p:txBody>
          <a:bodyPr wrap="square" anchor="t" lIns="0" rIns="0" tIns="0" bIns="0">
            <a:spAutoFit/>
          </a:bodyPr>
          <a:lstStyle/>
          <a:p>
            <a:pPr algn="l">
              <a:lnSpc>
                <a:spcPct val="128000"/>
              </a:lnSpc>
            </a:pPr>
            <a:r>
              <a:rPr sz="1400" b="0">
                <a:solidFill>
                  <a:srgbClr val="1C2A33"/>
                </a:solidFill>
                <a:latin typeface="楷体"/>
                <a:ea typeface="楷体"/>
                <a:cs typeface="楷体"/>
              </a:rPr>
              <a:t>区域认知：在脆弱区定位退化类型。</a:t>
            </a:r>
          </a:p>
        </p:txBody>
      </p:sp>
      <p:sp>
        <p:nvSpPr>
          <p:cNvPr id="20" name="Rounded Rectangle 19"/>
          <p:cNvSpPr/>
          <p:nvPr/>
        </p:nvSpPr>
        <p:spPr>
          <a:xfrm>
            <a:off x="6263640" y="3703320"/>
            <a:ext cx="5349240" cy="2057400"/>
          </a:xfrm>
          <a:prstGeom prst="roundRect">
            <a:avLst/>
          </a:prstGeom>
          <a:solidFill>
            <a:srgbClr val="FFFFFF"/>
          </a:solidFill>
          <a:ln w="22860">
            <a:solidFill>
              <a:srgbClr val="B23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28232" y="3867912"/>
            <a:ext cx="457200" cy="457200"/>
          </a:xfrm>
          <a:prstGeom prst="ellipse">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2" y="39227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4</a:t>
            </a:r>
          </a:p>
        </p:txBody>
      </p:sp>
      <p:sp>
        <p:nvSpPr>
          <p:cNvPr id="23" name="TextBox 22"/>
          <p:cNvSpPr txBox="1"/>
          <p:nvPr/>
        </p:nvSpPr>
        <p:spPr>
          <a:xfrm>
            <a:off x="6995160" y="3813048"/>
            <a:ext cx="4434840"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目标</a:t>
            </a:r>
          </a:p>
        </p:txBody>
      </p:sp>
      <p:sp>
        <p:nvSpPr>
          <p:cNvPr id="24" name="TextBox 23"/>
          <p:cNvSpPr txBox="1"/>
          <p:nvPr/>
        </p:nvSpPr>
        <p:spPr>
          <a:xfrm>
            <a:off x="6995160" y="4251960"/>
            <a:ext cx="4434840" cy="1417320"/>
          </a:xfrm>
          <a:prstGeom prst="rect">
            <a:avLst/>
          </a:prstGeom>
          <a:noFill/>
        </p:spPr>
        <p:txBody>
          <a:bodyPr wrap="square" anchor="t" lIns="0" rIns="0" tIns="0" bIns="0">
            <a:spAutoFit/>
          </a:bodyPr>
          <a:lstStyle/>
          <a:p>
            <a:pPr algn="l">
              <a:lnSpc>
                <a:spcPct val="128000"/>
              </a:lnSpc>
            </a:pPr>
            <a:r>
              <a:rPr sz="1400" b="0">
                <a:solidFill>
                  <a:srgbClr val="1C2A33"/>
                </a:solidFill>
                <a:latin typeface="楷体"/>
                <a:ea typeface="楷体"/>
                <a:cs typeface="楷体"/>
              </a:rPr>
              <a:t>地理实践力：能针对某脆弱区提治理方案。</a:t>
            </a:r>
          </a:p>
        </p:txBody>
      </p:sp>
      <p:sp>
        <p:nvSpPr>
          <p:cNvPr id="25" name="TextBox 24"/>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2E7D6B"/>
                </a:solidFill>
                <a:latin typeface="微软雅黑"/>
                <a:ea typeface="微软雅黑"/>
                <a:cs typeface="微软雅黑"/>
              </a:rPr>
              <a:t>课文背景</a:t>
            </a:r>
          </a:p>
        </p:txBody>
      </p:sp>
      <p:sp>
        <p:nvSpPr>
          <p:cNvPr id="4" name="Rectangle 3"/>
          <p:cNvSpPr/>
          <p:nvPr/>
        </p:nvSpPr>
        <p:spPr>
          <a:xfrm>
            <a:off x="640080" y="1097280"/>
            <a:ext cx="822960" cy="30480"/>
          </a:xfrm>
          <a:prstGeom prst="rect">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08760"/>
            <a:ext cx="6766560" cy="4572000"/>
          </a:xfrm>
          <a:prstGeom prst="rect">
            <a:avLst/>
          </a:prstGeom>
          <a:noFill/>
        </p:spPr>
        <p:txBody>
          <a:bodyPr wrap="square" anchor="t" lIns="0" rIns="0" tIns="0" bIns="0">
            <a:spAutoFit/>
          </a:bodyPr>
          <a:lstStyle/>
          <a:p>
            <a:pPr algn="l">
              <a:lnSpc>
                <a:spcPct val="150000"/>
              </a:lnSpc>
              <a:spcAft>
                <a:spcPts val="600"/>
              </a:spcAft>
            </a:pPr>
            <a:r>
              <a:rPr sz="1600" b="0">
                <a:solidFill>
                  <a:srgbClr val="1C2A33"/>
                </a:solidFill>
                <a:latin typeface="楷体"/>
                <a:ea typeface="楷体"/>
                <a:cs typeface="楷体"/>
              </a:rPr>
              <a:t>生态脆弱区环境承载力低、易退化，如北方农牧交错带土地荒漠化；治理遵循因地制宜、预防为主，措施包括生物（造林种草）、工程（沙障）、农业（退耕还林还草、舍饲）。</a:t>
            </a:r>
          </a:p>
        </p:txBody>
      </p:sp>
      <p:pic>
        <p:nvPicPr>
          <p:cNvPr id="6" name="Picture 5" descr="ricefield.jpg"/>
          <p:cNvPicPr>
            <a:picLocks noChangeAspect="1"/>
          </p:cNvPicPr>
          <p:nvPr/>
        </p:nvPicPr>
        <p:blipFill>
          <a:blip r:embed="rId2"/>
          <a:srcRect l="23066" r="23066"/>
          <a:stretch>
            <a:fillRect/>
          </a:stretch>
        </p:blipFill>
        <p:spPr>
          <a:xfrm>
            <a:off x="8046720" y="1508760"/>
            <a:ext cx="4114800" cy="3108960"/>
          </a:xfrm>
          <a:prstGeom prst="rect">
            <a:avLst/>
          </a:prstGeom>
        </p:spPr>
      </p:pic>
      <p:sp>
        <p:nvSpPr>
          <p:cNvPr id="7" name="TextBox 6"/>
          <p:cNvSpPr txBox="1"/>
          <p:nvPr/>
        </p:nvSpPr>
        <p:spPr>
          <a:xfrm>
            <a:off x="8046720" y="4663440"/>
            <a:ext cx="4114800" cy="365760"/>
          </a:xfrm>
          <a:prstGeom prst="rect">
            <a:avLst/>
          </a:prstGeom>
          <a:noFill/>
        </p:spPr>
        <p:txBody>
          <a:bodyPr wrap="square" anchor="t" lIns="0" rIns="0" tIns="0" bIns="0">
            <a:spAutoFit/>
          </a:bodyPr>
          <a:lstStyle/>
          <a:p>
            <a:pPr algn="ctr"/>
            <a:r>
              <a:rPr sz="1100" b="0">
                <a:solidFill>
                  <a:srgbClr val="6B6258"/>
                </a:solidFill>
                <a:latin typeface="微软雅黑"/>
                <a:ea typeface="微软雅黑"/>
                <a:cs typeface="微软雅黑"/>
              </a:rPr>
              <a:t>资料图（自由授权，复用 ricefield.jpg）</a:t>
            </a:r>
          </a:p>
        </p:txBody>
      </p:sp>
      <p:sp>
        <p:nvSpPr>
          <p:cNvPr id="8" name="TextBox 7"/>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B23A2A"/>
                </a:solidFill>
                <a:latin typeface="微软雅黑"/>
                <a:ea typeface="微软雅黑"/>
                <a:cs typeface="微软雅黑"/>
              </a:rPr>
              <a:t>学习重点</a:t>
            </a:r>
          </a:p>
        </p:txBody>
      </p:sp>
      <p:sp>
        <p:nvSpPr>
          <p:cNvPr id="4" name="Rectangle 3"/>
          <p:cNvSpPr/>
          <p:nvPr/>
        </p:nvSpPr>
        <p:spPr>
          <a:xfrm>
            <a:off x="640080" y="1097280"/>
            <a:ext cx="822960" cy="30480"/>
          </a:xfrm>
          <a:prstGeom prst="rect">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371600"/>
            <a:ext cx="10911535" cy="1170432"/>
          </a:xfrm>
          <a:prstGeom prst="roundRect">
            <a:avLst/>
          </a:prstGeom>
          <a:solidFill>
            <a:srgbClr val="FFFFFF"/>
          </a:solidFill>
          <a:ln w="22860">
            <a:solidFill>
              <a:srgbClr val="C8A8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1481328"/>
            <a:ext cx="9997135"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7" name="TextBox 6"/>
          <p:cNvSpPr txBox="1"/>
          <p:nvPr/>
        </p:nvSpPr>
        <p:spPr>
          <a:xfrm>
            <a:off x="1371600" y="1920240"/>
            <a:ext cx="9997135" cy="530352"/>
          </a:xfrm>
          <a:prstGeom prst="rect">
            <a:avLst/>
          </a:prstGeom>
          <a:noFill/>
        </p:spPr>
        <p:txBody>
          <a:bodyPr wrap="square" anchor="t" lIns="0" rIns="0" tIns="0" bIns="0">
            <a:spAutoFit/>
          </a:bodyPr>
          <a:lstStyle/>
          <a:p>
            <a:pPr algn="l">
              <a:lnSpc>
                <a:spcPct val="128000"/>
              </a:lnSpc>
            </a:pPr>
            <a:r>
              <a:rPr sz="1300" b="0">
                <a:solidFill>
                  <a:srgbClr val="1C2A33"/>
                </a:solidFill>
                <a:latin typeface="楷体"/>
                <a:ea typeface="楷体"/>
                <a:cs typeface="楷体"/>
              </a:rPr>
              <a:t>① 脆弱区：承载力低、过渡带易退化（如农牧交错带）。</a:t>
            </a:r>
          </a:p>
        </p:txBody>
      </p:sp>
      <p:sp>
        <p:nvSpPr>
          <p:cNvPr id="8" name="Rounded Rectangle 7"/>
          <p:cNvSpPr/>
          <p:nvPr/>
        </p:nvSpPr>
        <p:spPr>
          <a:xfrm>
            <a:off x="640080" y="2651760"/>
            <a:ext cx="10911535" cy="1170432"/>
          </a:xfrm>
          <a:prstGeom prst="roundRect">
            <a:avLst/>
          </a:prstGeom>
          <a:solidFill>
            <a:srgbClr val="FFFFFF"/>
          </a:solidFill>
          <a:ln w="22860">
            <a:solidFill>
              <a:srgbClr val="C8A8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2761488"/>
            <a:ext cx="9997135"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10" name="TextBox 9"/>
          <p:cNvSpPr txBox="1"/>
          <p:nvPr/>
        </p:nvSpPr>
        <p:spPr>
          <a:xfrm>
            <a:off x="1371600" y="3200400"/>
            <a:ext cx="9997135" cy="530352"/>
          </a:xfrm>
          <a:prstGeom prst="rect">
            <a:avLst/>
          </a:prstGeom>
          <a:noFill/>
        </p:spPr>
        <p:txBody>
          <a:bodyPr wrap="square" anchor="t" lIns="0" rIns="0" tIns="0" bIns="0">
            <a:spAutoFit/>
          </a:bodyPr>
          <a:lstStyle/>
          <a:p>
            <a:pPr algn="l">
              <a:lnSpc>
                <a:spcPct val="128000"/>
              </a:lnSpc>
            </a:pPr>
            <a:r>
              <a:rPr sz="1300" b="0">
                <a:solidFill>
                  <a:srgbClr val="1C2A33"/>
                </a:solidFill>
                <a:latin typeface="楷体"/>
                <a:ea typeface="楷体"/>
                <a:cs typeface="楷体"/>
              </a:rPr>
              <a:t>② 成因：干旱+过度垦殖放牧樵采。</a:t>
            </a:r>
          </a:p>
        </p:txBody>
      </p:sp>
      <p:sp>
        <p:nvSpPr>
          <p:cNvPr id="11" name="Rounded Rectangle 10"/>
          <p:cNvSpPr/>
          <p:nvPr/>
        </p:nvSpPr>
        <p:spPr>
          <a:xfrm>
            <a:off x="640080" y="3931920"/>
            <a:ext cx="10911535" cy="1170432"/>
          </a:xfrm>
          <a:prstGeom prst="roundRect">
            <a:avLst/>
          </a:prstGeom>
          <a:solidFill>
            <a:srgbClr val="FFFFFF"/>
          </a:solidFill>
          <a:ln w="22860">
            <a:solidFill>
              <a:srgbClr val="C8A8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71600" y="4041648"/>
            <a:ext cx="9997135"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13" name="TextBox 12"/>
          <p:cNvSpPr txBox="1"/>
          <p:nvPr/>
        </p:nvSpPr>
        <p:spPr>
          <a:xfrm>
            <a:off x="1371600" y="4480560"/>
            <a:ext cx="9997135" cy="530352"/>
          </a:xfrm>
          <a:prstGeom prst="rect">
            <a:avLst/>
          </a:prstGeom>
          <a:noFill/>
        </p:spPr>
        <p:txBody>
          <a:bodyPr wrap="square" anchor="t" lIns="0" rIns="0" tIns="0" bIns="0">
            <a:spAutoFit/>
          </a:bodyPr>
          <a:lstStyle/>
          <a:p>
            <a:pPr algn="l">
              <a:lnSpc>
                <a:spcPct val="128000"/>
              </a:lnSpc>
            </a:pPr>
            <a:r>
              <a:rPr sz="1300" b="0">
                <a:solidFill>
                  <a:srgbClr val="1C2A33"/>
                </a:solidFill>
                <a:latin typeface="楷体"/>
                <a:ea typeface="楷体"/>
                <a:cs typeface="楷体"/>
              </a:rPr>
              <a:t>③ 措施：生物（林草）、工程（沙障网格）、农业（退耕舍饲）。</a:t>
            </a:r>
          </a:p>
        </p:txBody>
      </p:sp>
      <p:sp>
        <p:nvSpPr>
          <p:cNvPr id="14" name="Rounded Rectangle 13"/>
          <p:cNvSpPr/>
          <p:nvPr/>
        </p:nvSpPr>
        <p:spPr>
          <a:xfrm>
            <a:off x="640080" y="5212080"/>
            <a:ext cx="10911535" cy="1170432"/>
          </a:xfrm>
          <a:prstGeom prst="roundRect">
            <a:avLst/>
          </a:prstGeom>
          <a:solidFill>
            <a:srgbClr val="FFFFFF"/>
          </a:solidFill>
          <a:ln w="22860">
            <a:solidFill>
              <a:srgbClr val="C8A8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71600" y="5321808"/>
            <a:ext cx="9997135"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16" name="TextBox 15"/>
          <p:cNvSpPr txBox="1"/>
          <p:nvPr/>
        </p:nvSpPr>
        <p:spPr>
          <a:xfrm>
            <a:off x="1371600" y="5760720"/>
            <a:ext cx="9997135" cy="530352"/>
          </a:xfrm>
          <a:prstGeom prst="rect">
            <a:avLst/>
          </a:prstGeom>
          <a:noFill/>
        </p:spPr>
        <p:txBody>
          <a:bodyPr wrap="square" anchor="t" lIns="0" rIns="0" tIns="0" bIns="0">
            <a:spAutoFit/>
          </a:bodyPr>
          <a:lstStyle/>
          <a:p>
            <a:pPr algn="l">
              <a:lnSpc>
                <a:spcPct val="128000"/>
              </a:lnSpc>
            </a:pPr>
            <a:r>
              <a:rPr sz="1300" b="0">
                <a:solidFill>
                  <a:srgbClr val="1C2A33"/>
                </a:solidFill>
                <a:latin typeface="楷体"/>
                <a:ea typeface="楷体"/>
                <a:cs typeface="楷体"/>
              </a:rPr>
              <a:t>④ 原则：预防为主、因地制宜、小流域综合。</a:t>
            </a:r>
          </a:p>
        </p:txBody>
      </p:sp>
      <p:sp>
        <p:nvSpPr>
          <p:cNvPr id="17" name="TextBox 16"/>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2E7D6B"/>
                </a:solidFill>
                <a:latin typeface="微软雅黑"/>
                <a:ea typeface="微软雅黑"/>
                <a:cs typeface="微软雅黑"/>
              </a:rPr>
              <a:t>学习路径</a:t>
            </a:r>
          </a:p>
        </p:txBody>
      </p:sp>
      <p:sp>
        <p:nvSpPr>
          <p:cNvPr id="4" name="Rectangle 3"/>
          <p:cNvSpPr/>
          <p:nvPr/>
        </p:nvSpPr>
        <p:spPr>
          <a:xfrm>
            <a:off x="640080" y="1097280"/>
            <a:ext cx="822960" cy="30480"/>
          </a:xfrm>
          <a:prstGeom prst="rect">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371600"/>
            <a:ext cx="10911535" cy="68580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04672" y="1536192"/>
            <a:ext cx="457200" cy="457200"/>
          </a:xfrm>
          <a:prstGeom prst="ellipse">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59105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1</a:t>
            </a:r>
          </a:p>
        </p:txBody>
      </p:sp>
      <p:sp>
        <p:nvSpPr>
          <p:cNvPr id="8" name="TextBox 7"/>
          <p:cNvSpPr txBox="1"/>
          <p:nvPr/>
        </p:nvSpPr>
        <p:spPr>
          <a:xfrm>
            <a:off x="1371600" y="1481328"/>
            <a:ext cx="9997135" cy="484632"/>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Step 1 导入</a:t>
            </a:r>
          </a:p>
        </p:txBody>
      </p:sp>
      <p:sp>
        <p:nvSpPr>
          <p:cNvPr id="9" name="Rounded Rectangle 8"/>
          <p:cNvSpPr/>
          <p:nvPr/>
        </p:nvSpPr>
        <p:spPr>
          <a:xfrm>
            <a:off x="640080" y="2194560"/>
            <a:ext cx="10911535" cy="68580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04672" y="2359152"/>
            <a:ext cx="457200" cy="457200"/>
          </a:xfrm>
          <a:prstGeom prst="ellipse">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241401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2</a:t>
            </a:r>
          </a:p>
        </p:txBody>
      </p:sp>
      <p:sp>
        <p:nvSpPr>
          <p:cNvPr id="12" name="TextBox 11"/>
          <p:cNvSpPr txBox="1"/>
          <p:nvPr/>
        </p:nvSpPr>
        <p:spPr>
          <a:xfrm>
            <a:off x="1371600" y="2304288"/>
            <a:ext cx="9997135" cy="484632"/>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Step 2 成因</a:t>
            </a:r>
          </a:p>
        </p:txBody>
      </p:sp>
      <p:sp>
        <p:nvSpPr>
          <p:cNvPr id="13" name="Rounded Rectangle 12"/>
          <p:cNvSpPr/>
          <p:nvPr/>
        </p:nvSpPr>
        <p:spPr>
          <a:xfrm>
            <a:off x="640080" y="3017520"/>
            <a:ext cx="10911535" cy="68580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04672" y="3182112"/>
            <a:ext cx="457200" cy="457200"/>
          </a:xfrm>
          <a:prstGeom prst="ellipse">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32369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3</a:t>
            </a:r>
          </a:p>
        </p:txBody>
      </p:sp>
      <p:sp>
        <p:nvSpPr>
          <p:cNvPr id="16" name="TextBox 15"/>
          <p:cNvSpPr txBox="1"/>
          <p:nvPr/>
        </p:nvSpPr>
        <p:spPr>
          <a:xfrm>
            <a:off x="1371600" y="3127248"/>
            <a:ext cx="9997135" cy="484632"/>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Step 3 生物措施</a:t>
            </a:r>
          </a:p>
        </p:txBody>
      </p:sp>
      <p:sp>
        <p:nvSpPr>
          <p:cNvPr id="17" name="Rounded Rectangle 16"/>
          <p:cNvSpPr/>
          <p:nvPr/>
        </p:nvSpPr>
        <p:spPr>
          <a:xfrm>
            <a:off x="640080" y="3840480"/>
            <a:ext cx="10911535" cy="68580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04672" y="4005072"/>
            <a:ext cx="457200" cy="457200"/>
          </a:xfrm>
          <a:prstGeom prst="ellipse">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405993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4</a:t>
            </a:r>
          </a:p>
        </p:txBody>
      </p:sp>
      <p:sp>
        <p:nvSpPr>
          <p:cNvPr id="20" name="TextBox 19"/>
          <p:cNvSpPr txBox="1"/>
          <p:nvPr/>
        </p:nvSpPr>
        <p:spPr>
          <a:xfrm>
            <a:off x="1371600" y="3950208"/>
            <a:ext cx="9997135" cy="484632"/>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Step 4 工程与农业</a:t>
            </a:r>
          </a:p>
        </p:txBody>
      </p:sp>
      <p:sp>
        <p:nvSpPr>
          <p:cNvPr id="21" name="Rounded Rectangle 20"/>
          <p:cNvSpPr/>
          <p:nvPr/>
        </p:nvSpPr>
        <p:spPr>
          <a:xfrm>
            <a:off x="640080" y="4663440"/>
            <a:ext cx="10911535" cy="68580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04672" y="4828032"/>
            <a:ext cx="457200" cy="457200"/>
          </a:xfrm>
          <a:prstGeom prst="ellipse">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488289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5</a:t>
            </a:r>
          </a:p>
        </p:txBody>
      </p:sp>
      <p:sp>
        <p:nvSpPr>
          <p:cNvPr id="24" name="TextBox 23"/>
          <p:cNvSpPr txBox="1"/>
          <p:nvPr/>
        </p:nvSpPr>
        <p:spPr>
          <a:xfrm>
            <a:off x="1371600" y="4773168"/>
            <a:ext cx="9997135" cy="484632"/>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Step 5 案例原则</a:t>
            </a:r>
          </a:p>
        </p:txBody>
      </p:sp>
      <p:sp>
        <p:nvSpPr>
          <p:cNvPr id="25" name="Rounded Rectangle 24"/>
          <p:cNvSpPr/>
          <p:nvPr/>
        </p:nvSpPr>
        <p:spPr>
          <a:xfrm>
            <a:off x="640080" y="5486400"/>
            <a:ext cx="10911535" cy="68580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04672" y="5650992"/>
            <a:ext cx="457200" cy="457200"/>
          </a:xfrm>
          <a:prstGeom prst="ellipse">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672" y="570585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6</a:t>
            </a:r>
          </a:p>
        </p:txBody>
      </p:sp>
      <p:sp>
        <p:nvSpPr>
          <p:cNvPr id="28" name="TextBox 27"/>
          <p:cNvSpPr txBox="1"/>
          <p:nvPr/>
        </p:nvSpPr>
        <p:spPr>
          <a:xfrm>
            <a:off x="1371600" y="5596128"/>
            <a:ext cx="9997135" cy="484632"/>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Step 6 练习+作业</a:t>
            </a:r>
          </a:p>
        </p:txBody>
      </p:sp>
      <p:sp>
        <p:nvSpPr>
          <p:cNvPr id="29" name="TextBox 28"/>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B23A2A"/>
                </a:solidFill>
                <a:latin typeface="微软雅黑"/>
                <a:ea typeface="微软雅黑"/>
                <a:cs typeface="微软雅黑"/>
              </a:rPr>
              <a:t>易混易错</a:t>
            </a:r>
          </a:p>
        </p:txBody>
      </p:sp>
      <p:sp>
        <p:nvSpPr>
          <p:cNvPr id="4" name="Rectangle 3"/>
          <p:cNvSpPr/>
          <p:nvPr/>
        </p:nvSpPr>
        <p:spPr>
          <a:xfrm>
            <a:off x="640080" y="1097280"/>
            <a:ext cx="822960" cy="30480"/>
          </a:xfrm>
          <a:prstGeom prst="rect">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5349240" cy="2057400"/>
          </a:xfrm>
          <a:prstGeom prst="roundRect">
            <a:avLst/>
          </a:prstGeom>
          <a:solidFill>
            <a:srgbClr val="FFFFFF"/>
          </a:solidFill>
          <a:ln w="22860">
            <a:solidFill>
              <a:srgbClr val="B23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04672" y="1581912"/>
            <a:ext cx="457200" cy="457200"/>
          </a:xfrm>
          <a:prstGeom prst="ellipse">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6367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a:t>
            </a:r>
          </a:p>
        </p:txBody>
      </p:sp>
      <p:sp>
        <p:nvSpPr>
          <p:cNvPr id="8" name="TextBox 7"/>
          <p:cNvSpPr txBox="1"/>
          <p:nvPr/>
        </p:nvSpPr>
        <p:spPr>
          <a:xfrm>
            <a:off x="1371600" y="1527048"/>
            <a:ext cx="4434840"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9" name="TextBox 8"/>
          <p:cNvSpPr txBox="1"/>
          <p:nvPr/>
        </p:nvSpPr>
        <p:spPr>
          <a:xfrm>
            <a:off x="1371600" y="1965960"/>
            <a:ext cx="4434840" cy="1417320"/>
          </a:xfrm>
          <a:prstGeom prst="rect">
            <a:avLst/>
          </a:prstGeom>
          <a:noFill/>
        </p:spPr>
        <p:txBody>
          <a:bodyPr wrap="square" anchor="t" lIns="0" rIns="0" tIns="0" bIns="0">
            <a:spAutoFit/>
          </a:bodyPr>
          <a:lstStyle/>
          <a:p>
            <a:pPr algn="l">
              <a:lnSpc>
                <a:spcPct val="128000"/>
              </a:lnSpc>
            </a:pPr>
            <a:r>
              <a:rPr sz="1400" b="0">
                <a:solidFill>
                  <a:srgbClr val="1C2A33"/>
                </a:solidFill>
                <a:latin typeface="楷体"/>
                <a:ea typeface="楷体"/>
                <a:cs typeface="楷体"/>
              </a:rPr>
              <a:t>① 脆弱成因。原因：自然基础+人为叠加，需综合，易单面。</a:t>
            </a:r>
          </a:p>
        </p:txBody>
      </p:sp>
      <p:sp>
        <p:nvSpPr>
          <p:cNvPr id="10" name="Rounded Rectangle 9"/>
          <p:cNvSpPr/>
          <p:nvPr/>
        </p:nvSpPr>
        <p:spPr>
          <a:xfrm>
            <a:off x="6263640" y="1417320"/>
            <a:ext cx="5349240" cy="2057400"/>
          </a:xfrm>
          <a:prstGeom prst="roundRect">
            <a:avLst/>
          </a:prstGeom>
          <a:solidFill>
            <a:srgbClr val="FFFFFF"/>
          </a:solidFill>
          <a:ln w="22860">
            <a:solidFill>
              <a:srgbClr val="B23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28232" y="1581912"/>
            <a:ext cx="457200" cy="457200"/>
          </a:xfrm>
          <a:prstGeom prst="ellipse">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28232" y="16367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a:t>
            </a:r>
          </a:p>
        </p:txBody>
      </p:sp>
      <p:sp>
        <p:nvSpPr>
          <p:cNvPr id="13" name="TextBox 12"/>
          <p:cNvSpPr txBox="1"/>
          <p:nvPr/>
        </p:nvSpPr>
        <p:spPr>
          <a:xfrm>
            <a:off x="6995160" y="1527048"/>
            <a:ext cx="4434840"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14" name="TextBox 13"/>
          <p:cNvSpPr txBox="1"/>
          <p:nvPr/>
        </p:nvSpPr>
        <p:spPr>
          <a:xfrm>
            <a:off x="6995160" y="1965960"/>
            <a:ext cx="4434840" cy="1417320"/>
          </a:xfrm>
          <a:prstGeom prst="rect">
            <a:avLst/>
          </a:prstGeom>
          <a:noFill/>
        </p:spPr>
        <p:txBody>
          <a:bodyPr wrap="square" anchor="t" lIns="0" rIns="0" tIns="0" bIns="0">
            <a:spAutoFit/>
          </a:bodyPr>
          <a:lstStyle/>
          <a:p>
            <a:pPr algn="l">
              <a:lnSpc>
                <a:spcPct val="128000"/>
              </a:lnSpc>
            </a:pPr>
            <a:r>
              <a:rPr sz="1400" b="0">
                <a:solidFill>
                  <a:srgbClr val="1C2A33"/>
                </a:solidFill>
                <a:latin typeface="楷体"/>
                <a:ea typeface="楷体"/>
                <a:cs typeface="楷体"/>
              </a:rPr>
              <a:t>② 措施综合。原因：单一措施无效，需三结合，易漏。</a:t>
            </a:r>
          </a:p>
        </p:txBody>
      </p:sp>
      <p:sp>
        <p:nvSpPr>
          <p:cNvPr id="15" name="Rounded Rectangle 14"/>
          <p:cNvSpPr/>
          <p:nvPr/>
        </p:nvSpPr>
        <p:spPr>
          <a:xfrm>
            <a:off x="640080" y="3703320"/>
            <a:ext cx="5349240" cy="2057400"/>
          </a:xfrm>
          <a:prstGeom prst="roundRect">
            <a:avLst/>
          </a:prstGeom>
          <a:solidFill>
            <a:srgbClr val="FFFFFF"/>
          </a:solidFill>
          <a:ln w="22860">
            <a:solidFill>
              <a:srgbClr val="B23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4672" y="3867912"/>
            <a:ext cx="457200" cy="457200"/>
          </a:xfrm>
          <a:prstGeom prst="ellipse">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39227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a:t>
            </a:r>
          </a:p>
        </p:txBody>
      </p:sp>
      <p:sp>
        <p:nvSpPr>
          <p:cNvPr id="18" name="TextBox 17"/>
          <p:cNvSpPr txBox="1"/>
          <p:nvPr/>
        </p:nvSpPr>
        <p:spPr>
          <a:xfrm>
            <a:off x="1371600" y="3813048"/>
            <a:ext cx="4434840"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19" name="TextBox 18"/>
          <p:cNvSpPr txBox="1"/>
          <p:nvPr/>
        </p:nvSpPr>
        <p:spPr>
          <a:xfrm>
            <a:off x="1371600" y="4251960"/>
            <a:ext cx="4434840" cy="1417320"/>
          </a:xfrm>
          <a:prstGeom prst="rect">
            <a:avLst/>
          </a:prstGeom>
          <a:noFill/>
        </p:spPr>
        <p:txBody>
          <a:bodyPr wrap="square" anchor="t" lIns="0" rIns="0" tIns="0" bIns="0">
            <a:spAutoFit/>
          </a:bodyPr>
          <a:lstStyle/>
          <a:p>
            <a:pPr algn="l">
              <a:lnSpc>
                <a:spcPct val="128000"/>
              </a:lnSpc>
            </a:pPr>
            <a:r>
              <a:rPr sz="1400" b="0">
                <a:solidFill>
                  <a:srgbClr val="1C2A33"/>
                </a:solidFill>
                <a:latin typeface="楷体"/>
                <a:ea typeface="楷体"/>
                <a:cs typeface="楷体"/>
              </a:rPr>
              <a:t>③ 小流域。原因：综合治理单元，需点。</a:t>
            </a:r>
          </a:p>
        </p:txBody>
      </p:sp>
      <p:sp>
        <p:nvSpPr>
          <p:cNvPr id="20" name="TextBox 19"/>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C8A86B"/>
                </a:solidFill>
                <a:latin typeface="微软雅黑"/>
                <a:ea typeface="微软雅黑"/>
                <a:cs typeface="微软雅黑"/>
              </a:rPr>
              <a:t>要点板书</a:t>
            </a:r>
          </a:p>
        </p:txBody>
      </p:sp>
      <p:sp>
        <p:nvSpPr>
          <p:cNvPr id="4" name="Rectangle 3"/>
          <p:cNvSpPr/>
          <p:nvPr/>
        </p:nvSpPr>
        <p:spPr>
          <a:xfrm>
            <a:off x="640080" y="1097280"/>
            <a:ext cx="822960" cy="30480"/>
          </a:xfrm>
          <a:prstGeom prst="rect">
            <a:avLst/>
          </a:prstGeom>
          <a:solidFill>
            <a:srgbClr val="C8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10911535" cy="5394960"/>
          </a:xfrm>
          <a:prstGeom prst="roundRect">
            <a:avLst/>
          </a:prstGeom>
          <a:solidFill>
            <a:srgbClr val="FFFFFF"/>
          </a:solidFill>
          <a:ln w="25400">
            <a:solidFill>
              <a:srgbClr val="C8A8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10362895" cy="5120640"/>
          </a:xfrm>
          <a:prstGeom prst="rect">
            <a:avLst/>
          </a:prstGeom>
          <a:noFill/>
        </p:spPr>
        <p:txBody>
          <a:bodyPr wrap="square" anchor="t" lIns="0" rIns="0" tIns="0" bIns="0">
            <a:spAutoFit/>
          </a:bodyPr>
          <a:lstStyle/>
          <a:p>
            <a:pPr algn="l">
              <a:lnSpc>
                <a:spcPct val="110000"/>
              </a:lnSpc>
              <a:spcAft>
                <a:spcPts val="100"/>
              </a:spcAft>
            </a:pPr>
            <a:r>
              <a:rPr sz="1300" b="0">
                <a:solidFill>
                  <a:srgbClr val="1C2A33"/>
                </a:solidFill>
                <a:latin typeface="微软雅黑"/>
                <a:ea typeface="微软雅黑"/>
                <a:cs typeface="微软雅黑"/>
              </a:rPr>
              <a:t>┌── 脆弱区治理 ──┐
│ 因:干旱+过牧 │
│ 生物:林草固本│
│ 工程:沙障 │
│ 农业:退耕舍饲│
│ 小流域综合 │
└────────────┘</a:t>
            </a:r>
          </a:p>
        </p:txBody>
      </p:sp>
      <p:sp>
        <p:nvSpPr>
          <p:cNvPr id="7" name="TextBox 6"/>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2E7D6B"/>
                </a:solidFill>
                <a:latin typeface="微软雅黑"/>
                <a:ea typeface="微软雅黑"/>
                <a:cs typeface="微软雅黑"/>
              </a:rPr>
              <a:t>分层作业</a:t>
            </a:r>
          </a:p>
        </p:txBody>
      </p:sp>
      <p:sp>
        <p:nvSpPr>
          <p:cNvPr id="4" name="Rectangle 3"/>
          <p:cNvSpPr/>
          <p:nvPr/>
        </p:nvSpPr>
        <p:spPr>
          <a:xfrm>
            <a:off x="640080" y="1097280"/>
            <a:ext cx="822960" cy="30480"/>
          </a:xfrm>
          <a:prstGeom prst="rect">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10911535" cy="141732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1527048"/>
            <a:ext cx="9997135"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7" name="TextBox 6"/>
          <p:cNvSpPr txBox="1"/>
          <p:nvPr/>
        </p:nvSpPr>
        <p:spPr>
          <a:xfrm>
            <a:off x="1371600" y="1965960"/>
            <a:ext cx="9997135" cy="777240"/>
          </a:xfrm>
          <a:prstGeom prst="rect">
            <a:avLst/>
          </a:prstGeom>
          <a:noFill/>
        </p:spPr>
        <p:txBody>
          <a:bodyPr wrap="square" anchor="t" lIns="0" rIns="0" tIns="0" bIns="0">
            <a:spAutoFit/>
          </a:bodyPr>
          <a:lstStyle/>
          <a:p>
            <a:pPr algn="l">
              <a:lnSpc>
                <a:spcPct val="128000"/>
              </a:lnSpc>
            </a:pPr>
            <a:r>
              <a:rPr sz="1200" b="0">
                <a:solidFill>
                  <a:srgbClr val="1C2A33"/>
                </a:solidFill>
                <a:latin typeface="楷体"/>
                <a:ea typeface="楷体"/>
                <a:cs typeface="楷体"/>
              </a:rPr>
              <a:t>【基础作业】1. 治理土地荒漠化最根本的措施是恢复__。2. 判断：在生态脆弱区，草方格沙障属于生物措施( )。</a:t>
            </a:r>
          </a:p>
        </p:txBody>
      </p:sp>
      <p:sp>
        <p:nvSpPr>
          <p:cNvPr id="8" name="Rounded Rectangle 7"/>
          <p:cNvSpPr/>
          <p:nvPr/>
        </p:nvSpPr>
        <p:spPr>
          <a:xfrm>
            <a:off x="640080" y="2971800"/>
            <a:ext cx="10911535" cy="141732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3081528"/>
            <a:ext cx="9997135"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10" name="TextBox 9"/>
          <p:cNvSpPr txBox="1"/>
          <p:nvPr/>
        </p:nvSpPr>
        <p:spPr>
          <a:xfrm>
            <a:off x="1371600" y="3520440"/>
            <a:ext cx="9997135" cy="777240"/>
          </a:xfrm>
          <a:prstGeom prst="rect">
            <a:avLst/>
          </a:prstGeom>
          <a:noFill/>
        </p:spPr>
        <p:txBody>
          <a:bodyPr wrap="square" anchor="t" lIns="0" rIns="0" tIns="0" bIns="0">
            <a:spAutoFit/>
          </a:bodyPr>
          <a:lstStyle/>
          <a:p>
            <a:pPr algn="l">
              <a:lnSpc>
                <a:spcPct val="128000"/>
              </a:lnSpc>
            </a:pPr>
            <a:r>
              <a:rPr sz="1400" b="0">
                <a:solidFill>
                  <a:srgbClr val="1C2A33"/>
                </a:solidFill>
                <a:latin typeface="楷体"/>
                <a:ea typeface="楷体"/>
                <a:cs typeface="楷体"/>
              </a:rPr>
              <a:t>【提高作业】说明我国北方农牧交错带土地荒漠化的主要人为原因及综合治理思路。</a:t>
            </a:r>
          </a:p>
        </p:txBody>
      </p:sp>
      <p:sp>
        <p:nvSpPr>
          <p:cNvPr id="11" name="TextBox 10"/>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C8A86B"/>
                </a:solidFill>
                <a:latin typeface="微软雅黑"/>
                <a:ea typeface="微软雅黑"/>
                <a:cs typeface="微软雅黑"/>
              </a:rPr>
              <a:t>本课小结</a:t>
            </a:r>
          </a:p>
        </p:txBody>
      </p:sp>
      <p:sp>
        <p:nvSpPr>
          <p:cNvPr id="4" name="Rectangle 3"/>
          <p:cNvSpPr/>
          <p:nvPr/>
        </p:nvSpPr>
        <p:spPr>
          <a:xfrm>
            <a:off x="640080" y="1097280"/>
            <a:ext cx="822960" cy="30480"/>
          </a:xfrm>
          <a:prstGeom prst="rect">
            <a:avLst/>
          </a:prstGeom>
          <a:solidFill>
            <a:srgbClr val="C8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737360"/>
            <a:ext cx="54864" cy="431800"/>
          </a:xfrm>
          <a:prstGeom prst="rect">
            <a:avLst/>
          </a:prstGeom>
          <a:solidFill>
            <a:srgbClr val="C8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45920"/>
            <a:ext cx="10682935" cy="2194560"/>
          </a:xfrm>
          <a:prstGeom prst="rect">
            <a:avLst/>
          </a:prstGeom>
          <a:noFill/>
        </p:spPr>
        <p:txBody>
          <a:bodyPr wrap="square" anchor="t" lIns="0" rIns="0" tIns="0" bIns="0">
            <a:spAutoFit/>
          </a:bodyPr>
          <a:lstStyle/>
          <a:p>
            <a:pPr algn="l">
              <a:lnSpc>
                <a:spcPct val="150000"/>
              </a:lnSpc>
              <a:spcAft>
                <a:spcPts val="1000"/>
              </a:spcAft>
            </a:pPr>
            <a:r>
              <a:rPr sz="2200" b="0">
                <a:solidFill>
                  <a:srgbClr val="1C2A33"/>
                </a:solidFill>
                <a:latin typeface="楷体"/>
                <a:ea typeface="楷体"/>
                <a:cs typeface="楷体"/>
              </a:rPr>
              <a:t>本单元主题：资源枯竭型城市的转型。把今天学到的方法带进下一篇——自己读、自己想、自己写。</a:t>
            </a:r>
          </a:p>
          <a:p>
            <a:pPr algn="l"/>
            <a:r>
              <a:rPr sz="1600" b="1">
                <a:solidFill>
                  <a:srgbClr val="B23A2A"/>
                </a:solidFill>
                <a:latin typeface="微软雅黑"/>
                <a:ea typeface="微软雅黑"/>
                <a:cs typeface="微软雅黑"/>
              </a:rPr>
              <a:t>方法迁移：圈关键信息 → 理事件脉络 → 析人物精神</a:t>
            </a:r>
          </a:p>
        </p:txBody>
      </p:sp>
      <p:sp>
        <p:nvSpPr>
          <p:cNvPr id="7" name="TextBox 6"/>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