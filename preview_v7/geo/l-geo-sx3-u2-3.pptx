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10911535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B23A2A"/>
                </a:solidFill>
                <a:latin typeface="微软雅黑"/>
                <a:ea typeface="微软雅黑"/>
                <a:cs typeface="微软雅黑"/>
              </a:rPr>
              <a:t>地理 · 选择性必修3 资源环境与国家安全 · 第2单元 资源安全与国家安全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207008"/>
            <a:ext cx="822960" cy="30480"/>
          </a:xfrm>
          <a:prstGeom prst="rect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737360"/>
            <a:ext cx="10911535" cy="2011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4000" b="1">
                <a:solidFill>
                  <a:srgbClr val="1C2A33"/>
                </a:solidFill>
                <a:latin typeface="楷体"/>
                <a:ea typeface="楷体"/>
                <a:cs typeface="楷体"/>
              </a:rPr>
              <a:t>中国的耕地资源与粮食安全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3840480"/>
            <a:ext cx="1091153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700" b="1">
                <a:solidFill>
                  <a:srgbClr val="B23A2A"/>
                </a:solidFill>
                <a:latin typeface="微软雅黑"/>
                <a:ea typeface="微软雅黑"/>
                <a:cs typeface="微软雅黑"/>
              </a:rPr>
              <a:t>新课  ·  第3课时  ·  45分钟</a:t>
            </a:r>
          </a:p>
        </p:txBody>
      </p:sp>
      <p:sp>
        <p:nvSpPr>
          <p:cNvPr id="7" name="Rectangle 6"/>
          <p:cNvSpPr/>
          <p:nvPr/>
        </p:nvSpPr>
        <p:spPr>
          <a:xfrm>
            <a:off x="640080" y="5394960"/>
            <a:ext cx="2011680" cy="33020"/>
          </a:xfrm>
          <a:prstGeom prst="rect">
            <a:avLst/>
          </a:prstGeom>
          <a:solidFill>
            <a:srgbClr val="C8A8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" y="5623560"/>
            <a:ext cx="10911535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学习任务群：    |    年级：高二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B23A2A"/>
                </a:solidFill>
                <a:latin typeface="微软雅黑"/>
                <a:ea typeface="微软雅黑"/>
                <a:cs typeface="微软雅黑"/>
              </a:rPr>
              <a:t>学习目标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40080" y="1417320"/>
            <a:ext cx="5349240" cy="20574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B23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804672" y="1581912"/>
            <a:ext cx="457200" cy="457200"/>
          </a:xfrm>
          <a:prstGeom prst="ellipse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04672" y="163677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371600" y="1527048"/>
            <a:ext cx="44348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目标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371600" y="1965960"/>
            <a:ext cx="4434840" cy="1417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4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人地协调观：认识耕地是粮食安全的命根子。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63640" y="1417320"/>
            <a:ext cx="5349240" cy="20574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B23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6428232" y="1581912"/>
            <a:ext cx="457200" cy="457200"/>
          </a:xfrm>
          <a:prstGeom prst="ellipse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28232" y="163677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995160" y="1527048"/>
            <a:ext cx="44348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目标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995160" y="1965960"/>
            <a:ext cx="4434840" cy="1417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4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综合思维：综合数量质量布局分析耕地。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40080" y="3703320"/>
            <a:ext cx="5349240" cy="20574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B23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804672" y="3867912"/>
            <a:ext cx="457200" cy="457200"/>
          </a:xfrm>
          <a:prstGeom prst="ellipse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04672" y="392277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371600" y="3813048"/>
            <a:ext cx="44348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目标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71600" y="4251960"/>
            <a:ext cx="4434840" cy="1417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4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区域认知：在国土看耕地南缺北多。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263640" y="3703320"/>
            <a:ext cx="5349240" cy="20574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B23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6428232" y="3867912"/>
            <a:ext cx="457200" cy="457200"/>
          </a:xfrm>
          <a:prstGeom prst="ellipse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428232" y="392277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995160" y="3813048"/>
            <a:ext cx="44348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目标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995160" y="4251960"/>
            <a:ext cx="4434840" cy="1417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4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地理实践力：能为护耕地提具体行动。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2E7D6B"/>
                </a:solidFill>
                <a:latin typeface="微软雅黑"/>
                <a:ea typeface="微软雅黑"/>
                <a:cs typeface="微软雅黑"/>
              </a:rPr>
              <a:t>课文背景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508760"/>
            <a:ext cx="6766560" cy="4572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50000"/>
              </a:lnSpc>
              <a:spcAft>
                <a:spcPts val="600"/>
              </a:spcAft>
            </a:pPr>
            <a:r>
              <a:rPr sz="16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我国耕地人均少、质量参差、南少北多且占补平衡压力大；"18亿亩红线"是底线；粮食安全靠"谷物基本自给、口粮绝对安全"，措施：保耕地、建高标准农田、提单产、节粮减损。</a:t>
            </a:r>
          </a:p>
        </p:txBody>
      </p:sp>
      <p:pic>
        <p:nvPicPr>
          <p:cNvPr id="6" name="Picture 5" descr="ricefield.jpg"/>
          <p:cNvPicPr>
            <a:picLocks noChangeAspect="1"/>
          </p:cNvPicPr>
          <p:nvPr/>
        </p:nvPicPr>
        <p:blipFill>
          <a:blip r:embed="rId2"/>
          <a:srcRect l="23066" r="23066"/>
          <a:stretch>
            <a:fillRect/>
          </a:stretch>
        </p:blipFill>
        <p:spPr>
          <a:xfrm>
            <a:off x="8046720" y="1508760"/>
            <a:ext cx="4114800" cy="310896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8046720" y="4663440"/>
            <a:ext cx="4114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资料图（自由授权，复用 ricefield.jpg）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B23A2A"/>
                </a:solidFill>
                <a:latin typeface="微软雅黑"/>
                <a:ea typeface="微软雅黑"/>
                <a:cs typeface="微软雅黑"/>
              </a:rPr>
              <a:t>学习重点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40080" y="1371600"/>
            <a:ext cx="10911535" cy="1170432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C8A8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371600" y="1481328"/>
            <a:ext cx="999713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/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71600" y="1920240"/>
            <a:ext cx="9997135" cy="53035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3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① 国情：人均耕地少、质量不均、南少北多。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2651760"/>
            <a:ext cx="10911535" cy="1170432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C8A8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371600" y="2761488"/>
            <a:ext cx="999713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/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371600" y="3200400"/>
            <a:ext cx="9997135" cy="53035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3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② 红线：18亿亩耕地红线、永久基本农田。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40080" y="3931920"/>
            <a:ext cx="10911535" cy="1170432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C8A8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371600" y="4041648"/>
            <a:ext cx="999713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/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371600" y="4480560"/>
            <a:ext cx="9997135" cy="53035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3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③ 方针：谷物基本自给、口粮绝对安全。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40080" y="5212080"/>
            <a:ext cx="10911535" cy="1170432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C8A8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371600" y="5321808"/>
            <a:ext cx="999713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/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371600" y="5760720"/>
            <a:ext cx="9997135" cy="53035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3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④ 措施：保数量、提质量、建高标准农田、减损。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2E7D6B"/>
                </a:solidFill>
                <a:latin typeface="微软雅黑"/>
                <a:ea typeface="微软雅黑"/>
                <a:cs typeface="微软雅黑"/>
              </a:rPr>
              <a:t>学习路径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40080" y="1371600"/>
            <a:ext cx="10911535" cy="6858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804672" y="1536192"/>
            <a:ext cx="457200" cy="457200"/>
          </a:xfrm>
          <a:prstGeom prst="ellipse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04672" y="159105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371600" y="1481328"/>
            <a:ext cx="9997135" cy="4846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Step 1 导入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40080" y="2194560"/>
            <a:ext cx="10911535" cy="6858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804672" y="2359152"/>
            <a:ext cx="457200" cy="457200"/>
          </a:xfrm>
          <a:prstGeom prst="ellipse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04672" y="241401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371600" y="2304288"/>
            <a:ext cx="9997135" cy="4846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Step 2 空间布局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40080" y="3017520"/>
            <a:ext cx="10911535" cy="6858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804672" y="3182112"/>
            <a:ext cx="457200" cy="457200"/>
          </a:xfrm>
          <a:prstGeom prst="ellipse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04672" y="323697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371600" y="3127248"/>
            <a:ext cx="9997135" cy="4846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Step 3 红线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40080" y="3840480"/>
            <a:ext cx="10911535" cy="6858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804672" y="4005072"/>
            <a:ext cx="457200" cy="457200"/>
          </a:xfrm>
          <a:prstGeom prst="ellipse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04672" y="405993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4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371600" y="3950208"/>
            <a:ext cx="9997135" cy="4846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Step 4 安全方针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40080" y="4663440"/>
            <a:ext cx="10911535" cy="6858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804672" y="4828032"/>
            <a:ext cx="457200" cy="457200"/>
          </a:xfrm>
          <a:prstGeom prst="ellipse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04672" y="488289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5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371600" y="4773168"/>
            <a:ext cx="9997135" cy="4846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Step 5 保障措施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40080" y="5486400"/>
            <a:ext cx="10911535" cy="6858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804672" y="5650992"/>
            <a:ext cx="457200" cy="457200"/>
          </a:xfrm>
          <a:prstGeom prst="ellipse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04672" y="570585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6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371600" y="5596128"/>
            <a:ext cx="9997135" cy="4846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Step 6 练习+作业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B23A2A"/>
                </a:solidFill>
                <a:latin typeface="微软雅黑"/>
                <a:ea typeface="微软雅黑"/>
                <a:cs typeface="微软雅黑"/>
              </a:rPr>
              <a:t>易混易错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40080" y="1417320"/>
            <a:ext cx="5349240" cy="20574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B23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804672" y="1581912"/>
            <a:ext cx="457200" cy="457200"/>
          </a:xfrm>
          <a:prstGeom prst="ellipse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04672" y="163677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!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371600" y="1527048"/>
            <a:ext cx="44348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/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371600" y="1965960"/>
            <a:ext cx="4434840" cy="1417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4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① 国情认知。原因：总量大但人均少，易误判，需点人均。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63640" y="1417320"/>
            <a:ext cx="5349240" cy="20574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B23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6428232" y="1581912"/>
            <a:ext cx="457200" cy="457200"/>
          </a:xfrm>
          <a:prstGeom prst="ellipse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28232" y="163677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!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995160" y="1527048"/>
            <a:ext cx="44348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/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995160" y="1965960"/>
            <a:ext cx="4434840" cy="1417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4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② 红线意义。原因：红线是安全底线，需拔高，易浅。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40080" y="3703320"/>
            <a:ext cx="5349240" cy="20574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B23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804672" y="3867912"/>
            <a:ext cx="457200" cy="457200"/>
          </a:xfrm>
          <a:prstGeom prst="ellipse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04672" y="392277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!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371600" y="3813048"/>
            <a:ext cx="44348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/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71600" y="4251960"/>
            <a:ext cx="4434840" cy="1417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4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③ 保障体系。原因：多措并举，需系统，易漏。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C8A86B"/>
                </a:solidFill>
                <a:latin typeface="微软雅黑"/>
                <a:ea typeface="微软雅黑"/>
                <a:cs typeface="微软雅黑"/>
              </a:rPr>
              <a:t>要点板书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C8A8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40080" y="1417320"/>
            <a:ext cx="10911535" cy="539496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C8A8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554480"/>
            <a:ext cx="10362895" cy="5120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100"/>
              </a:spcAft>
            </a:pPr>
            <a:r>
              <a:rPr sz="1300" b="0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┌── 耕地粮食 ──┐
│ 人少质不均 │
│ 南少北多 │
│ 红线:18亿亩│
│ 方针:自给安│
│ 措施:保提减│
└────────────┘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2E7D6B"/>
                </a:solidFill>
                <a:latin typeface="微软雅黑"/>
                <a:ea typeface="微软雅黑"/>
                <a:cs typeface="微软雅黑"/>
              </a:rPr>
              <a:t>分层作业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40080" y="1417320"/>
            <a:ext cx="10911535" cy="141732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371600" y="1527048"/>
            <a:ext cx="999713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/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71600" y="1965960"/>
            <a:ext cx="9997135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2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【基础作业】1. 我国坚守的耕地保护红线是__亿亩。2. 判断：保障粮食安全可以完全依赖粮食进口( )。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2971800"/>
            <a:ext cx="10911535" cy="141732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371600" y="3081528"/>
            <a:ext cx="999713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/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371600" y="3520440"/>
            <a:ext cx="9997135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4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【提高作业】说明"18亿亩耕地红线"对粮食安全的意义。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C8A86B"/>
                </a:solidFill>
                <a:latin typeface="微软雅黑"/>
                <a:ea typeface="微软雅黑"/>
                <a:cs typeface="微软雅黑"/>
              </a:rPr>
              <a:t>本课小结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C8A8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640080" y="1737360"/>
            <a:ext cx="54864" cy="431800"/>
          </a:xfrm>
          <a:prstGeom prst="rect">
            <a:avLst/>
          </a:prstGeom>
          <a:solidFill>
            <a:srgbClr val="C8A8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68680" y="1645920"/>
            <a:ext cx="10682935" cy="21945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50000"/>
              </a:lnSpc>
              <a:spcAft>
                <a:spcPts val="1000"/>
              </a:spcAft>
            </a:pPr>
            <a:r>
              <a:rPr sz="22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本单元主题：资源安全与国家安全。把今天学到的方法带进下一篇——自己读、自己想、自己写。</a:t>
            </a:r>
          </a:p>
          <a:p>
            <a:pPr algn="l"/>
            <a:r>
              <a:rPr sz="1600" b="1">
                <a:solidFill>
                  <a:srgbClr val="B23A2A"/>
                </a:solidFill>
                <a:latin typeface="微软雅黑"/>
                <a:ea typeface="微软雅黑"/>
                <a:cs typeface="微软雅黑"/>
              </a:rPr>
              <a:t>方法迁移：圈关键信息 → 理事件脉络 → 析人物精神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09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