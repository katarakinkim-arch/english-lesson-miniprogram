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语文 · 必修上册 · 第5单元 乡土中国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691640"/>
            <a:ext cx="10637215" cy="2103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34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阅读方法指导——如何读学术著作与做概念卡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840480"/>
            <a:ext cx="10637215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>
                <a:solidFill>
                  <a:srgbClr val="6B6258"/>
                </a:solidFill>
                <a:latin typeface="楷体"/>
                <a:ea typeface="楷体"/>
                <a:cs typeface="楷体"/>
              </a:rPr>
              <a:t>读学术书，先见林，再见树。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5943600"/>
            <a:ext cx="12191695" cy="914400"/>
          </a:xfrm>
          <a:prstGeom prst="rect">
            <a:avLst/>
          </a:prstGeom>
          <a:solidFill>
            <a:srgbClr val="1C2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6144768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6181344"/>
            <a:ext cx="105156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第2课时 · 方法指导 · 学生课堂版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6473952"/>
            <a:ext cx="105156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E7DFD2"/>
                </a:solidFill>
                <a:latin typeface="微软雅黑"/>
                <a:ea typeface="微软雅黑"/>
                <a:cs typeface="微软雅黑"/>
              </a:rPr>
              <a:t>科目：语文　册次：必修上册　单元：乡土中国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本课目标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058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四向学习目标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94560"/>
            <a:ext cx="10911535" cy="86868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2194560"/>
            <a:ext cx="109728" cy="8686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32688" y="2194560"/>
            <a:ext cx="10454335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语言能力　</a:t>
            </a: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用预览—批注—概念卡—导图四步读学术篇，以「乡土本色」为样例做出一张合格概念卡。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3218688"/>
            <a:ext cx="10911535" cy="86868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3218688"/>
            <a:ext cx="109728" cy="8686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32688" y="3218688"/>
            <a:ext cx="10454335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文化意识　</a:t>
            </a: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体会「把书读薄（概念）再读厚（理解）」的学术阅读智慧。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4242816"/>
            <a:ext cx="10911535" cy="86868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" y="4242816"/>
            <a:ext cx="109728" cy="8686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32688" y="4242816"/>
            <a:ext cx="10454335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思维品质　</a:t>
            </a: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通过概念卡与导图，培养抽象提炼与关系建构思维。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5266944"/>
            <a:ext cx="10911535" cy="86868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6B62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5266944"/>
            <a:ext cx="109728" cy="868680"/>
          </a:xfrm>
          <a:prstGeom prst="rect">
            <a:avLst/>
          </a:prstGeom>
          <a:solidFill>
            <a:srgbClr val="6B62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32688" y="5266944"/>
            <a:ext cx="10454335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学习能力　</a:t>
            </a: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掌握学术著作四步读法，能独立迁移全书。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背景 · 权威调研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058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教材定位与来源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828800"/>
            <a:ext cx="522716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B23A2A"/>
                </a:solidFill>
                <a:latin typeface="楷体"/>
                <a:ea typeface="楷体"/>
                <a:cs typeface="楷体"/>
              </a:rPr>
              <a:t>教材分析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331720"/>
            <a:ext cx="5227167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课教读学术著作的方法：①预览（看目录/小标题/首尾段抓框架）；②批注（概念、论点、疑点）；③概念卡（一词一卡：定义+原文+我的理解+例子）；④思维导图（篇间关系）。以「乡土本色」篇为样例走一遍，把方法落到实操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24447" y="1828800"/>
            <a:ext cx="5227167" cy="4023360"/>
          </a:xfrm>
          <a:prstGeom prst="roundRect">
            <a:avLst/>
          </a:prstGeom>
          <a:solidFill>
            <a:srgbClr val="1C2A33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98767" y="2011680"/>
            <a:ext cx="467852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8A86B"/>
                </a:solidFill>
                <a:latin typeface="楷体"/>
                <a:ea typeface="楷体"/>
                <a:cs typeface="楷体"/>
              </a:rPr>
              <a:t>权威来源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98767" y="2560320"/>
            <a:ext cx="4678527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1250" b="0">
                <a:solidFill>
                  <a:srgbClr val="FFFFFF"/>
                </a:solidFill>
                <a:latin typeface="楷体"/>
                <a:ea typeface="楷体"/>
                <a:cs typeface="楷体"/>
              </a:rPr>
              <a:t>重庆日报《感受“整本书阅读”的魅力》（南开中学五步阅读法）</a:t>
            </a:r>
          </a:p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1250" b="0">
                <a:solidFill>
                  <a:srgbClr val="FFFFFF"/>
                </a:solidFill>
                <a:latin typeface="楷体"/>
                <a:ea typeface="楷体"/>
                <a:cs typeface="楷体"/>
              </a:rPr>
              <a:t>21世纪教育网《第五单元〈乡土中国〉整本书阅读导读》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98767" y="4343400"/>
            <a:ext cx="4678527" cy="12700"/>
          </a:xfrm>
          <a:prstGeom prst="rect">
            <a:avLst/>
          </a:prstGeom>
          <a:solidFill>
            <a:srgbClr val="6B62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98767" y="4480560"/>
            <a:ext cx="4678527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>
                <a:solidFill>
                  <a:srgbClr val="E7DFD2"/>
                </a:solidFill>
                <a:latin typeface="楷体"/>
                <a:ea typeface="楷体"/>
                <a:cs typeface="楷体"/>
              </a:rPr>
              <a:t>本课件未使用无关配图，画面以学科色块呈现。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058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本课重点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94560"/>
            <a:ext cx="3393338" cy="39319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2194560"/>
            <a:ext cx="3393338" cy="54864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304288"/>
            <a:ext cx="33933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重点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971800"/>
            <a:ext cx="2844698" cy="3017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50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四步：预览框架→批注（概念/论点/疑）→概念卡→导图。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99178" y="2194560"/>
            <a:ext cx="3393338" cy="39319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99178" y="2194560"/>
            <a:ext cx="3393338" cy="54864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99178" y="2304288"/>
            <a:ext cx="33933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重点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73498" y="2971800"/>
            <a:ext cx="2844698" cy="3017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50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概念卡要素：词+定义+原文+我的例。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58276" y="2194560"/>
            <a:ext cx="3393338" cy="39319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158276" y="2194560"/>
            <a:ext cx="3393338" cy="54864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158276" y="2304288"/>
            <a:ext cx="33933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重点 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32596" y="2971800"/>
            <a:ext cx="2844698" cy="3017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50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样例：乡土本色（土气/不流动/熟人）。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058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学习路径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94560"/>
            <a:ext cx="2453563" cy="36576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2359152"/>
            <a:ext cx="153916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示范法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2852928"/>
            <a:ext cx="1539163" cy="2880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以乡土本色走四步。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59403" y="2194560"/>
            <a:ext cx="2453563" cy="36576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3623995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23995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90923" y="2359152"/>
            <a:ext cx="153916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卡片法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90923" y="2852928"/>
            <a:ext cx="1539163" cy="2880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概念卡模板。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78727" y="2194560"/>
            <a:ext cx="2453563" cy="36576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443319" y="2359152"/>
            <a:ext cx="457200" cy="457200"/>
          </a:xfrm>
          <a:prstGeom prst="ellipse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3319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10247" y="2359152"/>
            <a:ext cx="153916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导图法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10247" y="2852928"/>
            <a:ext cx="1539163" cy="2880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篇关系图。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98051" y="2194560"/>
            <a:ext cx="2453563" cy="36576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6B62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262643" y="2359152"/>
            <a:ext cx="457200" cy="457200"/>
          </a:xfrm>
          <a:prstGeom prst="ellipse">
            <a:avLst/>
          </a:prstGeom>
          <a:solidFill>
            <a:srgbClr val="6B62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62643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829571" y="2359152"/>
            <a:ext cx="153916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互评法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829571" y="2852928"/>
            <a:ext cx="1539163" cy="2880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卡互看。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难点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058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本课难点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94560"/>
            <a:ext cx="3393338" cy="39319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2194560"/>
            <a:ext cx="3393338" cy="54864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304288"/>
            <a:ext cx="33933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难点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971800"/>
            <a:ext cx="2844698" cy="3017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15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预览抓框架</a:t>
            </a:r>
          </a:p>
          <a:p>
            <a:pPr algn="l">
              <a:lnSpc>
                <a:spcPct val="150000"/>
              </a:lnSpc>
            </a:pPr>
            <a:r>
              <a:rPr sz="1300" b="0">
                <a:solidFill>
                  <a:srgbClr val="B23A2A"/>
                </a:solidFill>
                <a:latin typeface="楷体"/>
                <a:ea typeface="楷体"/>
                <a:cs typeface="楷体"/>
              </a:rPr>
              <a:t>破解：学生直读不预览，需教看目录首尾。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99178" y="2194560"/>
            <a:ext cx="3393338" cy="39319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99178" y="2194560"/>
            <a:ext cx="3393338" cy="54864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99178" y="2304288"/>
            <a:ext cx="33933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难点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73498" y="2971800"/>
            <a:ext cx="2844698" cy="3017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15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概念卡写法</a:t>
            </a:r>
          </a:p>
          <a:p>
            <a:pPr algn="l">
              <a:lnSpc>
                <a:spcPct val="150000"/>
              </a:lnSpc>
            </a:pPr>
            <a:r>
              <a:rPr sz="1300" b="0">
                <a:solidFill>
                  <a:srgbClr val="2E7D6B"/>
                </a:solidFill>
                <a:latin typeface="楷体"/>
                <a:ea typeface="楷体"/>
                <a:cs typeface="楷体"/>
              </a:rPr>
              <a:t>破解：易抄定义不消化，需「我的例」。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58276" y="2194560"/>
            <a:ext cx="3393338" cy="39319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158276" y="2194560"/>
            <a:ext cx="3393338" cy="54864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158276" y="2304288"/>
            <a:ext cx="33933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难点 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32596" y="2971800"/>
            <a:ext cx="2844698" cy="3017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15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论点vs概念</a:t>
            </a:r>
          </a:p>
          <a:p>
            <a:pPr algn="l">
              <a:lnSpc>
                <a:spcPct val="150000"/>
              </a:lnSpc>
            </a:pPr>
            <a:r>
              <a:rPr sz="1300" b="0">
                <a:solidFill>
                  <a:srgbClr val="C8A86B"/>
                </a:solidFill>
                <a:latin typeface="楷体"/>
                <a:ea typeface="楷体"/>
                <a:cs typeface="楷体"/>
              </a:rPr>
              <a:t>破解：混，需区分。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板书精华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058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板书精华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911535" cy="429768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828800"/>
            <a:ext cx="128016" cy="42976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057400"/>
            <a:ext cx="10180015" cy="3840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预览→批注→卡→图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批注符号: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△概念 ★论点 ?疑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概念卡模板: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词+定义+原文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+我的例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样例:土气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定:依赖土地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原:安土重迁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例:老家种地不离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导图:显关系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058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分层作业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94560"/>
            <a:ext cx="5272887" cy="39319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2194560"/>
            <a:ext cx="5272887" cy="54864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304288"/>
            <a:ext cx="5272887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基础 · 必做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971800"/>
            <a:ext cx="4724247" cy="3017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50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1. 写出学术阅读四步。2. 就「乡土本色」做1张概念卡（土气：定义+原文+我的例）。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78727" y="2194560"/>
            <a:ext cx="5272887" cy="39319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78727" y="2194560"/>
            <a:ext cx="5272887" cy="54864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78727" y="2304288"/>
            <a:ext cx="5272887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提升 · 选做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53047" y="2971800"/>
            <a:ext cx="4724247" cy="3017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50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读「差序格局」篇做2张概念卡（差序格局/团体格局），要求各含定义+原文+我的例。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单元小结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058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单元回望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911535" cy="1371600"/>
          </a:xfrm>
          <a:prstGeom prst="roundRect">
            <a:avLst/>
          </a:prstGeom>
          <a:solidFill>
            <a:srgbClr val="1C2A33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965960"/>
            <a:ext cx="10180015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45000"/>
              </a:lnSpc>
            </a:pPr>
            <a:r>
              <a:rPr sz="1500" b="0">
                <a:solidFill>
                  <a:srgbClr val="FFFFFF"/>
                </a:solidFill>
                <a:latin typeface="楷体"/>
                <a:ea typeface="楷体"/>
                <a:cs typeface="楷体"/>
              </a:rPr>
              <a:t>本单元「乡土中国」：先见林再见树：浏览、略读、精读、研读、重读，配概念卡吃透学术书。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474720"/>
            <a:ext cx="10911535" cy="841248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41248" y="3666744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8" y="3721608"/>
            <a:ext cx="457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474720"/>
            <a:ext cx="9905695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你读一本难书，通常是从头啃还是先翻框架？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4434840"/>
            <a:ext cx="10911535" cy="841248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41248" y="4626864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1248" y="4681728"/>
            <a:ext cx="457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08760" y="4434840"/>
            <a:ext cx="9905695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一张概念卡，你打算记哪几栏？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5394960"/>
            <a:ext cx="10911535" cy="841248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41248" y="5586984"/>
            <a:ext cx="457200" cy="457200"/>
          </a:xfrm>
          <a:prstGeom prst="ellipse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1248" y="5641848"/>
            <a:ext cx="457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5394960"/>
            <a:ext cx="9905695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哪一步（浏览／精读／重读）你最想改进？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