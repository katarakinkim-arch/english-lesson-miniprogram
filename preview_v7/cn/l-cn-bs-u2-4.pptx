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lantago.jpg"/>
          <p:cNvPicPr>
            <a:picLocks noChangeAspect="1"/>
          </p:cNvPicPr>
          <p:nvPr/>
        </p:nvPicPr>
        <p:blipFill>
          <a:blip r:embed="rId2"/>
          <a:srcRect t="12480" b="1248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0584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必修上 第二单元 · 劳动光荣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65960"/>
            <a:ext cx="112471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芣苢 · 文氏外孙入村收麦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《诗经·周南》× 北宋·苏辙 —— 古诗中的劳动节拍与诗意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109728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6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从通讯到评论再到古诗——劳动的主题穿越两千年。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准确朗读两首诗，解释六动词含义，说出重章叠句的表达效果。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感受古人对劳动的朴素赞美，理解"劳动光荣"是中华文化的悠久传统。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追踪六动词变化，发现"劳动进程→情感递进"的内在逻辑。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2918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掌握"辨字义→理结构→品节奏→悟情感"古诗劳动阅读四步法。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知人论世 · 两首诗两个时代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lantago.jpg"/>
          <p:cNvPicPr>
            <a:picLocks noChangeAspect="1"/>
          </p:cNvPicPr>
          <p:nvPr/>
        </p:nvPicPr>
        <p:blipFill>
          <a:blip r:embed="rId2"/>
          <a:srcRect t="23163" b="23163"/>
          <a:stretch>
            <a:fillRect/>
          </a:stretch>
        </p:blipFill>
        <p:spPr>
          <a:xfrm>
            <a:off x="640080" y="1783080"/>
            <a:ext cx="5227167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97764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车前草（Plantago major）· 即"芣苢"（毛传/朱熹说）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343400"/>
            <a:ext cx="5227167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《诗经·周南·芣苢》（先秦）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周代采集歌谣，三章十二句，仅换六动词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植物身份：毛传=车前草；闻一多=薏苡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方玉润："田家妇女三三五五，群歌互答"</a:t>
            </a:r>
          </a:p>
        </p:txBody>
      </p:sp>
      <p:pic>
        <p:nvPicPr>
          <p:cNvPr id="8" name="Picture 7" descr="harvest.jpg"/>
          <p:cNvPicPr>
            <a:picLocks noChangeAspect="1"/>
          </p:cNvPicPr>
          <p:nvPr/>
        </p:nvPicPr>
        <p:blipFill>
          <a:blip r:embed="rId3"/>
          <a:srcRect t="23177" b="23177"/>
          <a:stretch>
            <a:fillRect/>
          </a:stretch>
        </p:blipFill>
        <p:spPr>
          <a:xfrm>
            <a:off x="6324447" y="1783080"/>
            <a:ext cx="5227167" cy="21031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324447" y="397764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麦收金田 · 苏辙"收麦"场景（环境照）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447" y="4343400"/>
            <a:ext cx="5227167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《文氏外孙入村收麦》苏辙（北宋）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苏辙(1039–1112)，晚年退居颍川（今河南许昌一带）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写外孙入村帮忙收麦：劳动辛劳 + 天伦温情交织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与《芣苢》同写劳动：群体欢欣 vs 个体温情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 · 六动词递进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10911535" cy="25603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1036289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六动词递进：从开始摘到满载而归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743200"/>
            <a:ext cx="3454298" cy="868680"/>
          </a:xfrm>
          <a:prstGeom prst="roundRect">
            <a:avLst/>
          </a:prstGeom>
          <a:solidFill>
            <a:srgbClr val="E7DFD2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816352"/>
            <a:ext cx="1280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852928"/>
            <a:ext cx="199125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开始摘取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5858" y="2743200"/>
            <a:ext cx="3454298" cy="868680"/>
          </a:xfrm>
          <a:prstGeom prst="roundRect">
            <a:avLst/>
          </a:prstGeom>
          <a:solidFill>
            <a:srgbClr val="E7DFD2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7298" y="2816352"/>
            <a:ext cx="1280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77458" y="2852928"/>
            <a:ext cx="199125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摘到了（动手取得）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2743200"/>
            <a:ext cx="3454298" cy="868680"/>
          </a:xfrm>
          <a:prstGeom prst="roundRect">
            <a:avLst/>
          </a:prstGeom>
          <a:solidFill>
            <a:srgbClr val="E7DFD2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8756" y="2816352"/>
            <a:ext cx="1280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掇 duō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8916" y="2852928"/>
            <a:ext cx="199125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一片片拾起掉落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749040"/>
            <a:ext cx="3454298" cy="868680"/>
          </a:xfrm>
          <a:prstGeom prst="roundRect">
            <a:avLst/>
          </a:prstGeom>
          <a:solidFill>
            <a:srgbClr val="E7DFD2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822192"/>
            <a:ext cx="1280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捋 luō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858768"/>
            <a:ext cx="199125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顺着茎滑下成把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05858" y="3749040"/>
            <a:ext cx="3454298" cy="868680"/>
          </a:xfrm>
          <a:prstGeom prst="roundRect">
            <a:avLst/>
          </a:prstGeom>
          <a:solidFill>
            <a:srgbClr val="E7DFD2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7298" y="3822192"/>
            <a:ext cx="1280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袺 jié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77458" y="3858768"/>
            <a:ext cx="199125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提衣襟兜着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7316" y="3749040"/>
            <a:ext cx="3454298" cy="868680"/>
          </a:xfrm>
          <a:prstGeom prst="roundRect">
            <a:avLst/>
          </a:prstGeom>
          <a:solidFill>
            <a:srgbClr val="E7DFD2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8756" y="3822192"/>
            <a:ext cx="1280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襭 xié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68916" y="3858768"/>
            <a:ext cx="1991258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扎紧衣襟装满带走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▶ 劳动进程完整呈现：开始 → 得到 → 细致 → 高效 → 兜装 → 满载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983480"/>
            <a:ext cx="10911535" cy="16002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120640"/>
            <a:ext cx="1036289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重章叠句的艺术智慧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不变 = 结构重复（劳动的节拍感、往复回环的音乐性）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变 = 动词推进（每次重复都有新动作，劳动在向前走）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 · 怎么破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三个易卡住的地方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六动词细微区别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"掇"(拾掉落的) vs "捋"(从茎上抹下)方向不同。→ 动作演示法：现场做一遍，人人能看懂。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重章叠句≠偷懒重复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学生觉得"三章一样"。→ 对比分析标红变动字：不变=节拍，变=推进。不是技术缺陷，是艺术智慧。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9631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劳动=辛苦？不！还有欢欣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思维定式：劳动就是累。→ 方玉润意境还原："平原旷野、风和日丽中群歌互答"——古人写的是劳动之美。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探究 · 从真实问题出发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招牌招式：方玉润"意境还原" + 动作演示法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5227167" cy="42976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① 方玉润《诗经原始》意境还原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834640"/>
            <a:ext cx="4861407" cy="1828800"/>
          </a:xfrm>
          <a:prstGeom prst="roundRect">
            <a:avLst/>
          </a:prstGeom>
          <a:solidFill>
            <a:srgbClr val="E7DFD2"/>
          </a:solidFill>
          <a:ln w="1270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4587087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"读者试平心静气涵咏此诗,
恍听田家妇女,三三五五,
于平原旷野、风和日丽中,
群歌互答,
余音袅袅,若远若近……"
—— 清·方玉润《诗经原始》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4678527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用这段话让学生闭眼想象画面——不是"读一首诗"，而是"走进一个场景"</a:t>
            </a:r>
          </a:p>
          <a:p>
            <a:pPr algn="l">
              <a:lnSpc>
                <a:spcPct val="14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再联系现代：南方妇女登山采茶结伴讴歌，犹有此风</a:t>
            </a:r>
          </a:p>
        </p:txBody>
      </p:sp>
      <p:pic>
        <p:nvPicPr>
          <p:cNvPr id="11" name="Picture 10" descr="ricefield.jpg"/>
          <p:cNvPicPr>
            <a:picLocks noChangeAspect="1"/>
          </p:cNvPicPr>
          <p:nvPr/>
        </p:nvPicPr>
        <p:blipFill>
          <a:blip r:embed="rId2"/>
          <a:srcRect t="2776" b="2776"/>
          <a:stretch>
            <a:fillRect/>
          </a:stretch>
        </p:blipFill>
        <p:spPr>
          <a:xfrm>
            <a:off x="6324447" y="2057400"/>
            <a:ext cx="5227167" cy="2011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324447" y="416052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中国稻田 · 古代劳动背景（PD）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4526280"/>
            <a:ext cx="5227167" cy="1828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8767" y="4663440"/>
            <a:ext cx="4678527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② 动作演示法</a:t>
            </a:r>
          </a:p>
          <a:p>
            <a:pPr algn="l">
              <a:lnSpc>
                <a:spcPct val="140000"/>
              </a:lnSpc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现场演示：掇（蹲拾）、捋（顺抹）、袺（提兜）、襭（扎腰塞入）</a:t>
            </a:r>
          </a:p>
          <a:p>
            <a:pPr algn="l">
              <a:lnSpc>
                <a:spcPct val="140000"/>
              </a:lnSpc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跟做一遍 → 六动词不再是抽象字词，而是身体记忆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 · 古诗中的劳动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911535" cy="502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105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维度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81051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31720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六动词递进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42316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采→有→掇→捋→袺→襭 （开始→得→细→效→兜→满载）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916936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008376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重章叠句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008376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不变=结构（节拍）｜变=动词（推进）＝劳动韵律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502152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59359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《芣苢》基调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593592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群体劳动的欢欣与热情——"劳动的节拍"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087368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178808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苏辙诗基调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178808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个体劳动的辛劳与天伦温情交织——"劳动+人情"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672584"/>
            <a:ext cx="10911535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6402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古今对比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4764024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古诗：节拍·欢欣｜通讯：过程·精神｜共通：劳动光荣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257800"/>
            <a:ext cx="10911535" cy="530352"/>
          </a:xfrm>
          <a:prstGeom prst="roundRect">
            <a:avLst/>
          </a:prstGeom>
          <a:solidFill>
            <a:srgbClr val="E7DFD2"/>
          </a:solidFill>
          <a:ln w="101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34924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古诗四步法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31920" y="5349240"/>
            <a:ext cx="8046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辨字义 → 理结构 → 品节奏 → 悟情感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 · 分层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背诵《芣苢》全诗；② 准确默写六个动词（采·有·掇·捋·袺·襭）；③ 各用一句话描述每个动词的动作。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写150字赏析《从六个动词看〈芣苢〉的劳动节拍》：按序解释六动词，分析递进逻辑，点明重章叠句效果。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拓展 · 实践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比较古今写劳动：《芣苢》vs 袁隆平通讯 vs 张秉贵通讯——形式不同但精神相通，各举一例。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总结 · 读古诗的四步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辨字义 → 理结构 → 品节奏 → 悟情感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393338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辨字义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28446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六动词各有其动作——掇≠捋，袺≠襭，动作演示帮记忆。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2286000"/>
            <a:ext cx="3393338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7778" y="251460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理结构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498" y="3154680"/>
            <a:ext cx="28446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重章叠句：不变是节拍，变是推进——《诗经》的艺术智慧。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8276" y="2286000"/>
            <a:ext cx="3393338" cy="2103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6876" y="2514600"/>
            <a:ext cx="293613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品节奏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2596" y="3154680"/>
            <a:ext cx="2844698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四言"二二"停顿：采采/芣苢，薄言/采之——像劳动号子。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72000"/>
            <a:ext cx="10911535" cy="1920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80060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709160"/>
            <a:ext cx="10180015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9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劳动光荣，穿越千年</a:t>
            </a:r>
          </a:p>
          <a:p>
            <a:pPr algn="l">
              <a:lnSpc>
                <a:spcPct val="145000"/>
              </a:lnSpc>
            </a:pPr>
            <a:r>
              <a:rPr sz="14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《芣苢》：两千年前妇女的采摘欢歌。
苏辙：千年前文人笔下的收麦温情。
袁隆平/张秉贵/钟扬：今天的劳动精神。
形式不同，精神相通——劳动光荣是中华民族的文化基因。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