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02920"/>
            <a:ext cx="822960" cy="381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必修上册 · 第4单元 家乡文化生活 · 第6课时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258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111556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写作指导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880360"/>
            <a:ext cx="11155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B23A2A"/>
                </a:solidFill>
                <a:latin typeface="楷体"/>
                <a:ea typeface="楷体"/>
                <a:cs typeface="楷体"/>
              </a:rPr>
              <a:t>学写倡议书（参与家乡文化建设）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977639"/>
            <a:ext cx="109728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0">
                <a:solidFill>
                  <a:srgbClr val="6B6258"/>
                </a:solidFill>
                <a:latin typeface="楷体"/>
                <a:ea typeface="楷体"/>
                <a:cs typeface="楷体"/>
              </a:rPr>
              <a:t>为家乡文化提一条倡议，让改变从一句具体的话开始。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35508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学生课堂版 · 共 9 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四向目标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65960"/>
            <a:ext cx="5272887" cy="196596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67128"/>
            <a:ext cx="472424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语言能力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743200"/>
            <a:ext cx="4724247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能写1篇格式规范的倡议书，含背景、问题、具体倡议、号召四部分。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8727" y="1965960"/>
            <a:ext cx="5272887" cy="196596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53047" y="2167128"/>
            <a:ext cx="472424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文化意识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53047" y="2743200"/>
            <a:ext cx="4724247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通过倡议参与家乡文化建设，培养「文化主人翁」意识与行动力。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4206240"/>
            <a:ext cx="5272887" cy="196596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4407408"/>
            <a:ext cx="472424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思维品质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983480"/>
            <a:ext cx="4724247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在「调查问题→具体倡议」中培养问题意识与方案思维。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78727" y="4206240"/>
            <a:ext cx="5272887" cy="196596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53047" y="4407408"/>
            <a:ext cx="472424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学习能力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53047" y="4983480"/>
            <a:ext cx="4724247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掌握倡议书格式与写法，能独立产出可发布的倡议。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背景 · 权威调研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从教材到课堂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74520"/>
            <a:ext cx="5227167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学写倡议书——本单元「参与家乡文化建设」的行动落点。倡议书是公开提议大家做某事的实用文体，结构：标题（关于…的倡议）+称呼+正文（背景/问题/具体倡议/号召）+落款。教材提供范例。重点：问题要真（来自调查）、倡议要具体可行、语气要恳切有号召力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24447" y="1874520"/>
            <a:ext cx="5227167" cy="2788920"/>
          </a:xfrm>
          <a:prstGeom prst="roundRect">
            <a:avLst/>
          </a:prstGeom>
          <a:solidFill>
            <a:srgbClr val="1C2A33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98767" y="2011680"/>
            <a:ext cx="467852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8A86B"/>
                </a:solidFill>
                <a:latin typeface="楷体"/>
                <a:ea typeface="楷体"/>
                <a:cs typeface="楷体"/>
              </a:rPr>
              <a:t>权威来源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98767" y="2468880"/>
            <a:ext cx="4678527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2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来源：宁波晚报《用心观察，掌握方法 把倡议书写得有理有据》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2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来源：学科网《倡议书写作模板》（标题·称呼·正文·落款）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4447" y="4846320"/>
            <a:ext cx="522716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本课件未使用无关配图（学科色块兜底）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本课要点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011680"/>
            <a:ext cx="3393338" cy="38404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011680"/>
            <a:ext cx="3393338" cy="54864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103120"/>
            <a:ext cx="33933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要点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743200"/>
            <a:ext cx="2844698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格式四块：标题（关于xx的倡议）+称呼+正文+落款（倡议者/日期）。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99178" y="2011680"/>
            <a:ext cx="3393338" cy="38404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99178" y="2011680"/>
            <a:ext cx="3393338" cy="54864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99178" y="2103120"/>
            <a:ext cx="33933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要点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73498" y="2743200"/>
            <a:ext cx="2844698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正文四层：背景（为何提）→问题（调查发现的真问题）→倡议（3-5条具体行动）→号召。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58276" y="2011680"/>
            <a:ext cx="3393338" cy="38404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58276" y="2011680"/>
            <a:ext cx="3393338" cy="54864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58276" y="2103120"/>
            <a:ext cx="33933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要点 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32596" y="2743200"/>
            <a:ext cx="2844698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三要领：问题真（来自调查）、倡议实（可操作）、语气恳切有号召力。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学习路径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10911535" cy="8686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41248" y="2121408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" y="2194560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8760" y="2039112"/>
            <a:ext cx="23774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格式讲解法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2039112"/>
            <a:ext cx="74368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倡议书结构图。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2944368"/>
            <a:ext cx="10911535" cy="8686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41248" y="3145536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" y="3218688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08760" y="3063240"/>
            <a:ext cx="23774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范例分析法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31920" y="3063240"/>
            <a:ext cx="74368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拆解一篇好倡议书。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968496"/>
            <a:ext cx="10911535" cy="8686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41248" y="4169664"/>
            <a:ext cx="457200" cy="457200"/>
          </a:xfrm>
          <a:prstGeom prst="ellipse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8" y="4242816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087368"/>
            <a:ext cx="23774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支架法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931920" y="4087368"/>
            <a:ext cx="74368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给「倡议条目句式」。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992624"/>
            <a:ext cx="10911535" cy="8686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41248" y="5193792"/>
            <a:ext cx="457200" cy="457200"/>
          </a:xfrm>
          <a:prstGeom prst="ellipse">
            <a:avLst/>
          </a:prstGeom>
          <a:solidFill>
            <a:srgbClr val="6B62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1248" y="5266944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08760" y="5111496"/>
            <a:ext cx="23774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互评法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31920" y="5111496"/>
            <a:ext cx="74368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交换评「实不实」。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难点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怎么破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10911535" cy="8686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41248" y="2121408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" y="2194560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8760" y="2029968"/>
            <a:ext cx="9814255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问题真实。原因：你编问题，需强调「用前几课调查素材」。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944368"/>
            <a:ext cx="10911535" cy="8686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41248" y="3145536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8" y="3218688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08760" y="3054096"/>
            <a:ext cx="9814255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倡议具体。原因：写「保护文化」空话，需拆成行动项（立牌/办展/采访）。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968496"/>
            <a:ext cx="10911535" cy="8686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41248" y="4169664"/>
            <a:ext cx="457200" cy="457200"/>
          </a:xfrm>
          <a:prstGeom prst="ellipse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8" y="4242816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08760" y="4078224"/>
            <a:ext cx="9814255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语气分寸。原因：太强硬像命令，太软没号召力，需示范。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板书精华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学写倡议书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911535" cy="4526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011680"/>
            <a:ext cx="10271455" cy="406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学写倡议书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【格式四块】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标题(关于xx)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称呼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正文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落款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【正文四层】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背景→问题→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倡议→号召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问题真=有调查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倡议实=可操作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语气:恳切号召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条目:1动作/条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分层任务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011680"/>
            <a:ext cx="5272887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011680"/>
            <a:ext cx="5272887" cy="54864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103120"/>
            <a:ext cx="527288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基础 · 必做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788920"/>
            <a:ext cx="4724247" cy="2971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1. 写1篇倡议书（格式全+正文四层），倡议基于本组调查素材。2. 列出3条具体倡议动作。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78727" y="2011680"/>
            <a:ext cx="5272887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8727" y="2011680"/>
            <a:ext cx="5272887" cy="54864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8727" y="2103120"/>
            <a:ext cx="527288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提高 · 选做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53047" y="2788920"/>
            <a:ext cx="4724247" cy="2971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为你写的一条倡议设计「落地步骤」（谁来做/何时做/怎么验证），证明它可行。
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单元小结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回到「家乡文化生活」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65960"/>
            <a:ext cx="522716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B23A2A"/>
                </a:solidFill>
                <a:latin typeface="楷体"/>
                <a:ea typeface="楷体"/>
                <a:cs typeface="楷体"/>
              </a:rPr>
              <a:t>要点回望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468880"/>
            <a:ext cx="5227167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10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· 格式四块：标题（关于xx的倡议）+称呼+正文+落款（倡议者/日期）。</a:t>
            </a:r>
          </a:p>
          <a:p>
            <a:pPr algn="l">
              <a:lnSpc>
                <a:spcPct val="145000"/>
              </a:lnSpc>
              <a:spcAft>
                <a:spcPts val="10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· 正文四层：背景（为何提）→问题（调查发现的真问题）→倡议（3-5条具体行动）→号召。</a:t>
            </a:r>
          </a:p>
          <a:p>
            <a:pPr algn="l">
              <a:lnSpc>
                <a:spcPct val="145000"/>
              </a:lnSpc>
              <a:spcAft>
                <a:spcPts val="10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· 三要领：问题真（来自调查）、倡议实（可操作）、语气恳切有号召力。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24447" y="1965960"/>
            <a:ext cx="5227167" cy="4160520"/>
          </a:xfrm>
          <a:prstGeom prst="roundRect">
            <a:avLst/>
          </a:prstGeom>
          <a:solidFill>
            <a:srgbClr val="1C2A33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98767" y="2240280"/>
            <a:ext cx="54864" cy="3302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81647" y="2286000"/>
            <a:ext cx="449564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C8A86B"/>
                </a:solidFill>
                <a:latin typeface="楷体"/>
                <a:ea typeface="楷体"/>
                <a:cs typeface="楷体"/>
              </a:rPr>
              <a:t>反思引导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81647" y="2834640"/>
            <a:ext cx="4495647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50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你想为家乡文化发出的一条倡议是什么？它具体可做到吗？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