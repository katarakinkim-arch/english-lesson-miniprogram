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jp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image" Target="../media/image1.jp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10911535" cy="5029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2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语文 · 必修上册 · 第6单元 学习之道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207008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737360"/>
            <a:ext cx="10911535" cy="20116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5000"/>
              </a:lnSpc>
            </a:pPr>
            <a:r>
              <a:rPr sz="4000" b="1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拿来主义 精读——比喻论证与「拿来」智慧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640080" y="3840480"/>
            <a:ext cx="109115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7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课文精读  ·  第5课时  ·  45分钟</a:t>
            </a:r>
          </a:p>
        </p:txBody>
      </p:sp>
      <p:sp>
        <p:nvSpPr>
          <p:cNvPr id="7" name="Rectangle 6"/>
          <p:cNvSpPr/>
          <p:nvPr/>
        </p:nvSpPr>
        <p:spPr>
          <a:xfrm>
            <a:off x="640080" y="5394960"/>
            <a:ext cx="2011680" cy="3302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640080" y="5623560"/>
            <a:ext cx="10911535" cy="548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/>
            <a:r>
              <a:rPr sz="14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学习任务群：思辨性阅读与表达    |    年级：高一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01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学习目标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语言能力：概括「闭关/送去/拿来」三层，说清鱼翅/鸦片/烟枪/姨太太四喻体对应的取舍态度。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文化意识：理解「拿来主义」对今天吸收外来文化的启示——占有且批判挑选。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思维品质：通过分析喻体→态度的对应，培养符号解读与辩证取舍思维。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626364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Oval 20"/>
          <p:cNvSpPr/>
          <p:nvPr/>
        </p:nvSpPr>
        <p:spPr>
          <a:xfrm>
            <a:off x="642823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2823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9516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目标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9516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学习能力：掌握「先破后立+比喻论证」的杂文读法。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02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课文背景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640080" y="1508760"/>
            <a:ext cx="6766560" cy="45720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600"/>
              </a:spcAft>
            </a:pPr>
            <a:r>
              <a:rPr sz="16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《拿来主义》是鲁迅1934年杂文。先破「闭关主义」「送去主义」之谬，再立「拿来主义」：对外来文化要「运用脑髓，放出眼光，自己来拿」——占有、挑选（鱼翅/鸦片/烟枪烟灯/姨太太的喻体对应不同态度：吸收/批判利用/留样毁弃/剔除）。比喻论证精妙，是学习「破立+比喻」的典范，与《劝学》《反对党八股》构成论证方式谱系。</a:t>
            </a:r>
          </a:p>
        </p:txBody>
      </p:sp>
      <p:pic>
        <p:nvPicPr>
          <p:cNvPr id="6" name="Picture 5" descr="typewriter.jpg"/>
          <p:cNvPicPr>
            <a:picLocks noChangeAspect="1"/>
          </p:cNvPicPr>
          <p:nvPr/>
        </p:nvPicPr>
        <p:blipFill>
          <a:blip r:embed="rId2"/>
          <a:srcRect l="5860" r="5860"/>
          <a:stretch>
            <a:fillRect/>
          </a:stretch>
        </p:blipFill>
        <p:spPr>
          <a:xfrm>
            <a:off x="8046720" y="1508760"/>
            <a:ext cx="4114800" cy="3108960"/>
          </a:xfrm>
          <a:prstGeom prst="rect">
            <a:avLst/>
          </a:prstGeom>
        </p:spPr>
      </p:pic>
      <p:sp>
        <p:nvSpPr>
          <p:cNvPr id="7" name="TextBox 6"/>
          <p:cNvSpPr txBox="1"/>
          <p:nvPr/>
        </p:nvSpPr>
        <p:spPr>
          <a:xfrm>
            <a:off x="8046720" y="4663440"/>
            <a:ext cx="4114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资料图（自由授权，复用 typewriter.jpg）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03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学习重点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4813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2024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破：闭关主义（锁国）、送去主义（媚外）皆谬。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307848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18820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62712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3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立：拿来主义——运用脑髓放出眼光自己来拿，占有后挑选。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40080" y="4785360"/>
            <a:ext cx="10911535" cy="1597152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1371600" y="489508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1371600" y="5334000"/>
            <a:ext cx="9997135" cy="95707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四喻体：鱼翅（吸收精华）/鸦片（批判利用）/烟枪烟灯（留样研究）/姨太太（坚决剔除）。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04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学习路径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3716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361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5910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4813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1 导入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40080" y="219456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Oval 9"/>
          <p:cNvSpPr/>
          <p:nvPr/>
        </p:nvSpPr>
        <p:spPr>
          <a:xfrm>
            <a:off x="804672" y="235915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804672" y="241401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371600" y="230428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2 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40080" y="301752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Oval 13"/>
          <p:cNvSpPr/>
          <p:nvPr/>
        </p:nvSpPr>
        <p:spPr>
          <a:xfrm>
            <a:off x="804672" y="318211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04672" y="32369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371600" y="312724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3 喻体解码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40080" y="384048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Oval 17"/>
          <p:cNvSpPr/>
          <p:nvPr/>
        </p:nvSpPr>
        <p:spPr>
          <a:xfrm>
            <a:off x="804672" y="400507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04672" y="405993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371600" y="395020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4 破立结构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40080" y="466344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Oval 21"/>
          <p:cNvSpPr/>
          <p:nvPr/>
        </p:nvSpPr>
        <p:spPr>
          <a:xfrm>
            <a:off x="804672" y="482803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804672" y="488289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371600" y="477316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5 联今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640080" y="5486400"/>
            <a:ext cx="10911535" cy="6858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Oval 25"/>
          <p:cNvSpPr/>
          <p:nvPr/>
        </p:nvSpPr>
        <p:spPr>
          <a:xfrm>
            <a:off x="804672" y="5650992"/>
            <a:ext cx="457200" cy="457200"/>
          </a:xfrm>
          <a:prstGeom prst="ellipse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804672" y="570585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6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1371600" y="5596128"/>
            <a:ext cx="9997135" cy="48463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Step 6 小结+作业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05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易混易错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Oval 5"/>
          <p:cNvSpPr/>
          <p:nvPr/>
        </p:nvSpPr>
        <p:spPr>
          <a:xfrm>
            <a:off x="80467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0467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37160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37160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① 喻体对应。原因：学生只知比喻不知「各喻对应什么态度」，需解码表。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63640" y="1417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6428232" y="1581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28232" y="1636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995160" y="1527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995160" y="1965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② 挑选的批判态度。原因：易误读「拿来=全收」，需点明「挑」是关键。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640080" y="3703320"/>
            <a:ext cx="5349240" cy="205740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B23A2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Oval 15"/>
          <p:cNvSpPr/>
          <p:nvPr/>
        </p:nvSpPr>
        <p:spPr>
          <a:xfrm>
            <a:off x="804672" y="3867912"/>
            <a:ext cx="457200" cy="457200"/>
          </a:xfrm>
          <a:prstGeom prst="ellipse">
            <a:avLst/>
          </a:prstGeom>
          <a:solidFill>
            <a:srgbClr val="B23A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804672" y="3922776"/>
            <a:ext cx="457200" cy="3840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ctr"/>
            <a:r>
              <a:rPr sz="1600" b="1">
                <a:solidFill>
                  <a:srgbClr val="FFFFFF"/>
                </a:solidFill>
                <a:latin typeface="微软雅黑"/>
                <a:ea typeface="微软雅黑"/>
                <a:cs typeface="微软雅黑"/>
              </a:rPr>
              <a:t>!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371600" y="3813048"/>
            <a:ext cx="44348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1371600" y="4251960"/>
            <a:ext cx="4434840" cy="1417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4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③ 杂文语言。原因：犀利反语（如「丰富""大度""），需提示。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06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要点板书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5394960"/>
          </a:xfrm>
          <a:prstGeom prst="roundRect">
            <a:avLst/>
          </a:prstGeom>
          <a:solidFill>
            <a:srgbClr val="FFFFFF"/>
          </a:solidFill>
          <a:ln w="25400">
            <a:solidFill>
              <a:srgbClr val="C8A8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914400" y="1554480"/>
            <a:ext cx="10362895" cy="51206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  <a:spcAft>
                <a:spcPts val="100"/>
              </a:spcAft>
            </a:pPr>
            <a:r>
              <a:rPr sz="1300" b="0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>┌── 拿来主义 鲁迅 ──┐
│ 破:闭关(锁) │
│ 送去(媚) │
│ │
│ 立:拿来=占有 │
│ +挑选 │
│ 脑髓·眼光· │
│ 自己拿 │
│ │
│ 【四喻→态度】 │
│ 鱼翅:吸收精华 │
│ 鸦片:批判利用 │
│ 烟枪:留样研究 │
│ 姨太:坚决剔除 │
│ │
│ 破立+比喻 │
│ 同党八股结构 │
└────────────────┘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07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2E7D6B"/>
                </a:solidFill>
                <a:latin typeface="微软雅黑"/>
                <a:ea typeface="微软雅黑"/>
                <a:cs typeface="微软雅黑"/>
              </a:rPr>
              <a:t>分层作业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2E7D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640080" y="141732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371600" y="152704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371600" y="196596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【基础作业】1. 写出「闭关/送去/拿来」三者含义。2. 填表：鱼翅/鸦片/烟枪烟灯/姨太太各自对应什么取舍态度。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640080" y="2971800"/>
            <a:ext cx="10911535" cy="1417320"/>
          </a:xfrm>
          <a:prstGeom prst="roundRect">
            <a:avLst/>
          </a:prstGeom>
          <a:solidFill>
            <a:srgbClr val="FFFFFF"/>
          </a:solidFill>
          <a:ln w="22860">
            <a:solidFill>
              <a:srgbClr val="2E7D6B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1371600" y="3081528"/>
            <a:ext cx="9997135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0000"/>
              </a:lnSpc>
            </a:pPr>
            <a:r>
              <a:rPr sz="1600" b="1">
                <a:solidFill>
                  <a:srgbClr val="1C2A33"/>
                </a:solidFill>
                <a:latin typeface="微软雅黑"/>
                <a:ea typeface="微软雅黑"/>
                <a:cs typeface="微软雅黑"/>
              </a:rPr>
              <a:t/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371600" y="3520440"/>
            <a:ext cx="9997135" cy="7772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8000"/>
              </a:lnSpc>
            </a:pPr>
            <a:r>
              <a:rPr sz="1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【提高作业】写180字「今天的拿来主义」，要求：①引文中一句；②用四喻之一说明；③联信息/外来文化。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08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4EFE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640080" y="640080"/>
            <a:ext cx="640080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spcAft>
                <a:spcPts val="0"/>
              </a:spcAft>
            </a:pPr>
            <a:r>
              <a:rPr sz="1300" b="1">
                <a:solidFill>
                  <a:srgbClr val="C8A86B"/>
                </a:solidFill>
                <a:latin typeface="微软雅黑"/>
                <a:ea typeface="微软雅黑"/>
                <a:cs typeface="微软雅黑"/>
              </a:rPr>
              <a:t>本课小结</a:t>
            </a:r>
          </a:p>
        </p:txBody>
      </p:sp>
      <p:sp>
        <p:nvSpPr>
          <p:cNvPr id="4" name="Rectangle 3"/>
          <p:cNvSpPr/>
          <p:nvPr/>
        </p:nvSpPr>
        <p:spPr>
          <a:xfrm>
            <a:off x="640080" y="1097280"/>
            <a:ext cx="822960" cy="3048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640080" y="1737360"/>
            <a:ext cx="54864" cy="431800"/>
          </a:xfrm>
          <a:prstGeom prst="rect">
            <a:avLst/>
          </a:prstGeom>
          <a:solidFill>
            <a:srgbClr val="C8A86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868680" y="1645920"/>
            <a:ext cx="10682935" cy="21945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50000"/>
              </a:lnSpc>
              <a:spcAft>
                <a:spcPts val="1000"/>
              </a:spcAft>
            </a:pPr>
            <a:r>
              <a:rPr sz="2200" b="0">
                <a:solidFill>
                  <a:srgbClr val="1C2A33"/>
                </a:solidFill>
                <a:latin typeface="楷体"/>
                <a:ea typeface="楷体"/>
                <a:cs typeface="楷体"/>
              </a:rPr>
              <a:t>本单元主题：学习之道。把今天学到的方法带进下一篇——自己读、自己想、自己写。</a:t>
            </a:r>
          </a:p>
          <a:p>
            <a:pPr algn="l"/>
            <a:r>
              <a:rPr sz="1600" b="1">
                <a:solidFill>
                  <a:srgbClr val="B23A2A"/>
                </a:solidFill>
                <a:latin typeface="微软雅黑"/>
                <a:ea typeface="微软雅黑"/>
                <a:cs typeface="微软雅黑"/>
              </a:rPr>
              <a:t>方法迁移：圈关键信息 → 理事件脉络 → 析人物精神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1002975" y="6355080"/>
            <a:ext cx="731520" cy="32004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r"/>
            <a:r>
              <a:rPr sz="1100" b="0">
                <a:solidFill>
                  <a:srgbClr val="6B6258"/>
                </a:solidFill>
                <a:latin typeface="微软雅黑"/>
                <a:ea typeface="微软雅黑"/>
                <a:cs typeface="微软雅黑"/>
              </a:rPr>
              <a:t>09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