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146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5029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必修上 · 第七单元 · 自然情怀 · 第二课时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12471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荷塘月色 精读——荷香月色中的淡淡喜悦与哀愁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朱自清夜游荷塘，从「颇不宁静」起，被荷香月色安顿，终又回到不宁静。景越美，越显心底那点哀愁。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语言能力：赏析月下荷塘的比喻与通感（清香如歌声），说出叠词的表达效果。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8600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5292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文化意识：理解朱自清在时代夹缝中「颇不宁静」的生命状态与夜游的自我安顿。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1772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思维品质：通过分析「景美情哀」的反衬，培养情景关系辨析能力。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617720"/>
            <a:ext cx="5272887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61772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7091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76088"/>
            <a:ext cx="472424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学习能力：掌握「抓情感线→赏写景句→明情景交融」的散文读法。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27167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荷塘月色》写朱自清夜游清华荷塘。以「颇不宁静」起，沿途景（小煤屑路、荷塘）渐入佳境，月下荷塘与塘上月色两段用比喻、通感（清香如歌声）、叠词极写素淡朦胧之美，结尾「猛一抬头，不觉已是自己的门前」回到不宁静。景愈美，反衬心中挥不去的淡淡哀愁，情景交融典范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4447" y="2057400"/>
            <a:ext cx="5227167" cy="42062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240280"/>
            <a:ext cx="4678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974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中学语文教学参考《荷塘月色》教学中的「中和美学」与自我安顿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瑞文网《荷塘月色》教案（高一）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1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情感线——颇不宁静→渐静→荷塘陶醉→回到不宁静（圆形结构）。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写景佳句——月下荷塘（比喻/通感）、塘上月色（如流水）。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情景交融——以极美之景反衬心底不宁静（乐景写哀）。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美读两段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朗读月下荷塘与塘上月色，读出素淡朦胧。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19456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9895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9895" y="246888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7407" y="241401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修辞解码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06324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比喻（舞女裙）、通感（香→声）、叠词（田田/亭亭）。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90288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情感曲线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画「不宁静→静→醉→不宁静」的起伏。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389120"/>
            <a:ext cx="5272887" cy="18288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79895" y="4590288"/>
            <a:ext cx="502920" cy="5029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9895" y="466344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7407" y="460857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背景支架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了解1927年心境，读懂「不宁静」从何而来。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不懂通感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跨感官：把嗅觉的「清香」写成听觉的「歌声」，感觉互通。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98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只见美不见哀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景越美，回头「不宁静」越刺心——乐景写哀。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8396" y="2441448"/>
            <a:ext cx="2250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看不出圆形结构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首尾都「不宁静」，夜游只是暂歇，愁并未真消。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11535" cy="50292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379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37944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3230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情感线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43230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颇不宁静 → 静 → 醉 → 不宁静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53512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54096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月下荷塘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054096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比喻：舞女裙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8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月下荷塘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675888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通感：香 → 歌声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月下荷塘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297680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叠词：田田 / 亭亭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18888"/>
            <a:ext cx="10911535" cy="5669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19472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塘上月色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919472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泻 / 浮 / 洗（活化静月）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911535" cy="566928"/>
          </a:xfrm>
          <a:prstGeom prst="roundRect">
            <a:avLst/>
          </a:prstGeom>
          <a:solidFill>
            <a:srgbClr val="E7DFD2"/>
          </a:solidFill>
          <a:ln w="101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541264"/>
            <a:ext cx="3108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情景交融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5541264"/>
            <a:ext cx="7680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乐景(荷塘) ↔ 哀(不宁静) 反衬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基础·必做：划出文中运用比喻、通感、叠词的句子各一例；解释「通感」并举文中例。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提升·选做：写160字「我的不宁静与安顿」：仿情感曲线写一次情绪，用一处比喻或叠词写景，点明安顿方式。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566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拓展 · 衔接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拓展·衔接：下节课群文比《故都的秋》《荷塘月色》——提炼写景散文的「情景交融」之法。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单元小结与反思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11535" cy="429768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331720"/>
            <a:ext cx="54864" cy="3810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971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第七单元 · 自然情怀 · 收束引导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9814255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《荷塘月色》里，朱自清用一片荷香月色，安顿了「颇不宁静」的自己。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读它，抓住两条线：情感线（不宁静的圆形结构）与写景线（比喻、通感、叠词）。</a:t>
            </a:r>
          </a:p>
          <a:p>
            <a:pPr algn="l">
              <a:lnSpc>
                <a:spcPct val="155000"/>
              </a:lnSpc>
              <a:spcAft>
                <a:spcPts val="900"/>
              </a:spcAft>
            </a:pPr>
            <a:r>
              <a:rPr sz="14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回头想：当你心不静时，有没有一处风景，也曾轻轻安顿过你？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 · 学科色块设计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