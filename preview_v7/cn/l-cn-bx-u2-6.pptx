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必修下册 · 第2单元 · 文学阅读与写作（戏剧）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8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1088136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36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写作指导——学写剧本片段与戏剧评论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324612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3456432"/>
            <a:ext cx="1060704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600" b="0">
                <a:solidFill>
                  <a:srgbClr val="6B6258"/>
                </a:solidFill>
                <a:latin typeface="楷体"/>
                <a:ea typeface="楷体"/>
                <a:cs typeface="楷体"/>
              </a:rPr>
              <a:t>把读过的剧，写成可演的剧本或评论。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0644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学生课堂版 · 第6课时 · 写作指导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本课目标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四向学习目标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057400"/>
            <a:ext cx="5272887" cy="21031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68680" y="2258568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313432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2276856"/>
            <a:ext cx="426704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语言能力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880360"/>
            <a:ext cx="4724247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写剧本片段或戏剧评论（300字），剧本用对话+舞台提示显冲突/潜词，评论用三要素分析。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78727" y="2057400"/>
            <a:ext cx="5272887" cy="21031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507327" y="2258568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07327" y="2313432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01687" y="2276856"/>
            <a:ext cx="426704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文化意识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53047" y="2880360"/>
            <a:ext cx="4724247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在写作中体会戏剧「以对话塑人、以冲突显题」的表达特性。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434840"/>
            <a:ext cx="5272887" cy="21031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68680" y="4636008"/>
            <a:ext cx="457200" cy="457200"/>
          </a:xfrm>
          <a:prstGeom prst="ellipse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4690872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654296"/>
            <a:ext cx="426704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思维品质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257800"/>
            <a:ext cx="4724247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通过格式约束，培养「用形式服务内容」的文体思维。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78727" y="4434840"/>
            <a:ext cx="5272887" cy="21031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507327" y="4636008"/>
            <a:ext cx="457200" cy="457200"/>
          </a:xfrm>
          <a:prstGeom prst="ellipse">
            <a:avLst/>
          </a:prstGeom>
          <a:solidFill>
            <a:srgbClr val="6B62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07327" y="4690872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01687" y="4654296"/>
            <a:ext cx="426704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学习能力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53047" y="5257800"/>
            <a:ext cx="4724247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掌握剧本/评论二选一的写法，能自评。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背景 · 权威调研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课文背景与研读来源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11680"/>
            <a:ext cx="5227167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  <a:spcAft>
                <a:spcPts val="600"/>
              </a:spcAft>
            </a:pPr>
            <a:r>
              <a:rPr sz="14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为第二单元写作任务，二选一：①写剧本片段（300字，有冲突/潜台词/舞台提示）；②写戏剧评论（赏一剧冲突或人物）。重点是「用戏剧笔法」——剧本重对话显冲突与潜台词，评论重三要素分析。学生常把剧本写成了小说叙述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24447" y="2011680"/>
            <a:ext cx="5227167" cy="4572000"/>
          </a:xfrm>
          <a:prstGeom prst="roundRect">
            <a:avLst/>
          </a:prstGeom>
          <a:solidFill>
            <a:srgbClr val="1C2A33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98767" y="2212848"/>
            <a:ext cx="467852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C8A86B"/>
                </a:solidFill>
                <a:latin typeface="楷体"/>
                <a:ea typeface="楷体"/>
                <a:cs typeface="楷体"/>
              </a:rPr>
              <a:t>研读来源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98767" y="2743200"/>
            <a:ext cx="4678527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5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来源：剧本写作指导（余卫兵）——剧本要素与舞台说明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98767" y="3657600"/>
            <a:ext cx="4678527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5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来源：课本剧写作资料——台词、独白与舞台提示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4447" y="6446520"/>
            <a:ext cx="522716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E7DFD2"/>
                </a:solidFill>
                <a:latin typeface="微软雅黑"/>
                <a:ea typeface="微软雅黑"/>
                <a:cs typeface="微软雅黑"/>
              </a:rPr>
              <a:t>本课件未使用无关配图（无契合照片，学科色块兜底）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本课重点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3393338" cy="39319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423160"/>
            <a:ext cx="293613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重点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063240"/>
            <a:ext cx="2936138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剧本：对话为主+舞台提示，显冲突/潜词。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99178" y="2194560"/>
            <a:ext cx="3393338" cy="39319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27778" y="2423160"/>
            <a:ext cx="293613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重点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27778" y="3063240"/>
            <a:ext cx="2936138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评论：用三要素（冲突/潜词/戏剧性）分析。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58276" y="2194560"/>
            <a:ext cx="3393338" cy="39319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86876" y="2423160"/>
            <a:ext cx="293613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重点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6876" y="3063240"/>
            <a:ext cx="2936138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避坑：剧本≠小说（少叙述多对话）。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学习路径与方法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2453563" cy="39319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41248" y="2395728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2441448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944368"/>
            <a:ext cx="199636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格式模板法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3977640"/>
            <a:ext cx="1996363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剧本格式。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59403" y="2194560"/>
            <a:ext cx="2453563" cy="39319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660571" y="2395728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60571" y="2441448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15435" y="2944368"/>
            <a:ext cx="199636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升格示范法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15435" y="3977640"/>
            <a:ext cx="1996363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小说体vs剧本体。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78727" y="2194560"/>
            <a:ext cx="2453563" cy="39319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79895" y="2395728"/>
            <a:ext cx="457200" cy="457200"/>
          </a:xfrm>
          <a:prstGeom prst="ellipse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79895" y="2441448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4759" y="2944368"/>
            <a:ext cx="199636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评论支架法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4759" y="3977640"/>
            <a:ext cx="1996363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三要素。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98051" y="2194560"/>
            <a:ext cx="2453563" cy="39319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299219" y="2395728"/>
            <a:ext cx="457200" cy="457200"/>
          </a:xfrm>
          <a:prstGeom prst="ellipse">
            <a:avLst/>
          </a:prstGeom>
          <a:solidFill>
            <a:srgbClr val="6B62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99219" y="2441448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54083" y="2944368"/>
            <a:ext cx="199636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互评法。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54083" y="3977640"/>
            <a:ext cx="1996363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互评法。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难点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学习难点与突破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3393338" cy="39319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68680" y="2423160"/>
            <a:ext cx="502920" cy="50292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487168"/>
            <a:ext cx="5029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2450592"/>
            <a:ext cx="234177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剧本格式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200400"/>
            <a:ext cx="2844698" cy="2788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突破：容易写小说体，需给格式模板。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99178" y="2194560"/>
            <a:ext cx="3393338" cy="39319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627778" y="2423160"/>
            <a:ext cx="502920" cy="50292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27778" y="2487168"/>
            <a:ext cx="5029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67858" y="2450592"/>
            <a:ext cx="234177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潜词入对话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73498" y="3200400"/>
            <a:ext cx="2844698" cy="2788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突破：对话太直，需藏意。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58276" y="2194560"/>
            <a:ext cx="3393338" cy="39319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386876" y="2423160"/>
            <a:ext cx="502920" cy="502920"/>
          </a:xfrm>
          <a:prstGeom prst="ellipse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86876" y="2487168"/>
            <a:ext cx="5029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26956" y="2450592"/>
            <a:ext cx="234177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评论术语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32596" y="3200400"/>
            <a:ext cx="2844698" cy="2788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突破：易空评，需三要素。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板书精华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C8A86B"/>
                </a:solidFill>
                <a:latin typeface="楷体"/>
                <a:ea typeface="楷体"/>
                <a:cs typeface="楷体"/>
              </a:rPr>
              <a:t>板书精华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5181447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E7DFD2"/>
                </a:solidFill>
                <a:latin typeface="楷体"/>
                <a:ea typeface="楷体"/>
                <a:cs typeface="楷体"/>
              </a:rPr>
              <a:t>· 学写戏剧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78608"/>
            <a:ext cx="5181447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E7DFD2"/>
                </a:solidFill>
                <a:latin typeface="楷体"/>
                <a:ea typeface="楷体"/>
                <a:cs typeface="楷体"/>
              </a:rPr>
              <a:t>· 二选一: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054096"/>
            <a:ext cx="5181447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E7DFD2"/>
                </a:solidFill>
                <a:latin typeface="楷体"/>
                <a:ea typeface="楷体"/>
                <a:cs typeface="楷体"/>
              </a:rPr>
              <a:t>· 剧本↔评论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529584"/>
            <a:ext cx="5181447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E7DFD2"/>
                </a:solidFill>
                <a:latin typeface="楷体"/>
                <a:ea typeface="楷体"/>
                <a:cs typeface="楷体"/>
              </a:rPr>
              <a:t>· 剧本格式: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005072"/>
            <a:ext cx="5181447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E7DFD2"/>
                </a:solidFill>
                <a:latin typeface="楷体"/>
                <a:ea typeface="楷体"/>
                <a:cs typeface="楷体"/>
              </a:rPr>
              <a:t>· 人名:对话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480560"/>
            <a:ext cx="5181447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E7DFD2"/>
                </a:solidFill>
                <a:latin typeface="楷体"/>
                <a:ea typeface="楷体"/>
                <a:cs typeface="楷体"/>
              </a:rPr>
              <a:t>· (提示)动作神态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0167" y="2103120"/>
            <a:ext cx="5181447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E7DFD2"/>
                </a:solidFill>
                <a:latin typeface="楷体"/>
                <a:ea typeface="楷体"/>
                <a:cs typeface="楷体"/>
              </a:rPr>
              <a:t>· 少叙述多对话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70167" y="2578608"/>
            <a:ext cx="5181447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E7DFD2"/>
                </a:solidFill>
                <a:latin typeface="楷体"/>
                <a:ea typeface="楷体"/>
                <a:cs typeface="楷体"/>
              </a:rPr>
              <a:t>· 评论支架: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0167" y="3054096"/>
            <a:ext cx="5181447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E7DFD2"/>
                </a:solidFill>
                <a:latin typeface="楷体"/>
                <a:ea typeface="楷体"/>
                <a:cs typeface="楷体"/>
              </a:rPr>
              <a:t>· 冲突/潜词/戏剧性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0167" y="3529584"/>
            <a:ext cx="5181447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E7DFD2"/>
                </a:solidFill>
                <a:latin typeface="楷体"/>
                <a:ea typeface="楷体"/>
                <a:cs typeface="楷体"/>
              </a:rPr>
              <a:t>· +引台词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70167" y="4005072"/>
            <a:ext cx="5181447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E7DFD2"/>
                </a:solidFill>
                <a:latin typeface="楷体"/>
                <a:ea typeface="楷体"/>
                <a:cs typeface="楷体"/>
              </a:rPr>
              <a:t>· 避坑: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0167" y="4480560"/>
            <a:ext cx="5181447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E7DFD2"/>
                </a:solidFill>
                <a:latin typeface="楷体"/>
                <a:ea typeface="楷体"/>
                <a:cs typeface="楷体"/>
              </a:rPr>
              <a:t>· 剧本≠小说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分层作业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5272887" cy="39319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194560"/>
            <a:ext cx="5272887" cy="54864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304288"/>
            <a:ext cx="527288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基础作业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71800"/>
            <a:ext cx="4724247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1. 据互评改终稿（300字）：剧本(对话+提示显冲突)或评论(三要素+引例)。2. 写一句「我用的文体+核心」。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78727" y="2194560"/>
            <a:ext cx="5272887" cy="39319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8727" y="2194560"/>
            <a:ext cx="5272887" cy="54864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8727" y="2304288"/>
            <a:ext cx="527288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提高作业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3047" y="2971800"/>
            <a:ext cx="4724247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若写剧本，加一段「舞台说明」突出潜台词；若写评论，加一层「戏剧性」分析。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单元小结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回望 · 第2单元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057400"/>
            <a:ext cx="10911535" cy="731520"/>
          </a:xfrm>
          <a:prstGeom prst="roundRect">
            <a:avLst/>
          </a:prstGeom>
          <a:solidFill>
            <a:srgbClr val="1C2A33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21408"/>
            <a:ext cx="10362895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楷体"/>
                <a:ea typeface="楷体"/>
                <a:cs typeface="楷体"/>
              </a:rPr>
              <a:t>文学阅读与写作（戏剧）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017520"/>
            <a:ext cx="3393338" cy="329184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246120"/>
            <a:ext cx="293613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我读到了什么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840480"/>
            <a:ext cx="2936138" cy="2331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本单元围绕「文学阅读与写作（戏剧）」展开；本课抓住：剧本：对话为主+舞台提示，显冲突/潜词。。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99178" y="3017520"/>
            <a:ext cx="3393338" cy="329184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27778" y="3246120"/>
            <a:ext cx="293613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我留下什么疑问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27778" y="3840480"/>
            <a:ext cx="2936138" cy="2331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哪一处最想再细读？写下你的一个问题，带着它走向课外阅读。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58276" y="3017520"/>
            <a:ext cx="3393338" cy="329184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86876" y="3246120"/>
            <a:ext cx="293613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我怎样去运用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6876" y="3840480"/>
            <a:ext cx="2936138" cy="2331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把「格式模板法：剧本格式。」用到一部剧或一篇科普的观赏与阅读中。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