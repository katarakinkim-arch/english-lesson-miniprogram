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2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960120"/>
            <a:ext cx="822960" cy="381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必修下册 · 第6单元《文学阅读与写作（小说）》· 第1课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1063721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33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祝福 精读——祥林嫂的悲剧与鲁镇环境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703320"/>
            <a:ext cx="10637215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</a:pPr>
            <a:r>
              <a:rPr sz="1700" b="0">
                <a:solidFill>
                  <a:srgbClr val="E7DFD2"/>
                </a:solidFill>
                <a:latin typeface="楷体"/>
                <a:ea typeface="楷体"/>
                <a:cs typeface="楷体"/>
              </a:rPr>
              <a:t>在祝福的鞭炮声里，读一个被环境「吃」掉的女人。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6400800"/>
            <a:ext cx="10637215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本课件未使用无关配图，画面以学科色块呈现。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本课目标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四向学习目标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77440"/>
            <a:ext cx="2453563" cy="3383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455381" y="2697480"/>
            <a:ext cx="822960" cy="82296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55381" y="28803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49040"/>
            <a:ext cx="20878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语言能力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4343400"/>
            <a:ext cx="20512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梳理祥林嫂命运轨迹，说出鲁镇环境（祝福氛围/众人态度）对人物的作用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59403" y="2377440"/>
            <a:ext cx="2453563" cy="3383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274705" y="2697480"/>
            <a:ext cx="822960" cy="82296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274705" y="28803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42283" y="3749040"/>
            <a:ext cx="20878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文化意识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60571" y="4343400"/>
            <a:ext cx="20512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理解《祝福》对封建礼教与冷漠世风的批判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78727" y="2377440"/>
            <a:ext cx="2453563" cy="3383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094029" y="2697480"/>
            <a:ext cx="822960" cy="82296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94029" y="28803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1607" y="3749040"/>
            <a:ext cx="20878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思维品质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9895" y="4343400"/>
            <a:ext cx="20512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通过分析环境与人物关系，培养「典型环境造典型性格」的思维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98051" y="2377440"/>
            <a:ext cx="2453563" cy="33832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6B625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913353" y="2697480"/>
            <a:ext cx="822960" cy="822960"/>
          </a:xfrm>
          <a:prstGeom prst="ellipse">
            <a:avLst/>
          </a:prstGeom>
          <a:solidFill>
            <a:srgbClr val="6B62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913353" y="2880360"/>
            <a:ext cx="822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楷体"/>
                <a:ea typeface="楷体"/>
                <a:cs typeface="楷体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80931" y="3749040"/>
            <a:ext cx="208780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学习能力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99219" y="4343400"/>
            <a:ext cx="2051227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掌握「抓命运、析环境、明批判」的小说读法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背景 · 权威调研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教材定位与来源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522716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B23A2A"/>
                </a:solidFill>
                <a:latin typeface="楷体"/>
                <a:ea typeface="楷体"/>
                <a:cs typeface="楷体"/>
              </a:rPr>
              <a:t>课文定位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5227167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《祝福》是鲁迅小说，写祥林嫂两次到鲁镇做工、屡遭不幸（丧夫失子、被厌弃），终在祝福夜凄死。鲁迅以「我」的视角，用白描与环境（祝福的热闹反衬其死）写封建礼教「吃人」。是认识中国现代小说与批判现实的范本。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本单元《文学阅读与写作（小说）》：文学阅读与写作（小说）/ 实用性阅读与交流。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24447" y="1783080"/>
            <a:ext cx="5227167" cy="448056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98767" y="1965960"/>
            <a:ext cx="4678527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C8A86B"/>
                </a:solidFill>
                <a:latin typeface="楷体"/>
                <a:ea typeface="楷体"/>
                <a:cs typeface="楷体"/>
              </a:rPr>
              <a:t>权威来源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98767" y="2514599"/>
            <a:ext cx="4678527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人民教育出版社《普通高中教科书语文必修下册》第六单元（人文主题·观察与批判）</a:t>
            </a:r>
          </a:p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赵洁《层级进阶：〈祝福〉「不可靠叙述」意蕴的教学探索》：许寿裳评「惨在礼教吃祥林嫂」</a:t>
            </a:r>
          </a:p>
          <a:p>
            <a:pPr algn="l">
              <a:lnSpc>
                <a:spcPct val="145000"/>
              </a:lnSpc>
              <a:spcAft>
                <a:spcPts val="800"/>
              </a:spcAft>
            </a:pPr>
            <a:r>
              <a:rPr sz="125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瑞文网《谈谈祥林嫂外貌变化和封建礼教的关系》</a:t>
            </a:r>
          </a:p>
          <a:p>
            <a:pPr algn="l">
              <a:lnSpc>
                <a:spcPct val="140000"/>
              </a:lnSpc>
              <a:spcBef>
                <a:spcPts val="600"/>
              </a:spcBef>
            </a:pPr>
            <a:r>
              <a:rPr sz="1100" b="0">
                <a:solidFill>
                  <a:srgbClr val="E7DFD2"/>
                </a:solidFill>
                <a:latin typeface="微软雅黑"/>
                <a:ea typeface="微软雅黑"/>
                <a:cs typeface="微软雅黑"/>
              </a:rPr>
              <a:t>本课件未使用无关配图，画面以学科色块呈现。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本课重点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423160"/>
            <a:ext cx="548640" cy="54864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87168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441448"/>
            <a:ext cx="229605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6B6258"/>
                </a:solidFill>
                <a:latin typeface="楷体"/>
                <a:ea typeface="楷体"/>
                <a:cs typeface="楷体"/>
              </a:rPr>
              <a:t>要点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00400"/>
            <a:ext cx="2844698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4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命运：丧夫→出逃做工→被卖改嫁→丧子→被厌弃→凄死。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9178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27778" y="2423160"/>
            <a:ext cx="548640" cy="54864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27778" y="2487168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13578" y="2441448"/>
            <a:ext cx="229605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6B6258"/>
                </a:solidFill>
                <a:latin typeface="楷体"/>
                <a:ea typeface="楷体"/>
                <a:cs typeface="楷体"/>
              </a:rPr>
              <a:t>要点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3498" y="3200400"/>
            <a:ext cx="2844698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4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环境：祝福热闹反衬其死；鲁镇人冷漠(看客)。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8276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86876" y="2423160"/>
            <a:ext cx="548640" cy="54864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6876" y="2487168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72676" y="2441448"/>
            <a:ext cx="229605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6B6258"/>
                </a:solidFill>
                <a:latin typeface="楷体"/>
                <a:ea typeface="楷体"/>
                <a:cs typeface="楷体"/>
              </a:rPr>
              <a:t>要点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2596" y="3200400"/>
            <a:ext cx="2844698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5000"/>
              </a:lnSpc>
            </a:pPr>
            <a:r>
              <a:rPr sz="14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批判：礼教「吃人」+世风麻木。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本课方法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" y="2395728"/>
            <a:ext cx="502920" cy="50292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450592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91840"/>
            <a:ext cx="2087803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800" b="1">
                <a:solidFill>
                  <a:srgbClr val="2E7D6B"/>
                </a:solidFill>
                <a:latin typeface="楷体"/>
                <a:ea typeface="楷体"/>
                <a:cs typeface="楷体"/>
              </a:rPr>
              <a:t>① 命运轨迹图法。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9403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642283" y="2395728"/>
            <a:ext cx="502920" cy="50292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42283" y="2450592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42283" y="3291840"/>
            <a:ext cx="2087803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800" b="1">
                <a:solidFill>
                  <a:srgbClr val="2E7D6B"/>
                </a:solidFill>
                <a:latin typeface="楷体"/>
                <a:ea typeface="楷体"/>
                <a:cs typeface="楷体"/>
              </a:rPr>
              <a:t>② 环境反衬法：祝福vs死。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8727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61607" y="2395728"/>
            <a:ext cx="502920" cy="50292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61607" y="2450592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1607" y="3291840"/>
            <a:ext cx="2087803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800" b="1">
                <a:solidFill>
                  <a:srgbClr val="2E7D6B"/>
                </a:solidFill>
                <a:latin typeface="楷体"/>
                <a:ea typeface="楷体"/>
                <a:cs typeface="楷体"/>
              </a:rPr>
              <a:t>③ 看客解码法。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98051" y="2194560"/>
            <a:ext cx="2453563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280931" y="2395728"/>
            <a:ext cx="502920" cy="50292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80931" y="2450592"/>
            <a:ext cx="5029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80931" y="3291840"/>
            <a:ext cx="2087803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0000"/>
              </a:lnSpc>
            </a:pPr>
            <a:r>
              <a:rPr sz="1800" b="1">
                <a:solidFill>
                  <a:srgbClr val="2E7D6B"/>
                </a:solidFill>
                <a:latin typeface="楷体"/>
                <a:ea typeface="楷体"/>
                <a:cs typeface="楷体"/>
              </a:rPr>
              <a:t>④ 白描品读法。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难点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本课难点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68680" y="2423160"/>
            <a:ext cx="548640" cy="54864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487168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441448"/>
            <a:ext cx="229605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6B6258"/>
                </a:solidFill>
                <a:latin typeface="楷体"/>
                <a:ea typeface="楷体"/>
                <a:cs typeface="楷体"/>
              </a:rPr>
              <a:t>易卡处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00400"/>
            <a:ext cx="2844698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5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环境作用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B23A2A"/>
                </a:solidFill>
                <a:latin typeface="楷体"/>
                <a:ea typeface="楷体"/>
                <a:cs typeface="楷体"/>
              </a:rPr>
              <a:t>破解：易当背景，需点反衬。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99178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27778" y="2423160"/>
            <a:ext cx="548640" cy="54864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27778" y="2487168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13578" y="2441448"/>
            <a:ext cx="229605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6B6258"/>
                </a:solidFill>
                <a:latin typeface="楷体"/>
                <a:ea typeface="楷体"/>
                <a:cs typeface="楷体"/>
              </a:rPr>
              <a:t>易卡处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73498" y="3200400"/>
            <a:ext cx="2844698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5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看客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2E7D6B"/>
                </a:solidFill>
                <a:latin typeface="楷体"/>
                <a:ea typeface="楷体"/>
                <a:cs typeface="楷体"/>
              </a:rPr>
              <a:t>破解：易略，需点冷漠。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58276" y="2194560"/>
            <a:ext cx="3393338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86876" y="2423160"/>
            <a:ext cx="548640" cy="54864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86876" y="2487168"/>
            <a:ext cx="548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72676" y="2441448"/>
            <a:ext cx="229605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6B6258"/>
                </a:solidFill>
                <a:latin typeface="楷体"/>
                <a:ea typeface="楷体"/>
                <a:cs typeface="楷体"/>
              </a:rPr>
              <a:t>易卡处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2596" y="3200400"/>
            <a:ext cx="2844698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5000"/>
              </a:lnSpc>
              <a:spcAft>
                <a:spcPts val="600"/>
              </a:spcAft>
            </a:pPr>
            <a:r>
              <a:rPr sz="15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批判深</a:t>
            </a:r>
          </a:p>
          <a:p>
            <a:pPr algn="l">
              <a:lnSpc>
                <a:spcPct val="150000"/>
              </a:lnSpc>
            </a:pPr>
            <a:r>
              <a:rPr sz="1300" b="0">
                <a:solidFill>
                  <a:srgbClr val="C8A86B"/>
                </a:solidFill>
                <a:latin typeface="楷体"/>
                <a:ea typeface="楷体"/>
                <a:cs typeface="楷体"/>
              </a:rPr>
              <a:t>破解：易归个人，需指社会。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板书精华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板书精华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057400"/>
            <a:ext cx="10911535" cy="429768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057400"/>
            <a:ext cx="128016" cy="42976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286000"/>
            <a:ext cx="10180015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祝福·鲁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热闹↔死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命运轨迹: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丧夫→出逃→被卖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→丧子→被厌→死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环境=软刀: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祝福反衬/鲁镇冷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6B6258"/>
                </a:solidFill>
                <a:latin typeface="楷体"/>
                <a:ea typeface="楷体"/>
                <a:cs typeface="楷体"/>
              </a:rPr>
              <a:t>看客:冷漠吃人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批判:礼教+麻木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8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分层作业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194560"/>
            <a:ext cx="5272887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40080" y="2194560"/>
            <a:ext cx="5272887" cy="54864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2304288"/>
            <a:ext cx="52728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基础 · 必做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971800"/>
            <a:ext cx="4724247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· 1. 写出祥林嫂命运的两三个关键转折。</a:t>
            </a:r>
          </a:p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· 2. 说鲁镇环境对人物的一处作用。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2194560"/>
            <a:ext cx="5272887" cy="3931920"/>
          </a:xfrm>
          <a:prstGeom prst="roundRect">
            <a:avLst/>
          </a:prstGeom>
          <a:solidFill>
            <a:srgbClr val="FFFFFF"/>
          </a:solidFill>
          <a:ln w="2032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8727" y="2194560"/>
            <a:ext cx="5272887" cy="54864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8727" y="2304288"/>
            <a:ext cx="5272887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提高 · 选做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53047" y="2971800"/>
            <a:ext cx="4724247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35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· 写150字「我眼中的祥林嫂」，要求：①联命运一处；②说环境作用；③不脸谱化。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单元小结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10972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回望《文学阅读与写作（小说）》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828800"/>
            <a:ext cx="10911535" cy="1371600"/>
          </a:xfrm>
          <a:prstGeom prst="roundRect">
            <a:avLst/>
          </a:prstGeom>
          <a:solidFill>
            <a:srgbClr val="1C2A33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65960"/>
            <a:ext cx="10180015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45000"/>
              </a:lnSpc>
            </a:pPr>
            <a:r>
              <a:rPr sz="1500" b="0">
                <a:solidFill>
                  <a:srgbClr val="FFFFFF"/>
                </a:solidFill>
                <a:latin typeface="楷体"/>
                <a:ea typeface="楷体"/>
                <a:cs typeface="楷体"/>
              </a:rPr>
              <a:t>祥林嫂的死，不在个人命苦，而在封建礼教与冷漠世风——环境「吃人」。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474720"/>
            <a:ext cx="10911535" cy="8412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41248" y="3666744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372160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3474720"/>
            <a:ext cx="9905695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祥林嫂命运里，哪一步最让你难受？写下来。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434840"/>
            <a:ext cx="10911535" cy="8412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841248" y="4626864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" y="468172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4434840"/>
            <a:ext cx="9905695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用「热闹 ↔ 死」说说环境的作用。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5394960"/>
            <a:ext cx="10911535" cy="841248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41248" y="5586984"/>
            <a:ext cx="457200" cy="457200"/>
          </a:xfrm>
          <a:prstGeom prst="ellipse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" y="5641848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5394960"/>
            <a:ext cx="9905695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三个词概括你眼中的鲁镇。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