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必修上 第一单元 · 青春的价值 · 第二课时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74980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沁园春·长沙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精读（下）——忆青春与「谁主沉浮」之答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上阕问沉浮，下阕作答——看少年词人的群像与担当。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9204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一条读词路径：抓领字 → 串意象 → 看结构 → 答沉浮。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463040"/>
            <a:ext cx="3291840" cy="44805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1828800"/>
            <a:ext cx="54864" cy="3302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874519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词的下阕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423160"/>
            <a:ext cx="25146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8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恰同学少年，
风华正茂；
书生意气，
挥斥方遒。
到中流击水，
浪遏飞舟？</a:t>
            </a:r>
          </a:p>
          <a:p>
            <a:pPr algn="l"/>
            <a:r>
              <a:rPr sz="115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—— 《沁园春·长沙》下阕（节选）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9748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准确背诵下阕，解释「粪土」「挥斥方遒」「中流击水」的含义与用法。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9748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读懂「同学少年」群像里的革命青年精神，联系当代青年的使命。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9748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发现上下阕「问—答」的结构呼应，整体把握词的章法。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9748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用「对照阅读」法，把上阕「看景」与下阕「忆人」并排比较。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下阕写于 1925 · 橘子洲头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029200" cy="3749039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写作坐标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4805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1925 年秋，毛泽东离开韶山赴广州主办农民运动讲习所，途经长沙，重游橘子洲头。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面对湘江秋景与蓬勃的革命形势，他写下全词。上阕"看"秋景，下阕"忆"青春，以"问苍茫大地，谁主沉浮"为枢纽衔接。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下阕是上阕一问的回答：用"同学少年"的群像，给出"谁主沉浮"的答案。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011680"/>
            <a:ext cx="5330952" cy="1828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157984"/>
            <a:ext cx="47823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来源 A · 学术权威解读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578608"/>
            <a:ext cx="47823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下阕“以'忆'字为统领，以情为线”；“一个'恰'字打开记忆的闸口”；“粪土当年万户侯”典出《离骚》“苏粪壤以充帏兮”。并引 1964 年毛泽东自解“谁主沉浮”指“北伐前军阀统治，中国命运由哪个阶级做主”。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474720"/>
            <a:ext cx="47823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来源：人民网《万类霜天竞自由——〈沁园春·长沙〉解析》（2024）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977640"/>
            <a:ext cx="5330952" cy="1828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123944"/>
            <a:ext cx="47823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来源 B · 作者亲笔批注（一手）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544568"/>
            <a:ext cx="47823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“击水：游泳。那时初学，盛夏水涨，几死者数……自信人生二百年，会当水击三千里。”——证实“中流击水”写湘江游泳经历，兼喻“搏击时代大潮”。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5440680"/>
            <a:ext cx="47823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来源：毛泽东 1958 年书眉批注；人民网党史频道、中国作家网转引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52160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（本词为橘子洲怀古之作，现有可复用照片均属第二单元劳动主题，与词题无关联；按规范 §2.3 以学科色块呈现，本课件未使用无关配图。）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 · 三个落点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结构 · 词句 · 呼应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下阕结构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2844698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「忆」领起 →「恰」字群像描写 →「到」字设问作答，一线贯通。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28600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28600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9572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关键词句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108960"/>
            <a:ext cx="2844698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粪土（名词作动词，把……看作粪土）；挥斥方遒（奔放·正·强劲）。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28600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28600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9572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上下阕呼应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3108960"/>
            <a:ext cx="2844698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上阕"问苍茫大地，谁主沉浮" → 下阕"到中流击水，浪遏飞舟"即作答。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 · 四招读词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把方法握在手里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诵读体会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37560"/>
            <a:ext cx="199636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听范读、练读四字句群（恰—同学少年……），"恰"后稍顿，读出气势与层次。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403" y="228600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8003" y="260604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对照阅读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8003" y="3337560"/>
            <a:ext cx="199636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上阕"看景" vs 下阕"忆人"，"问" vs "答"，双栏列表并排比较。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28600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260604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比较迁移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3337560"/>
            <a:ext cx="199636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联系《沁园春·雪》"数风流人物，还看今朝"，体会同一词牌的"答"法。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051" y="228600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651" y="260604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情境补白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651" y="3337560"/>
            <a:ext cx="199636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了解毛泽东在一师求学（冷水浴、游湘江），读懂"中流击水"的来历。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 · 怎么破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三处容易卡住的地方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「粪土」的词类活用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容易当"粪便"讲。→ 名词作意动"以……为粪土"，用"异之""美我"等例句固化。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「浪遏飞舟」的象征义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4612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容易停在字面"浪大挡舟"。→ 推导为"青年搏击风浪、主宰命运"的豪情。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四字句的朗读节奏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4612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容易读成 2-2 停顿。→ 示范"恰│同学少年│风华正茂"，语速渐快、力度渐强。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 · 下阕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911535" cy="5029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板块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1051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下阕结构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42316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忆 → 恰 → 到（领字 / 群像 / 设问作答）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16936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0837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同学少年群像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008376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风华正茂|才华横溢　书生意气|意气风发　指点江山|关心国事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02152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935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群像（续）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59359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激扬文字|敢于批判　粪土万户侯|蔑视权贵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87368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7880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意动用法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178808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粪土→以…为粪土　异→以…为异　美→以…为美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72584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6402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上下阕对照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764024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上：看景→问沉浮　｜　下：忆人→答击水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257800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49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读词一得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534924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问—忆—答：上阕设问，下阕作答，结构浑然一体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 · 分层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提升 · 衔接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背诵并默写全词（含下阕），书写规范、标点正确。② 解释词语在句中的含义与用法：粪土 / 挥斥方遒 / 中流击水。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写一段 200 字赏析，主题"从上下阕的问与答看青年毛泽东的担当精神"：①引原文 ②点明结构呼应 ③联系当代青年。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衔接 · 铺垫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下节课转向现代诗群文（《立在地球边上放号》《红烛》）——从古典词到现代诗；"意象"概念可迁移，形式不同。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66360"/>
            <a:ext cx="10911535" cy="132588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5394960"/>
            <a:ext cx="54864" cy="2794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30352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读词口诀</a:t>
            </a:r>
          </a:p>
          <a:p>
            <a:pPr algn="l">
              <a:lnSpc>
                <a:spcPct val="145000"/>
              </a:lnSpc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问—忆—答：上阕设问，下阕作答。下一站——现代诗群文，看意象如何迁移。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 · 青春的价值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一课收口 · 单元回望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本单元人文主题"青春的价值"，任务群"文学阅读与写作"。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本课读下阕——以"忆"领起，用"同学少年"群像回答上阕"谁主沉浮"，结构"问—答"呼应。</a:t>
            </a:r>
          </a:p>
          <a:p>
            <a:pPr algn="l">
              <a:lnSpc>
                <a:spcPct val="15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读词路径可迁移：抓领字、串意象、看章法，把上下阕作为一个整体来读。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194560"/>
            <a:ext cx="5227167" cy="420624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44487" y="2377440"/>
            <a:ext cx="4587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一句话带走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4487" y="2926080"/>
            <a:ext cx="4587087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问"谁主沉浮"，答"中流击水"——革命青年以行动主宰命运。</a:t>
            </a:r>
          </a:p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4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下一站：现代诗群文，看意象如何承载情感。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本课件未使用无关配图（学科色块兜底，按 §2.3）。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