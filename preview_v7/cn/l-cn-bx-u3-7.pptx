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822960" cy="381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必修下册 · 第三单元 · 第七课时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112471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写作实践与讲评——知识性短文修改与提升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429000"/>
            <a:ext cx="12801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657600"/>
            <a:ext cx="111556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1">
                <a:solidFill>
                  <a:srgbClr val="2E7D6B"/>
                </a:solidFill>
                <a:latin typeface="楷体"/>
                <a:ea typeface="楷体"/>
                <a:cs typeface="楷体"/>
              </a:rPr>
              <a:t>好文章是改出来的——在讲评中内化知识性文体的标准。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89204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6B6258"/>
                </a:solidFill>
                <a:latin typeface="楷体"/>
                <a:ea typeface="楷体"/>
                <a:cs typeface="楷体"/>
              </a:rPr>
              <a:t>实用性阅读与交流（知识性读物）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本课目标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四向学习目标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77440"/>
            <a:ext cx="2453563" cy="33832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482813" y="2670048"/>
            <a:ext cx="768096" cy="768096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82813" y="2834640"/>
            <a:ext cx="7680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03320"/>
            <a:ext cx="208780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语言能力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4297680"/>
            <a:ext cx="2014651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据讲评改终稿，做到特征具体、顺序清晰、语言准确平实。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59403" y="2377440"/>
            <a:ext cx="2453563" cy="33832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302137" y="2670048"/>
            <a:ext cx="768096" cy="768096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02137" y="2834640"/>
            <a:ext cx="7680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42283" y="3703320"/>
            <a:ext cx="208780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文化意识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78859" y="4297680"/>
            <a:ext cx="2014651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在讲评中体会知识性文体的表达自觉。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8727" y="2377440"/>
            <a:ext cx="2453563" cy="33832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121461" y="2670048"/>
            <a:ext cx="768096" cy="768096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21461" y="2834640"/>
            <a:ext cx="7680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1607" y="3703320"/>
            <a:ext cx="208780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思维品质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8183" y="4297680"/>
            <a:ext cx="2014651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通过三典型诊断，培养评价与自我修订能力。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98051" y="2377440"/>
            <a:ext cx="2453563" cy="33832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940785" y="2670048"/>
            <a:ext cx="768096" cy="768096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40785" y="2834640"/>
            <a:ext cx="7680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80931" y="3703320"/>
            <a:ext cx="208780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学习能力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17507" y="4297680"/>
            <a:ext cx="2014651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内化「好知识文」标准。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背景与权威调研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5227167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4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本课为知识性短文讲评，选取三典型：①写空（无特征）；②乱序（无提纲）；③太抒情（语言不知识性）。通过对比讲评提升，优秀短文可进入科普分享。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24447" y="1783080"/>
            <a:ext cx="5227167" cy="4297680"/>
          </a:xfrm>
          <a:prstGeom prst="roundRect">
            <a:avLst/>
          </a:prstGeom>
          <a:solidFill>
            <a:srgbClr val="1C2A3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98767" y="1965960"/>
            <a:ext cx="46785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权威来源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98767" y="2514599"/>
            <a:ext cx="4678527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800"/>
              </a:spcAft>
            </a:pPr>
            <a:r>
              <a:rPr sz="12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· 来源：人民教育出版社用书 必修下第三单元</a:t>
            </a:r>
          </a:p>
          <a:p>
            <a:pPr algn="l">
              <a:lnSpc>
                <a:spcPct val="145000"/>
              </a:lnSpc>
              <a:spcAft>
                <a:spcPts val="800"/>
              </a:spcAft>
            </a:pPr>
            <a:r>
              <a:rPr sz="12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· 来源：统编教材「知识性短文」讲评设计</a:t>
            </a:r>
          </a:p>
          <a:p>
            <a:pPr algn="l">
              <a:lnSpc>
                <a:spcPct val="140000"/>
              </a:lnSpc>
              <a:spcBef>
                <a:spcPts val="600"/>
              </a:spcBef>
            </a:pPr>
            <a:r>
              <a:rPr sz="1150" b="0">
                <a:solidFill>
                  <a:srgbClr val="E7DFD2"/>
                </a:solidFill>
                <a:latin typeface="微软雅黑"/>
                <a:ea typeface="微软雅黑"/>
                <a:cs typeface="微软雅黑"/>
              </a:rPr>
              <a:t>本课件未使用无关配图（学科色块兜底）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重点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重点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2450592"/>
            <a:ext cx="548640" cy="54864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514600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468880"/>
            <a:ext cx="229605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5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三典型：写空/乱序/太抒情。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99178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627778" y="2450592"/>
            <a:ext cx="548640" cy="54864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27778" y="2514600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13578" y="2468880"/>
            <a:ext cx="229605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5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修改：补特征/定顺序/转事实。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58276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386876" y="2450592"/>
            <a:ext cx="548640" cy="54864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86876" y="2514600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72676" y="2468880"/>
            <a:ext cx="229605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5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好标准：特征具体+顺序清+语准平。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方法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94560"/>
            <a:ext cx="2453563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2450592"/>
            <a:ext cx="548640" cy="54864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514600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468880"/>
            <a:ext cx="1356283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5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典型讲评法。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59403" y="2194560"/>
            <a:ext cx="2453563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688003" y="2450592"/>
            <a:ext cx="548640" cy="54864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88003" y="2514600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3803" y="2468880"/>
            <a:ext cx="1356283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5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对比修改法。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78727" y="2194560"/>
            <a:ext cx="2453563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507327" y="2450592"/>
            <a:ext cx="548640" cy="54864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07327" y="2514600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93127" y="2468880"/>
            <a:ext cx="1356283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5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同伴互改法。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051" y="2194560"/>
            <a:ext cx="2453563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326651" y="2450592"/>
            <a:ext cx="548640" cy="548640"/>
          </a:xfrm>
          <a:prstGeom prst="ellipse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651" y="2514600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12451" y="2468880"/>
            <a:ext cx="1356283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5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现场改稿。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30936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6B6258"/>
                </a:solidFill>
                <a:latin typeface="楷体"/>
                <a:ea typeface="楷体"/>
                <a:cs typeface="楷体"/>
              </a:rPr>
              <a:t>以上读法 / 写法可迁移到同类知识性文本。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难点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难点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2450592"/>
            <a:ext cx="548640" cy="54864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514600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468880"/>
            <a:ext cx="229605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5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补特征。原因：空泛，需提问。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99178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627778" y="2450592"/>
            <a:ext cx="548640" cy="54864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27778" y="2514600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13578" y="2468880"/>
            <a:ext cx="229605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5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定顺序。原因：乱，需提纲。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58276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386876" y="2450592"/>
            <a:ext cx="548640" cy="54864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86876" y="2514600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72676" y="2468880"/>
            <a:ext cx="229605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5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转事实。原因：抒情，需换数据。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板书精华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691640"/>
            <a:ext cx="10911535" cy="4617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91640"/>
            <a:ext cx="10911535" cy="502920"/>
          </a:xfrm>
          <a:prstGeom prst="rect">
            <a:avLst/>
          </a:prstGeom>
          <a:solidFill>
            <a:srgbClr val="1C2A3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5564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写作实践与讲评——知识性短文修改与提升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331720"/>
            <a:ext cx="10271455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知识文讲评 【三标准】 特征具体 顺序清晰 语言准平 A:补特征 B:定顺序 C:转事实 改三方向: 具/序/实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5227167" cy="43891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324447" y="1737360"/>
            <a:ext cx="5227167" cy="43891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6785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基础 · 必做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68880"/>
            <a:ext cx="4678527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提交终稿（改后）+互签评语。2. 写50字自评：我改了什么、为什么。
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98767" y="1920240"/>
            <a:ext cx="46785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提高 · 选做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98767" y="2468880"/>
            <a:ext cx="4678527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【提高作业】在终稿加一处数据或比喻，使表达更通俗/有力。
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单元小结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围绕单元，做一次反思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03120"/>
            <a:ext cx="10911535" cy="777240"/>
          </a:xfrm>
          <a:prstGeom prst="roundRect">
            <a:avLst/>
          </a:prstGeom>
          <a:solidFill>
            <a:srgbClr val="E7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12848"/>
            <a:ext cx="103628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所属单元：第三单元 · 实用性阅读与交流（知识性读物）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200400"/>
            <a:ext cx="3393338" cy="27432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474720"/>
            <a:ext cx="293613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反思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069080"/>
            <a:ext cx="2936138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回顾本课，你最能向他人讲清哪一个要点？（如：① 三典型：写空/乱序/太抒情。）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99178" y="3200400"/>
            <a:ext cx="3393338" cy="27432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27778" y="3474720"/>
            <a:ext cx="293613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反思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27778" y="4069080"/>
            <a:ext cx="2936138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把本单元几篇课文放在一起，它们共同教给我们怎样的读法？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58276" y="3200400"/>
            <a:ext cx="3393338" cy="27432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86876" y="3474720"/>
            <a:ext cx="293613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反思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6876" y="4069080"/>
            <a:ext cx="2936138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能否用今天学到的方法，去读懂一篇课外的知识性文章？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