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必修上 · 第一单元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3931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百合花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精读 · 小说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60520"/>
            <a:ext cx="38404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4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茹志鹃 · 1958 年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一篇没有战场硝烟的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战争小说。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青春的价值 · 第四课时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737360"/>
            <a:ext cx="6766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细节描写与「百合花」意象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880360"/>
            <a:ext cx="67665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一条枣红底、洒满白色百合花的新被子，串起三个人物：文工团的"我"、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腼腆的小通讯员、刚过门三天的新媳妇。借被子、牺牲、盖被子——</a:t>
            </a:r>
          </a:p>
          <a:p>
            <a:pPr algn="l">
              <a:lnSpc>
                <a:spcPct val="155000"/>
              </a:lnSpc>
            </a:pPr>
            <a:r>
              <a:rPr sz="15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看细节怎么把"纯洁"与"牺牲"写到一起。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5212080"/>
            <a:ext cx="4206240" cy="822960"/>
          </a:xfrm>
          <a:prstGeom prst="round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5321808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读这篇小说，带三把钥匙：细节 · 意象 · 视角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9748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4340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梳理情节脉络（借被子→包扎所→牺牲→盖被子），找出3处以上关键细节并说清作用。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9748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34340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读懂战争中普通人的人性之美与青春之纯真，感受那个年代的人情温度。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9748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34340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追踪「百合花被子」意象在情节中的变化，培养意象演变的阅读思维。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9748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34340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掌握「细节→人物→主题」的小说细读路径，能迁移到其他小说。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2271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一篇小说的来历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227167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《百合花》写于 1958 年，首发于《延河》第3期，是茹志鹃的成名作。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故事背景设在 1946 年中秋的前线包扎所——不写战斗场面，只写三个人在战前的短暂交集。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叙事用第一人称限知视角（"我"是文工团女团员），语言清新克制。</a:t>
            </a:r>
          </a:p>
          <a:p>
            <a:pPr algn="l">
              <a:lnSpc>
                <a:spcPct val="155000"/>
              </a:lnSpc>
            </a:pPr>
            <a:r>
              <a:rPr sz="14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小说三要素，这篇用"细节"而非"场面"取胜。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737360"/>
            <a:ext cx="5227167" cy="41148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1901952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权威调研 · 真实来源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423160"/>
            <a:ext cx="4678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作者自述（茹志鹃）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788920"/>
            <a:ext cx="467852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"战争使人不能有长谈的机会，但是战争却能使人深交……便能够肝胆相照，生死与共。"《百合花》是在"匝匝忧虑之中，缅怀追念时得来的产物"。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8767" y="3886200"/>
            <a:ext cx="46785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—— 茹志鹃《漫谈我的创作经历》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8767" y="4251960"/>
            <a:ext cx="4678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权威评论（茅盾，1958）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4617719"/>
            <a:ext cx="46785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"结构谨严、没有闲笔"，"富于抒情诗的风味"；风格"清新、俊逸"——茅盾读过的几十个短篇里"最满意、最感动"的一篇。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8767" y="5532120"/>
            <a:ext cx="4678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—— 茅盾《谈最近的短篇小说》，《人民文学》1958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26364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本课件未使用无关配图（网络不可用；按规范 §2.3 以学科色块兜底，未套用无关图像）。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 · 三个抓手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情节 · 意象 · 细节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情节脉络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借被子（初遇）→ 包扎所帮忙（相处）→ 通讯员牺牲（高潮）→ 新媳妇盖被子（结局）。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20640"/>
            <a:ext cx="28446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 四幕一条线：从"不愿借"到"主动盖"。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核心意象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2971800"/>
            <a:ext cx="284469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「百合花被子」——初见（新媳妇不愿借）→ 相处（铺在包扎所）→ 高潮（盖在遗体上）。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5120640"/>
            <a:ext cx="28446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 意象随情节演变，承载人的情感变化。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关键细节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2971800"/>
            <a:ext cx="284469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枪筒插树枝、衣服破洞、两个馒头——三个反复出现的细节，以小见大塑人物。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5120640"/>
            <a:ext cx="28446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 找细节、看它出现几次、每次有何不同。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 · 四步读法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怎么读这篇小说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6888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3288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细读法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190492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聚焦关键段落（借被子 / 牺牲 / 盖被子），逐句品味细节。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88003" y="246888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8003" y="253288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3723" y="31546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意象追踪法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3723" y="3794760"/>
            <a:ext cx="190492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画「百合花被子」的演变线索图，看意象怎么随情节走。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07327" y="246888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7327" y="253288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31546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角色分析法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3794760"/>
            <a:ext cx="190492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从言行细节推导人物性格（小通讯员的腼腆 / 新媳妇的转变）。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26651" y="2468880"/>
            <a:ext cx="548640" cy="54864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651" y="253288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371" y="31546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比较法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371" y="3794760"/>
            <a:ext cx="190492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对比「限知视角」与「全知视角」的叙事差异与效果。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 · 怎么破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三处容易卡住的地方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32304"/>
            <a:ext cx="22960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「限知视角」的叙事效果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叙述者"我"只看到一部分、听不到通讯员心里想什么。→ 体会这种"只知所见"带来的真实感与悬念。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32304"/>
            <a:ext cx="22960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细节的「反复」手法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4612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"衣服破洞"出现三次：生活细节（腼腆）→ 关切（要缝）→ 牺牲后（成永恒伤痕）。→ 追踪它的递进。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32304"/>
            <a:ext cx="22960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结尾「盖被子」的情感分量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4612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从"不愿借"到"主动盖"，是新媳妇心理的转折。→ 读懂这条被子承载的崇敬与痛惜。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要点图谱 · 拿来复习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911535" cy="5029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板块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10512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意象内核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42316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百合花 ＝ 纯洁 ＋ 牺牲（枣红底上洒满白色百合花）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16936"/>
            <a:ext cx="10911535" cy="530352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0837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四幕脉络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008376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借被子 → 帮包扎 → 通讯员牺牲 → 新媳妇盖被子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02152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9359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被子演变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593592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不愿借（私有）→ 铺在包扎所（共用）→ 献出盖遗体（牺牲）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87368"/>
            <a:ext cx="10911535" cy="530352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7880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三个反复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178808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枪筒树枝 · 衣服破洞 · 两个馒头——以小见大塑人物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672584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6402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叙事视角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764024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限知视角：只知"我"所见 → 真实 ＋ 悬念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257800"/>
            <a:ext cx="10911535" cy="530352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3492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细读四步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534924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追意象 → 读细节 → 析人物 → 推主题（可迁移）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 · 分层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 · 提升 · 拓展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梳理「百合花被子」在小说中的四次出现，各用一句话概括其状态与含义。
2. 找出描写小通讯员腼腆的 3 处细节，各用一句话概括。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写一段 200 字赏析，分析「衣服破洞」三次出现的递进意义：①引用原文；②分析每次的不同功能；③点明递进关系。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拓展 · 衔接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预习《哦，香雪》：同样第一人称限知视角，意象从「百合花」变为「铅笔盒」。试试用本课的追踪法，先猜它会怎么变。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66360"/>
            <a:ext cx="10911535" cy="132588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5394960"/>
            <a:ext cx="54864" cy="2794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530352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细读口诀</a:t>
            </a:r>
          </a:p>
          <a:p>
            <a:pPr algn="l">
              <a:lnSpc>
                <a:spcPct val="145000"/>
              </a:lnSpc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追意象 → 读细节 → 析人物 → 推主题。下一站——《哦，香雪》，看意象怎么换张脸。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 · 青春的价值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从诗歌，走到小说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5227167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本篇一句话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678527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一条被子、一个腼腆的通讯员、一个新媳妇，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写出了战争里的人性之美与青春的纯真——</a:t>
            </a:r>
          </a:p>
          <a:p>
            <a:pPr algn="l">
              <a:lnSpc>
                <a:spcPct val="155000"/>
              </a:lnSpc>
            </a:pPr>
            <a:r>
              <a:rPr sz="145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纯洁与牺牲，被同一朵百合花连在一起。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7" y="2148840"/>
            <a:ext cx="5227167" cy="39319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8767" y="233172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一条能力线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8767" y="2834640"/>
            <a:ext cx="4678527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读意象：找反复出现的物与画面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追细节：看它出现几次、如何变化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析人物：从言行推导性格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推主题：细节 → 人物 → 主题</a:t>
            </a:r>
          </a:p>
          <a:p>
            <a:pPr algn="l">
              <a:lnSpc>
                <a:spcPct val="150000"/>
              </a:lnSpc>
            </a:pPr>
            <a:r>
              <a:rPr sz="135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单元主题：青春的价值，在于主动追求（担当·激情·纯真·觉醒）。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