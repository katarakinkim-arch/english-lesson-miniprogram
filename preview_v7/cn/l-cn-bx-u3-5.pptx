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960120"/>
            <a:ext cx="822960" cy="381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必修下册 · 第三单元 · 第五课时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124712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2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说"木叶" 精读——概念辨析与文艺性说明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3429000"/>
            <a:ext cx="12801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657600"/>
            <a:ext cx="11155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1">
                <a:solidFill>
                  <a:srgbClr val="2E7D6B"/>
                </a:solidFill>
                <a:latin typeface="楷体"/>
                <a:ea typeface="楷体"/>
                <a:cs typeface="楷体"/>
              </a:rPr>
              <a:t>一字之差，诗意不同——在『木叶』与『树叶』间辨析暗示性。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8920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实用性阅读与交流（知识性读物）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本课目标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四向学习目标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82813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82813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语言能力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说出「木叶」与「树叶」在诗歌意味上的主要差异，解释「暗示性」含义。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59403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302137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02137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42283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文化意识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78859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体会中国诗歌词语的意蕴之美与鉴赏传统。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78727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121461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21461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61607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思维品质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8183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通过分析逐层辨析，培养由具体诗句归纳概念的思维。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051" y="2377440"/>
            <a:ext cx="2453563" cy="338328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940785" y="2670048"/>
            <a:ext cx="768096" cy="768096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940785" y="2834640"/>
            <a:ext cx="768096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楷体"/>
                <a:ea typeface="楷体"/>
                <a:cs typeface="楷体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80931" y="3703320"/>
            <a:ext cx="208780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学习能力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317507" y="4297680"/>
            <a:ext cx="2014651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45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掌握文艺性说明文「由例到理、考据结合诗美」的读法。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背景与权威调研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227167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800"/>
              </a:spcAft>
            </a:pPr>
            <a:r>
              <a:rPr sz="145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说「木叶」》是林庚的文艺性说明文，考辨「木叶」与「树叶」在诗歌里的微妙差异：木叶含「落叶的疏朗、微黄干燥」之意，树叶绿意饱满。由诗句归纳、逐层辨析，融考据与诗美，是「文艺性知识读物」范本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324447" y="1783080"/>
            <a:ext cx="5227167" cy="4297680"/>
          </a:xfrm>
          <a:prstGeom prst="round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98767" y="196596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>
                <a:solidFill>
                  <a:srgbClr val="C8A86B"/>
                </a:solidFill>
                <a:latin typeface="楷体"/>
                <a:ea typeface="楷体"/>
                <a:cs typeface="楷体"/>
              </a:rPr>
              <a:t>权威来源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98767" y="2514599"/>
            <a:ext cx="4678527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来源：北京大学新闻网 林庚（诗人、文学史家，1910–2006）</a:t>
            </a:r>
          </a:p>
          <a:p>
            <a:pPr algn="l">
              <a:lnSpc>
                <a:spcPct val="145000"/>
              </a:lnSpc>
              <a:spcAft>
                <a:spcPts val="800"/>
              </a:spcAft>
            </a:pPr>
            <a:r>
              <a:rPr sz="1250" b="0">
                <a:solidFill>
                  <a:srgbClr val="FFFFFF"/>
                </a:solidFill>
                <a:latin typeface="楷体"/>
                <a:ea typeface="楷体"/>
                <a:cs typeface="楷体"/>
              </a:rPr>
              <a:t>· 来源：《光明日报》1958-03-16 首发《说「木叶》》</a:t>
            </a:r>
          </a:p>
          <a:p>
            <a:pPr algn="l">
              <a:lnSpc>
                <a:spcPct val="140000"/>
              </a:lnSpc>
              <a:spcBef>
                <a:spcPts val="600"/>
              </a:spcBef>
            </a:pPr>
            <a:r>
              <a:rPr sz="1150" b="0">
                <a:solidFill>
                  <a:srgbClr val="E7DFD2"/>
                </a:solidFill>
                <a:latin typeface="微软雅黑"/>
                <a:ea typeface="微软雅黑"/>
                <a:cs typeface="微软雅黑"/>
              </a:rPr>
              <a:t>本课件未使用无关配图（学科色块兜底）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重点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重点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差异：木叶=疏朗微黄落叶感；树叶=绿意饱满枝头感。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暗示性：词语引发联想（木→干燥/落叶）。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方法：由诗句归纳→逐层辨析→立概念。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诗句对照法。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59403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688003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88003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73803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概念解码法：暗示性。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07327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7327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193127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归纳显影法：例→理。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098051" y="2194560"/>
            <a:ext cx="2453563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326651" y="2450592"/>
            <a:ext cx="548640" cy="548640"/>
          </a:xfrm>
          <a:prstGeom prst="ellipse">
            <a:avLst/>
          </a:prstGeom>
          <a:solidFill>
            <a:srgbClr val="6B62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651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12451" y="2468880"/>
            <a:ext cx="1356283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诵读法（诗句）。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0936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>
                <a:solidFill>
                  <a:srgbClr val="6B6258"/>
                </a:solidFill>
                <a:latin typeface="楷体"/>
                <a:ea typeface="楷体"/>
                <a:cs typeface="楷体"/>
              </a:rPr>
              <a:t>以上读法 / 写法可迁移到同类知识性文本。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难点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32588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难点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68680" y="2450592"/>
            <a:ext cx="548640" cy="54864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意蕴差。原因：细微，需诗句对比。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99178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627778" y="2450592"/>
            <a:ext cx="548640" cy="54864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7778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13578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暗示性。原因：抽象，需解。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58276" y="2194560"/>
            <a:ext cx="3393338" cy="39319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386876" y="2450592"/>
            <a:ext cx="548640" cy="548640"/>
          </a:xfrm>
          <a:prstGeom prst="ellipse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2514600"/>
            <a:ext cx="5486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2676" y="2468880"/>
            <a:ext cx="2296058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45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文艺说明体。原因：易当赏析，需辨「说文」性质。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板书精华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691640"/>
            <a:ext cx="10911535" cy="46177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6B625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40080" y="1691640"/>
            <a:ext cx="10911535" cy="502920"/>
          </a:xfrm>
          <a:prstGeom prst="rect">
            <a:avLst/>
          </a:prstGeom>
          <a:solidFill>
            <a:srgbClr val="1C2A33"/>
          </a:solidFill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55648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说"木叶" 精读——概念辨析与文艺性说明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2331720"/>
            <a:ext cx="10271455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spcAft>
                <a:spcPts val="400"/>
              </a:spcAft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说木叶 林 木叶≠树叶 对照: 木叶:疏朗微黄 落叶干燥感 树叶:绿润饱满 枝头春意 暗示性:联想 路径:例→理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324447" y="1737360"/>
            <a:ext cx="5227167" cy="438912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基础 · 必做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说出「木叶」与「树叶」意味上的一个差异。2. 解释「暗示性」是什么意思。
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98767" y="1920240"/>
            <a:ext cx="467852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提高 · 选做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98767" y="2468880"/>
            <a:ext cx="4678527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【提高作业】写150字「我懂的木叶」，要求：①引一句诗；②说其暗示；③联暗示性概念。
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单元小结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围绕单元，做一次反思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103120"/>
            <a:ext cx="10911535" cy="777240"/>
          </a:xfrm>
          <a:prstGeom prst="roundRect">
            <a:avLst/>
          </a:prstGeom>
          <a:solidFill>
            <a:srgbClr val="E7DF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212848"/>
            <a:ext cx="1036289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所属单元：第三单元 · 实用性阅读与交流（知识性读物）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反思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回顾本课，你最能向他人讲清哪一个要点？（如：① 差异：木叶=疏朗微黄落叶感；树叶=绿意饱满枝头感。）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99178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27778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反思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27778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把本单元几篇课文放在一起，它们共同教给我们怎样的读法？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58276" y="3200400"/>
            <a:ext cx="3393338" cy="2743200"/>
          </a:xfrm>
          <a:prstGeom prst="roundRect">
            <a:avLst/>
          </a:prstGeom>
          <a:solidFill>
            <a:srgbClr val="FFFFFF"/>
          </a:solidFill>
          <a:ln w="2032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6876" y="3474720"/>
            <a:ext cx="2936138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反思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6876" y="4069080"/>
            <a:ext cx="2936138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能否用今天学到的方法，去读懂一篇课外的知识性文章？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