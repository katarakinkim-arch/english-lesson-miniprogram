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选择性必修2 生物与环境 · 群落及其演替 · 第3课时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1155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群落的演替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群落演替是随时间推移一个群落被另一个群落代替的过程。初生演替发生于无植被裸地（如裸岩…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434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标签：初生演替 · 次生演替 · 裸岩 · 弃耕 · 顶极群落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高中生物 · 学生版课堂</a:t>
            </a:r>
          </a:p>
          <a:p>
            <a:pPr algn="l"/>
            <a:r>
              <a:rPr sz="12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植物生命活动调节 / 生物与环境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4095" y="610819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第3课时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本课件未使用无关配图，采用学科色块兜底（生物·湘碧）。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7744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41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04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生命观念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理解群落是动态发展的，演替是定向的群落构建过程。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4467" y="237744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67" y="2441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0267" y="2404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科学思维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0187" y="3108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比较初生与次生演替的过程与差异，归纳规律。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66344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727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690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观察校园荒地植被变化，记录演替迹象。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5867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4467" y="4663440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4467" y="4727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0267" y="4690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0187" y="5394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运用演替原理指导退耕还林、湿地恢复。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 · 权威来源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教材定位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599"/>
            <a:ext cx="5227167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群落演替是随时间推移一个群落被另一个群落代替的过程。初生演替发生于无植被裸地（如裸岩→地衣→苔藓→草本→灌木→森林）；次生演替发生于保留土壤和繁殖体的地方（如弃耕农田），速度更快。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一句话：群落的演替，是本单元要落实的核心知识。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297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5176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群落演替是优势种随时间被另一群落替代的过程；初生演替始于裸岩，次生演替始于保留土壤之地、速度更快（Britannica kids ecology）。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人类活动可加速、延缓或改变演替方向（如退耕还林促进正向演替）。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447" y="580644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本课件未使用无关配图，采用学科色块兜底（生物·湘碧）。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5295747" cy="4572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03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演替：随时间一个群落被另一群落代替（优势种更替）。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2148840"/>
            <a:ext cx="5295747" cy="45720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5867" y="2203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187" y="2743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初生演替：裸岩/沙丘起步，地衣→苔藓→草本→灌木→森林，极慢。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5295747" cy="4572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89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次生演替：保留土壤和繁殖体（弃耕田、火灾后），较快。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5867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4434840"/>
            <a:ext cx="5295747" cy="4572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4489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0187" y="5029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人类活动可加速、延缓或改变演替方向。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本节课的学习思路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51460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阶段图法（裸岩序列）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动手画一画，让关系看得见、记得牢。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51460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对比法（初生/次生）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把易混概念并排摆，找不同、辨清楚。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51460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案例法（弃耕农田）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从一个真实例子出发，举一反三。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51460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视频辅助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按这条思路梳理，把知识变成自己的。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三处容易卡住的地方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74903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演替非"全换"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844698" cy="2560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原因：学生误以为旧物种全灭，实为优势更替，需澄清。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74903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初生阶段顺序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46120"/>
            <a:ext cx="2844698" cy="2560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原因：裸岩先从地衣开始，顺序错则全错，需背记。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74903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初生vs次生速度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46120"/>
            <a:ext cx="2844698" cy="2560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原因：次生有土壤基础故快，易混，需对比起点。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10911535" cy="48920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8288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9997135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5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群落的演替演替=优势种更替初生:裸岩起步地衣→苔藓→草→灌木→森林极慢(无土壤)次生:弃耕/火后有土壤,较快人:可改方向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发生在裸岩上的演替属于____演替，其最早出现的生物是____。2. 与初生演替相比，次生演替速度较____，原因是保留了____和繁殖体。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【提高作业】人类活动对群落演替一定是破坏性的吗？请举例说明。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本单元脉络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423818" cy="1371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1494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第1课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1494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群落的结构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938" y="2194560"/>
            <a:ext cx="3423818" cy="1371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第2课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2788920"/>
            <a:ext cx="31494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群落的主要类型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2194560"/>
            <a:ext cx="3423818" cy="1371600"/>
          </a:xfrm>
          <a:prstGeom prst="roundRect">
            <a:avLst/>
          </a:prstGeom>
          <a:solidFill>
            <a:srgbClr val="C8A86B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4956" y="2377440"/>
            <a:ext cx="31494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第3课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4956" y="2788920"/>
            <a:ext cx="31494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群落的演替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10911535" cy="1828800"/>
          </a:xfrm>
          <a:prstGeom prst="roundRect">
            <a:avLst/>
          </a:prstGeom>
          <a:solidFill>
            <a:srgbClr val="E7DFD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4160520"/>
            <a:ext cx="54864" cy="2794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160520"/>
            <a:ext cx="100885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单元主旨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从群落的结构到类型，再到演替——生物与环境共同写就动态的篇章。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