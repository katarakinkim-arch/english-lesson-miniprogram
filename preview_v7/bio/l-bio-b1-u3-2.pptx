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必修1 分子与细胞 · 第3单元 · 第9课时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11556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细胞器之间的分工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718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单元：细胞的基本结构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94760"/>
            <a:ext cx="10972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介绍主要细胞器的结构与功能：线粒体（有氧呼吸主场所）、叶绿体（光合）、内质网（加工运输）、高…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532120"/>
            <a:ext cx="10911535" cy="86868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650992"/>
            <a:ext cx="10362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线粒体 · 叶绿体 · 内质网 · 高尔基体 · 核糖体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四向核心素养目标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55381" y="2697480"/>
            <a:ext cx="822960" cy="82296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55381" y="28803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4904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生命观念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343400"/>
            <a:ext cx="20512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说出主要细胞器的结构与功能，认同结构与功能相适应。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74705" y="2697480"/>
            <a:ext cx="822960" cy="82296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4705" y="28803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2283" y="374904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科学思维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0571" y="4343400"/>
            <a:ext cx="20512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比较线粒体与叶绿体的异同，归纳双层膜细胞器。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094029" y="2697480"/>
            <a:ext cx="822960" cy="82296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94029" y="28803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374904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科学探究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9895" y="4343400"/>
            <a:ext cx="20512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使用高倍镜观察叶绿体和线粒体（健那绿染色）。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913353" y="2697480"/>
            <a:ext cx="822960" cy="82296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13353" y="28803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0931" y="374904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社会责任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9219" y="4343400"/>
            <a:ext cx="20512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关注细胞器异常导致的疾病（如线粒体病）。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背景 · 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522716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课题背景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23160"/>
            <a:ext cx="5227167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1000"/>
              </a:spcAft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介绍主要细胞器的结构与功能：线粒体（有氧呼吸主场所）、叶绿体（光合）、内质网（加工运输）、高尔基体（加工分类）、核糖体（合成蛋白）、溶酶体（水解）、液泡、中心体。区分动植物细胞器差异。</a:t>
            </a:r>
          </a:p>
          <a:p>
            <a:pPr algn="l">
              <a:lnSpc>
                <a:spcPct val="150000"/>
              </a:lnSpc>
            </a:pPr>
            <a:r>
              <a:rPr sz="135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本课属细胞的基本结构，承接本单元前序知识，为后续内容打基础。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783080"/>
            <a:ext cx="5227167" cy="393192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98767" y="196596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权威调研来源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8767" y="2514599"/>
            <a:ext cx="467852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人民教育出版社《生物学·必修1·分子与细胞》第3章第2节 细胞器之间的分工（人教2019版）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21世纪教育网 学案：线粒体/叶绿体/内质网/高尔基体/核糖体/溶酶体/中心体/细胞骨架（zy.21cnjy.com/13471038）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15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配图说明：本课件未使用无关配图，采用学科色块呈现。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本课需要掌握的重点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2453563" cy="6400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322576"/>
            <a:ext cx="22706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双层膜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17520"/>
            <a:ext cx="1904923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线粒体(呼吸)、叶绿体(光合)。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9403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59403" y="2194560"/>
            <a:ext cx="2453563" cy="6400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50843" y="2322576"/>
            <a:ext cx="22706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单层膜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33723" y="3017520"/>
            <a:ext cx="1904923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内质网(加工运输)、高尔基体(加工分类)、溶酶体(水解)、液泡。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78727" y="2194560"/>
            <a:ext cx="2453563" cy="6400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0167" y="2322576"/>
            <a:ext cx="22706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无膜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3047" y="3017520"/>
            <a:ext cx="1904923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核糖体(合成蛋白)、中心体(分裂)。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051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98051" y="2194560"/>
            <a:ext cx="2453563" cy="64008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89491" y="2322576"/>
            <a:ext cx="22706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动植物差异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371" y="3017520"/>
            <a:ext cx="1904923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中心体（动物低等植物有）、叶绿体液泡（植物有）。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本课采用的学习方法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19963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图文对照法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246120"/>
            <a:ext cx="1996363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结合本课内容运用该方法。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9403" y="2194560"/>
            <a:ext cx="2453563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88003" y="2468880"/>
            <a:ext cx="19963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对比表法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88003" y="3246120"/>
            <a:ext cx="1996363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线粒体/叶绿体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194560"/>
            <a:ext cx="2453563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7327" y="2468880"/>
            <a:ext cx="19963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显微镜观察法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07327" y="3246120"/>
            <a:ext cx="1996363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结合本课内容运用该方法。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98051" y="2194560"/>
            <a:ext cx="2453563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651" y="2468880"/>
            <a:ext cx="19963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6B6258"/>
                </a:solidFill>
                <a:latin typeface="楷体"/>
                <a:ea typeface="楷体"/>
                <a:cs typeface="楷体"/>
              </a:rPr>
              <a:t>归纳法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651" y="3246120"/>
            <a:ext cx="1996363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膜层数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容易卡住的地方与突破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423160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内质网高尔基体分工。原因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4612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突破：二者都"加工"易混，需明确谁先谁后、各管什么。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27778" y="2423160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7778" y="2496312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3578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双层膜对比。原因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3498" y="324612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突破：线粒体叶绿体都双层膜但功能相反，易错，需表。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86876" y="2423160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6876" y="2496312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2676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无膜细胞器。原因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2596" y="324612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突破：核糖体中心体无膜，学生易漏，需强调。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10911535" cy="50292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10512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板块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10512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31720"/>
            <a:ext cx="10911535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42316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2423160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细胞器之间的分工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916936"/>
            <a:ext cx="10911535" cy="530352"/>
          </a:xfrm>
          <a:prstGeom prst="roundRect">
            <a:avLst/>
          </a:prstGeom>
          <a:solidFill>
            <a:srgbClr val="E7DFD2"/>
          </a:solidFill>
          <a:ln w="101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008376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双层膜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3008376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线粒体(呼吸)、叶绿体(光合)。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502152"/>
            <a:ext cx="10911535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593592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单层膜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593592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内质网(加工运输)、高尔基体(加工分类)、溶酶体(水解)、液泡。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087368"/>
            <a:ext cx="10911535" cy="530352"/>
          </a:xfrm>
          <a:prstGeom prst="roundRect">
            <a:avLst/>
          </a:prstGeom>
          <a:solidFill>
            <a:srgbClr val="E7DFD2"/>
          </a:solidFill>
          <a:ln w="101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178808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无膜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178808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核糖体(合成蛋白)、中心体(分裂)。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672584"/>
            <a:ext cx="10911535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764024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动植物差异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4764024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中心体（动物低等植物有）、叶绿体液泡（植物有）。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基础 · 提高 · 拓展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393338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2844698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蛋白质的"合成车间"是____。2. 下列动物细胞有而高等植物细胞无的是( )A.线粒体 B.中心体 C.核糖体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194560"/>
            <a:ext cx="3393338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194560"/>
            <a:ext cx="3393338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9178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提高 · 选做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2971800"/>
            <a:ext cx="2844698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列表比较线粒体与叶绿体的结构与功能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2194560"/>
            <a:ext cx="3393338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58276" y="2194560"/>
            <a:ext cx="3393338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8276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拓展 · 探究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2596" y="2971800"/>
            <a:ext cx="2844698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把本课要点讲给家人听，或找一处生活中的例子印证。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本课小结与单元定位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本课小结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522716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双层膜：线粒体(呼吸)、叶绿体(光合)。</a:t>
            </a:r>
          </a:p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单层膜：内质网(加工运输)、高尔基体(加工分类)、溶酶体(水解)、液泡。</a:t>
            </a:r>
          </a:p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无膜：核糖体(合成蛋白)、中心体(分裂)。</a:t>
            </a:r>
          </a:p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动植物差异：中心体（动物低等植物有）、叶绿体液泡（植物有）。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1828800"/>
            <a:ext cx="5227167" cy="365760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98767" y="201168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单元坐标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8767" y="2514599"/>
            <a:ext cx="4678527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教材：必修1 分子与细胞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单元：细胞的基本结构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衔接：下节课：生物膜系统与细胞的协调配合——追踪分泌蛋白的旅程。</a:t>
            </a:r>
          </a:p>
          <a:p>
            <a:pPr algn="l">
              <a:lnSpc>
                <a:spcPct val="145000"/>
              </a:lnSpc>
              <a:spcBef>
                <a:spcPts val="600"/>
              </a:spcBef>
            </a:pPr>
            <a:r>
              <a:rPr sz="135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口诀：双层线叶、单层网高溶泡、无膜糖中；动物有中心体、植物有叶绿液泡。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