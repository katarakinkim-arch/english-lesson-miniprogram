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822960" cy="381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选择性必修2 生物与环境 · 生态系统及其稳定性 · 第1课时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11556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生态系统的结构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46120"/>
            <a:ext cx="107899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生态系统由生物群落与无机环境相互作用形成。组成成分包括非生物的物质和能量、生产者、消…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343400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标签：生态系统 · 组成成分 · 生产者 · 食物链 · 营养级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016752"/>
            <a:ext cx="7315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高中生物 · 学生版课堂</a:t>
            </a:r>
          </a:p>
          <a:p>
            <a:pPr algn="l"/>
            <a:r>
              <a:rPr sz="1200" b="0">
                <a:solidFill>
                  <a:srgbClr val="E7DFD2"/>
                </a:solidFill>
                <a:latin typeface="微软雅黑"/>
                <a:ea typeface="微软雅黑"/>
                <a:cs typeface="微软雅黑"/>
              </a:rPr>
              <a:t>植物生命活动调节 / 生物与环境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34095" y="6108192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2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第1课时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00800"/>
            <a:ext cx="74980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本课件未使用无关配图，采用学科色块兜底（生物·湘碧）。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四向学习目标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48840"/>
            <a:ext cx="5295747" cy="19659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2377440"/>
            <a:ext cx="548640" cy="54864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41448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404872"/>
            <a:ext cx="419846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生命观念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08960"/>
            <a:ext cx="4747107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理解生态系统是生物与无机环境统一整体，认同结构决定功能。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5867" y="2148840"/>
            <a:ext cx="5295747" cy="19659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84467" y="2377440"/>
            <a:ext cx="548640" cy="54864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4467" y="2441448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70267" y="2404872"/>
            <a:ext cx="419846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科学思维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0187" y="3108960"/>
            <a:ext cx="4747107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用模型建构食物链/食物网，分析营养级关系。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434840"/>
            <a:ext cx="5295747" cy="19659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68680" y="4663440"/>
            <a:ext cx="548640" cy="54864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727448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690872"/>
            <a:ext cx="419846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科学探究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394960"/>
            <a:ext cx="4747107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调查某一生态系统的成分与营养结构。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55867" y="4434840"/>
            <a:ext cx="5295747" cy="19659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84467" y="4663440"/>
            <a:ext cx="548640" cy="548640"/>
          </a:xfrm>
          <a:prstGeom prst="ellipse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84467" y="4727448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70267" y="4690872"/>
            <a:ext cx="419846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社会责任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0187" y="5394960"/>
            <a:ext cx="4747107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认识保护生产者与分解者的重要性。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背景与权威调研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教材定位 · 权威来源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522716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E7D6B"/>
                </a:solidFill>
                <a:latin typeface="楷体"/>
                <a:ea typeface="楷体"/>
                <a:cs typeface="楷体"/>
              </a:rPr>
              <a:t>教材定位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14599"/>
            <a:ext cx="5227167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  <a:spcAft>
                <a:spcPts val="600"/>
              </a:spcAft>
            </a:pPr>
            <a:r>
              <a:rPr sz="14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生态系统由生物群落与无机环境相互作用形成。组成成分包括非生物的物质和能量、生产者、消费者、分解者。营养结构为食物链和食物网，营养级从生产者开始。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806440"/>
            <a:ext cx="522716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一句话：生态系统的结构，是本单元要落实的核心知识。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24447" y="2011680"/>
            <a:ext cx="5227167" cy="429768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98767" y="2148840"/>
            <a:ext cx="46785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权威来源（已联网核实）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98767" y="2651760"/>
            <a:ext cx="4678527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2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· 生态系统 = 生物群落 + 无机环境；组成含非生物物质能量、生产者、消费者、分解者（Britannica ecosystem / Trophic-levels）。</a:t>
            </a:r>
          </a:p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2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· 营养级自生产者起算；食物链仅含生产者与消费者，分解者在链外（Britannica food-web）。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4447" y="5806440"/>
            <a:ext cx="522716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本课件未使用无关配图，采用学科色块兜底（生物·湘碧）。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本课重点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48840"/>
            <a:ext cx="5295747" cy="19659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48840"/>
            <a:ext cx="5295747" cy="45720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203704"/>
            <a:ext cx="529574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43200"/>
            <a:ext cx="4747107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生态系统=生物群落+无机环境。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55867" y="2148840"/>
            <a:ext cx="5295747" cy="19659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55867" y="2148840"/>
            <a:ext cx="5295747" cy="45720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55867" y="2203704"/>
            <a:ext cx="529574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0187" y="2743200"/>
            <a:ext cx="4747107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四成分：非生物物质能量、生产者（自养，基石）、消费者（异养）、分解者（腐生，不可缺）。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434840"/>
            <a:ext cx="5295747" cy="19659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4434840"/>
            <a:ext cx="5295747" cy="4572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489704"/>
            <a:ext cx="529574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4747107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食物链：生产者→初级→次级消费者…只含生产者和消费者。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55867" y="4434840"/>
            <a:ext cx="5295747" cy="19659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55867" y="4434840"/>
            <a:ext cx="5295747" cy="457200"/>
          </a:xfrm>
          <a:prstGeom prst="rect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55867" y="4489704"/>
            <a:ext cx="529574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0187" y="5029200"/>
            <a:ext cx="4747107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营养级：生产者第一营养级，食物链长度即营养级数。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方法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本节课的学习思路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2453563" cy="36576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455381" y="2514600"/>
            <a:ext cx="822960" cy="82296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55381" y="269748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566160"/>
            <a:ext cx="2087803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模型建构法（食物网）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4709160"/>
            <a:ext cx="2051227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动手画一画，让关系看得见、记得牢。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9403" y="2194560"/>
            <a:ext cx="2453563" cy="36576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274705" y="2514600"/>
            <a:ext cx="822960" cy="82296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74705" y="269748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42283" y="3566160"/>
            <a:ext cx="2087803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反例法（特殊细菌/动物）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60571" y="4709160"/>
            <a:ext cx="2051227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按这条思路梳理，把知识变成自己的。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8727" y="2194560"/>
            <a:ext cx="2453563" cy="36576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094029" y="2514600"/>
            <a:ext cx="822960" cy="82296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94029" y="269748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1607" y="3566160"/>
            <a:ext cx="2087803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图解法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9895" y="4709160"/>
            <a:ext cx="2051227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动手画一画，让关系看得见、记得牢。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98051" y="2194560"/>
            <a:ext cx="2453563" cy="36576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913353" y="2514600"/>
            <a:ext cx="822960" cy="822960"/>
          </a:xfrm>
          <a:prstGeom prst="ellipse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13353" y="269748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0931" y="3566160"/>
            <a:ext cx="2087803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归纳法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99219" y="4709160"/>
            <a:ext cx="2051227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在交流与追问中，归纳出一般规律。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难点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三处容易卡住的地方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3393338" cy="3749039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2423160"/>
            <a:ext cx="548640" cy="54864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87168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450592"/>
            <a:ext cx="229605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分解者定位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46120"/>
            <a:ext cx="2844698" cy="25603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原因：细菌不都是分解者（硝化细菌是生产者），动物不都是消费者（蚯蚓是分解者），需反例。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9178" y="2194560"/>
            <a:ext cx="3393338" cy="3749039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27778" y="2423160"/>
            <a:ext cx="548640" cy="54864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27778" y="2487168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13578" y="2450592"/>
            <a:ext cx="229605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食物链不含分解者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3498" y="3246120"/>
            <a:ext cx="2844698" cy="25603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原因：学生易把分解者写进链，需强调。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58276" y="2194560"/>
            <a:ext cx="3393338" cy="3749039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86876" y="2423160"/>
            <a:ext cx="548640" cy="54864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86876" y="2487168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72676" y="2450592"/>
            <a:ext cx="229605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营养级vs消费者级别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2596" y="3246120"/>
            <a:ext cx="2844698" cy="25603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原因：初级消费者是第二营养级，易错，需对应。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板书精华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10911535" cy="489204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05840" y="1828800"/>
            <a:ext cx="822960" cy="381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659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板书精华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651760"/>
            <a:ext cx="9997135" cy="3520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700"/>
              </a:spcAft>
            </a:pPr>
            <a:r>
              <a:rPr sz="15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生态系统的结构=生物群落+环境四成分:非生物物质能量生产者(基石)消费者(异养)分解者(腐生)链:生产→消费网:交错,越复越稳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基础 · 提升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5272887" cy="36576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5272887" cy="50292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04288"/>
            <a:ext cx="52728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基础 · 必做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80360"/>
            <a:ext cx="4724247" cy="2788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生态系统的组成成分包括非生物的物质和能量、____、消费者和____。2. 在"草→虫→蛙→蛇"食物链中，蛙属于第____营养级、____级消费者。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2194560"/>
            <a:ext cx="5272887" cy="36576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8727" y="2194560"/>
            <a:ext cx="5272887" cy="50292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8727" y="2304288"/>
            <a:ext cx="52728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提升 · 选做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3047" y="2880360"/>
            <a:ext cx="4724247" cy="2788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【提高作业】为什么说分解者是生态系统不可缺少的成分？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单元小结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本单元脉络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10911535" cy="1371600"/>
          </a:xfrm>
          <a:prstGeom prst="roundRect">
            <a:avLst/>
          </a:prstGeom>
          <a:solidFill>
            <a:srgbClr val="2E7D6B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377440"/>
            <a:ext cx="1063721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第1课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88920"/>
            <a:ext cx="1063721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生态系统的结构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931920"/>
            <a:ext cx="10911535" cy="1828800"/>
          </a:xfrm>
          <a:prstGeom prst="roundRect">
            <a:avLst/>
          </a:prstGeom>
          <a:solidFill>
            <a:srgbClr val="E7DFD2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60120" y="4160520"/>
            <a:ext cx="54864" cy="2794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4160520"/>
            <a:ext cx="10088575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单元主旨</a:t>
            </a:r>
          </a:p>
          <a:p>
            <a:pPr algn="l">
              <a:lnSpc>
                <a:spcPct val="150000"/>
              </a:lnSpc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生态系统 = 生物群落 + 无机环境；生产者、消费者、分解者沿食物链传递能量。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