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生物 · 选择性必修3 生物技术与工程 · 第2单元 细胞工程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691640"/>
            <a:ext cx="10637215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34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胚胎工程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840480"/>
            <a:ext cx="10637215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>
                <a:solidFill>
                  <a:srgbClr val="6B6258"/>
                </a:solidFill>
                <a:latin typeface="楷体"/>
                <a:ea typeface="楷体"/>
                <a:cs typeface="楷体"/>
              </a:rPr>
              <a:t>胚胎工程对动物早期胚胎或配子进行技术操作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5943600"/>
            <a:ext cx="12191695" cy="914400"/>
          </a:xfrm>
          <a:prstGeom prst="rect">
            <a:avLst/>
          </a:prstGeom>
          <a:solidFill>
            <a:srgbClr val="1C2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6144768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6181344"/>
            <a:ext cx="105156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第3课时 · 新课 · 学生课堂版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6473952"/>
            <a:ext cx="105156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E7DFD2"/>
                </a:solidFill>
                <a:latin typeface="微软雅黑"/>
                <a:ea typeface="微软雅黑"/>
                <a:cs typeface="微软雅黑"/>
              </a:rPr>
              <a:t>科目：生物　册次：选择性必修3 生物技术与工程　单元：细胞工程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本课目标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四向学习目标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94560"/>
            <a:ext cx="10911535" cy="86868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2194560"/>
            <a:ext cx="109728" cy="8686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2194560"/>
            <a:ext cx="10454335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生命观念　</a:t>
            </a: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理解胚胎发育的可操作性，认同发育生物学规律。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218688"/>
            <a:ext cx="10911535" cy="86868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3218688"/>
            <a:ext cx="109728" cy="8686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3218688"/>
            <a:ext cx="10454335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科学思维　</a:t>
            </a: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梳理体外受精与胚胎移植的逻辑流程。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4242816"/>
            <a:ext cx="10911535" cy="86868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4242816"/>
            <a:ext cx="109728" cy="8686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2688" y="4242816"/>
            <a:ext cx="10454335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科学探究　</a:t>
            </a: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了解胚胎分割获得同卵个体的原理。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5266944"/>
            <a:ext cx="10911535" cy="86868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6B62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5266944"/>
            <a:ext cx="109728" cy="868680"/>
          </a:xfrm>
          <a:prstGeom prst="rect">
            <a:avLst/>
          </a:prstGeom>
          <a:solidFill>
            <a:srgbClr val="6B62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2688" y="5266944"/>
            <a:ext cx="10454335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社会责任　</a:t>
            </a: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关注胚胎工程在良种繁育与辅助生殖中的伦理。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背景 · 权威调研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教材定位与来源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522716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B23A2A"/>
                </a:solidFill>
                <a:latin typeface="楷体"/>
                <a:ea typeface="楷体"/>
                <a:cs typeface="楷体"/>
              </a:rPr>
              <a:t>教材分析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331720"/>
            <a:ext cx="5227167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胚胎工程对动物早期胚胎或配子进行技术操作。包括体外受精（精子获能+卵母细胞培养→受精）、胚胎移植（将早期胚胎移入受体子宫）、胚胎分割（同卵双生）、干细胞技术。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24447" y="1828800"/>
            <a:ext cx="5227167" cy="4023360"/>
          </a:xfrm>
          <a:prstGeom prst="roundRect">
            <a:avLst/>
          </a:prstGeom>
          <a:solidFill>
            <a:srgbClr val="1C2A33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98767" y="2011680"/>
            <a:ext cx="467852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8A86B"/>
                </a:solidFill>
                <a:latin typeface="楷体"/>
                <a:ea typeface="楷体"/>
                <a:cs typeface="楷体"/>
              </a:rPr>
              <a:t>权威来源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98767" y="2560320"/>
            <a:ext cx="4678527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700"/>
              </a:spcAft>
            </a:pPr>
            <a:r>
              <a:rPr sz="1250" b="0">
                <a:solidFill>
                  <a:srgbClr val="FFFFFF"/>
                </a:solidFill>
                <a:latin typeface="楷体"/>
                <a:ea typeface="楷体"/>
                <a:cs typeface="楷体"/>
              </a:rPr>
              <a:t>来源：1978 年英国剑桥 Robert Edwards 以体外受精-胚胎移植（IVF-ET）培育世界首例试管婴儿，并因此获 2010 年诺贝尔生理学或医学奖（gdpmaa.com 世界胚胎学家日）。</a:t>
            </a:r>
          </a:p>
          <a:p>
            <a:pPr algn="l">
              <a:lnSpc>
                <a:spcPct val="145000"/>
              </a:lnSpc>
              <a:spcAft>
                <a:spcPts val="700"/>
              </a:spcAft>
            </a:pPr>
            <a:r>
              <a:rPr sz="1250" b="0">
                <a:solidFill>
                  <a:srgbClr val="FFFFFF"/>
                </a:solidFill>
                <a:latin typeface="楷体"/>
                <a:ea typeface="楷体"/>
                <a:cs typeface="楷体"/>
              </a:rPr>
              <a:t>来源：体外受精-胚胎移植将精卵取出体外受精、培养为早期胚胎后移入子宫；胚胎移植是胚胎工程的末端关键步骤（MedlinePlus In vitro fertilization）。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98767" y="4343400"/>
            <a:ext cx="4678527" cy="12700"/>
          </a:xfrm>
          <a:prstGeom prst="rect">
            <a:avLst/>
          </a:prstGeom>
          <a:solidFill>
            <a:srgbClr val="6B62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98767" y="4480560"/>
            <a:ext cx="46785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E7DFD2"/>
                </a:solidFill>
                <a:latin typeface="楷体"/>
                <a:ea typeface="楷体"/>
                <a:cs typeface="楷体"/>
              </a:rPr>
              <a:t>本课件未使用无关配图，画面以学科色块呈现。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本课重点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94560"/>
            <a:ext cx="2453563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2194560"/>
            <a:ext cx="2453563" cy="54864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304288"/>
            <a:ext cx="245356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重点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971800"/>
            <a:ext cx="1904923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50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体外受精：精子获能+卵母细胞成熟培养→体外受精→早期胚胎。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59403" y="2194560"/>
            <a:ext cx="2453563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59403" y="2194560"/>
            <a:ext cx="2453563" cy="54864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59403" y="2304288"/>
            <a:ext cx="245356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重点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33723" y="2971800"/>
            <a:ext cx="1904923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50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胚胎移植：早期胚胎移入同期发情受体子宫，是胚胎工程末端关键。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78727" y="2194560"/>
            <a:ext cx="2453563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78727" y="2194560"/>
            <a:ext cx="2453563" cy="54864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78727" y="2304288"/>
            <a:ext cx="245356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重点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53047" y="2971800"/>
            <a:ext cx="1904923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50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胚胎分割：早期胚胎分割→同基因型多个体（似同卵双胞胎）。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98051" y="2194560"/>
            <a:ext cx="2453563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6B62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098051" y="2194560"/>
            <a:ext cx="2453563" cy="548640"/>
          </a:xfrm>
          <a:prstGeom prst="rect">
            <a:avLst/>
          </a:prstGeom>
          <a:solidFill>
            <a:srgbClr val="6B62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98051" y="2304288"/>
            <a:ext cx="245356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重点 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72371" y="2971800"/>
            <a:ext cx="1904923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50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供体提供胚胎、受体提供子宫孕育。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学习路径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94560"/>
            <a:ext cx="2453563" cy="36576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359152"/>
            <a:ext cx="1539163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流程法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063240"/>
            <a:ext cx="1539163" cy="2651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IVF+移植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59403" y="2194560"/>
            <a:ext cx="2453563" cy="36576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623995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23995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90923" y="2359152"/>
            <a:ext cx="1539163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案例法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90923" y="3063240"/>
            <a:ext cx="1539163" cy="2651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试管牛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78727" y="2194560"/>
            <a:ext cx="2453563" cy="36576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43319" y="2359152"/>
            <a:ext cx="457200" cy="457200"/>
          </a:xfrm>
          <a:prstGeom prst="ellipse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3319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10247" y="2359152"/>
            <a:ext cx="1539163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图示法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10247" y="3063240"/>
            <a:ext cx="1539163" cy="2651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分割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98051" y="2194560"/>
            <a:ext cx="2453563" cy="36576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6B62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262643" y="2359152"/>
            <a:ext cx="457200" cy="457200"/>
          </a:xfrm>
          <a:prstGeom prst="ellipse">
            <a:avLst/>
          </a:prstGeom>
          <a:solidFill>
            <a:srgbClr val="6B62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62643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29571" y="2359152"/>
            <a:ext cx="1539163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归纳法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829571" y="3063240"/>
            <a:ext cx="1539163" cy="2651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/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难点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本课难点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94560"/>
            <a:ext cx="3393338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2194560"/>
            <a:ext cx="3393338" cy="54864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304288"/>
            <a:ext cx="33933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难点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971800"/>
            <a:ext cx="2844698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600"/>
              </a:spcAft>
            </a:pPr>
            <a:r>
              <a:rPr sz="15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精子获能</a:t>
            </a:r>
          </a:p>
          <a:p>
            <a:pPr algn="l">
              <a:lnSpc>
                <a:spcPct val="150000"/>
              </a:lnSpc>
            </a:pPr>
            <a:r>
              <a:rPr sz="1300" b="0">
                <a:solidFill>
                  <a:srgbClr val="B23A2A"/>
                </a:solidFill>
                <a:latin typeface="楷体"/>
                <a:ea typeface="楷体"/>
                <a:cs typeface="楷体"/>
              </a:rPr>
              <a:t>破解：刚射出精子不能受精，需在雌性生殖道或获能液处理，概念易漏。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99178" y="2194560"/>
            <a:ext cx="3393338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99178" y="2194560"/>
            <a:ext cx="3393338" cy="54864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99178" y="2304288"/>
            <a:ext cx="33933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难点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73498" y="2971800"/>
            <a:ext cx="2844698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600"/>
              </a:spcAft>
            </a:pPr>
            <a:r>
              <a:rPr sz="15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供受体关系</a:t>
            </a:r>
          </a:p>
          <a:p>
            <a:pPr algn="l">
              <a:lnSpc>
                <a:spcPct val="150000"/>
              </a:lnSpc>
            </a:pPr>
            <a:r>
              <a:rPr sz="1300" b="0">
                <a:solidFill>
                  <a:srgbClr val="2E7D6B"/>
                </a:solidFill>
                <a:latin typeface="楷体"/>
                <a:ea typeface="楷体"/>
                <a:cs typeface="楷体"/>
              </a:rPr>
              <a:t>破解：胚胎来自供体、在受体子宫发育，二者角色易反。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58276" y="2194560"/>
            <a:ext cx="3393338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58276" y="2194560"/>
            <a:ext cx="3393338" cy="54864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58276" y="2304288"/>
            <a:ext cx="33933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难点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32596" y="2971800"/>
            <a:ext cx="2844698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600"/>
              </a:spcAft>
            </a:pPr>
            <a:r>
              <a:rPr sz="15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分割时期</a:t>
            </a:r>
          </a:p>
          <a:p>
            <a:pPr algn="l">
              <a:lnSpc>
                <a:spcPct val="150000"/>
              </a:lnSpc>
            </a:pPr>
            <a:r>
              <a:rPr sz="1300" b="0">
                <a:solidFill>
                  <a:srgbClr val="C8A86B"/>
                </a:solidFill>
                <a:latin typeface="楷体"/>
                <a:ea typeface="楷体"/>
                <a:cs typeface="楷体"/>
              </a:rPr>
              <a:t>破解：宜在桑椹胚或囊胚期分割，过晚难存活，易错。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板书精华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板书精华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911535" cy="42976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828800"/>
            <a:ext cx="128016" cy="42976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2057400"/>
            <a:ext cx="10180015" cy="384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体外受精: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精子获能+卵成熟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→受精→早胚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移植:供体供胚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受体怀胎(同期)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分割:桑椹/囊胚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→同基因多体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分层作业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94560"/>
            <a:ext cx="5272887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2194560"/>
            <a:ext cx="5272887" cy="54864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304288"/>
            <a:ext cx="527288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基础 · 必做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971800"/>
            <a:ext cx="4724247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50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1. 刚采集的精子不能直接使卵受精，必须经过____处理。2. 胚胎移植中，提供早期胚胎的个体称为____（填"供体"或"受体"）。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78727" y="2194560"/>
            <a:ext cx="5272887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78727" y="2194560"/>
            <a:ext cx="5272887" cy="54864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78727" y="2304288"/>
            <a:ext cx="527288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提升 · 选做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53047" y="2971800"/>
            <a:ext cx="4724247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50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胚胎分割为什么通常要在桑椹胚或囊胚期进行？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单元小结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单元回望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911535" cy="1371600"/>
          </a:xfrm>
          <a:prstGeom prst="roundRect">
            <a:avLst/>
          </a:prstGeom>
          <a:solidFill>
            <a:srgbClr val="1C2A33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65960"/>
            <a:ext cx="1018001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5000"/>
              </a:lnSpc>
            </a:pPr>
            <a:r>
              <a:rPr sz="1500" b="0">
                <a:solidFill>
                  <a:srgbClr val="FFFFFF"/>
                </a:solidFill>
                <a:latin typeface="楷体"/>
                <a:ea typeface="楷体"/>
                <a:cs typeface="楷体"/>
              </a:rPr>
              <a:t>本单元「细胞工程」：精子获能前提强调，供受体关系对比清晰。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474720"/>
            <a:ext cx="10911535" cy="84124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41248" y="3666744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" y="3721608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474720"/>
            <a:ext cx="9905695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精子获能前提强调，供受体关系对比清晰。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4434840"/>
            <a:ext cx="10911535" cy="84124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41248" y="4626864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" y="4681728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08760" y="4434840"/>
            <a:ext cx="9905695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胚胎分割时期易记错，需配合图强化。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5394960"/>
            <a:ext cx="10911535" cy="84124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41248" y="5586984"/>
            <a:ext cx="457200" cy="457200"/>
          </a:xfrm>
          <a:prstGeom prst="ellipse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8" y="5641848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5394960"/>
            <a:ext cx="9905695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基因工程的基本工具。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