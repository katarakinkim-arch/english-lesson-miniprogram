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生物 · 必修2 遗传与进化 · 第3单元 DNA分子的结构与复制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691640"/>
            <a:ext cx="10637215" cy="2103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34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DNA的复制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840480"/>
            <a:ext cx="10637215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>
                <a:solidFill>
                  <a:srgbClr val="6B6258"/>
                </a:solidFill>
                <a:latin typeface="楷体"/>
                <a:ea typeface="楷体"/>
                <a:cs typeface="楷体"/>
              </a:rPr>
              <a:t>DNA复制为半保留复制：解旋酶解开双链，以每条母链为模板按碱基互补合成子链，结果每个子代D…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5943600"/>
            <a:ext cx="12191695" cy="914400"/>
          </a:xfrm>
          <a:prstGeom prst="rect">
            <a:avLst/>
          </a:prstGeom>
          <a:solidFill>
            <a:srgbClr val="1C2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6144768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6181344"/>
            <a:ext cx="105156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第11课时 · 新 · 学生课堂版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6473952"/>
            <a:ext cx="105156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E7DFD2"/>
                </a:solidFill>
                <a:latin typeface="微软雅黑"/>
                <a:ea typeface="微软雅黑"/>
                <a:cs typeface="微软雅黑"/>
              </a:rPr>
              <a:t>科目：生物　册次：必修2 遗传与进化　单元：DNA分子的结构与复制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本课目标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四向学习目标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94560"/>
            <a:ext cx="10911535" cy="86868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2194560"/>
            <a:ext cx="109728" cy="8686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32688" y="2194560"/>
            <a:ext cx="10454335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生命观念　</a:t>
            </a: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阐明DNA半保留复制，认同遗传信息准确传递。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3218688"/>
            <a:ext cx="10911535" cy="86868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3218688"/>
            <a:ext cx="109728" cy="8686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32688" y="3218688"/>
            <a:ext cx="10454335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科学思维　</a:t>
            </a: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运用15N/14N实验证据论证半保留复制。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4242816"/>
            <a:ext cx="10911535" cy="86868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" y="4242816"/>
            <a:ext cx="109728" cy="8686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32688" y="4242816"/>
            <a:ext cx="10454335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科学探究　</a:t>
            </a: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说明DNA复制的条件与过程（解旋、合成、复旋）。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5266944"/>
            <a:ext cx="10911535" cy="86868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6B62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5266944"/>
            <a:ext cx="109728" cy="868680"/>
          </a:xfrm>
          <a:prstGeom prst="rect">
            <a:avLst/>
          </a:prstGeom>
          <a:solidFill>
            <a:srgbClr val="6B62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32688" y="5266944"/>
            <a:ext cx="10454335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社会责任　</a:t>
            </a: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关注DNA复制与癌细胞增殖、基因突变的关系。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背景 · 权威调研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教材定位与来源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522716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B23A2A"/>
                </a:solidFill>
                <a:latin typeface="楷体"/>
                <a:ea typeface="楷体"/>
                <a:cs typeface="楷体"/>
              </a:rPr>
              <a:t>教材分析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331720"/>
            <a:ext cx="5227167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DNA复制为半保留复制：解旋酶解开双链，以每条母链为模板按碱基互补合成子链，结果每个子代DNA含一条母链和一条新链。需模板、原料、酶、能量。同位素（15N/14N）实验证明半保留。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24447" y="1828800"/>
            <a:ext cx="5227167" cy="4023360"/>
          </a:xfrm>
          <a:prstGeom prst="roundRect">
            <a:avLst/>
          </a:prstGeom>
          <a:solidFill>
            <a:srgbClr val="1C2A33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98767" y="2011680"/>
            <a:ext cx="467852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8A86B"/>
                </a:solidFill>
                <a:latin typeface="楷体"/>
                <a:ea typeface="楷体"/>
                <a:cs typeface="楷体"/>
              </a:rPr>
              <a:t>权威来源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98767" y="2560320"/>
            <a:ext cx="4678527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700"/>
              </a:spcAft>
            </a:pPr>
            <a:r>
              <a:rPr sz="1250" b="0">
                <a:solidFill>
                  <a:srgbClr val="FFFFFF"/>
                </a:solidFill>
                <a:latin typeface="楷体"/>
                <a:ea typeface="楷体"/>
                <a:cs typeface="楷体"/>
              </a:rPr>
              <a:t>Nature Education Scitable：Meselson–Stahl Experiment —— DNA 半保留复制。</a:t>
            </a:r>
          </a:p>
          <a:p>
            <a:pPr algn="l">
              <a:lnSpc>
                <a:spcPct val="145000"/>
              </a:lnSpc>
              <a:spcAft>
                <a:spcPts val="700"/>
              </a:spcAft>
            </a:pPr>
            <a:r>
              <a:rPr sz="1250" b="0">
                <a:solidFill>
                  <a:srgbClr val="FFFFFF"/>
                </a:solidFill>
                <a:latin typeface="楷体"/>
                <a:ea typeface="楷体"/>
                <a:cs typeface="楷体"/>
              </a:rPr>
              <a:t>PubMed Central：DNA Replication —— 半保留复制的机制。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98767" y="4343400"/>
            <a:ext cx="4678527" cy="12700"/>
          </a:xfrm>
          <a:prstGeom prst="rect">
            <a:avLst/>
          </a:prstGeom>
          <a:solidFill>
            <a:srgbClr val="6B62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98767" y="4480560"/>
            <a:ext cx="467852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>
                <a:solidFill>
                  <a:srgbClr val="E7DFD2"/>
                </a:solidFill>
                <a:latin typeface="楷体"/>
                <a:ea typeface="楷体"/>
                <a:cs typeface="楷体"/>
              </a:rPr>
              <a:t>本课件未使用无关配图，画面以学科色块呈现。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本课重点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94560"/>
            <a:ext cx="2453563" cy="39319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2194560"/>
            <a:ext cx="2453563" cy="54864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304288"/>
            <a:ext cx="245356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重点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971800"/>
            <a:ext cx="1904923" cy="3017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50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半保留：子代DNA各含一条母链+一条新链。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59403" y="2194560"/>
            <a:ext cx="2453563" cy="39319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459403" y="2194560"/>
            <a:ext cx="2453563" cy="54864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59403" y="2304288"/>
            <a:ext cx="245356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重点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33723" y="2971800"/>
            <a:ext cx="1904923" cy="3017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50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过程：解旋（解旋酶）→合成子链（DNA聚合酶，碱基互补）→复旋。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78727" y="2194560"/>
            <a:ext cx="2453563" cy="39319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78727" y="2194560"/>
            <a:ext cx="2453563" cy="54864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78727" y="2304288"/>
            <a:ext cx="245356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重点 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53047" y="2971800"/>
            <a:ext cx="1904923" cy="3017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50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条件：模板（母链）、原料（脱氧核苷酸）、酶、能量。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098051" y="2194560"/>
            <a:ext cx="2453563" cy="39319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6B62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098051" y="2194560"/>
            <a:ext cx="2453563" cy="548640"/>
          </a:xfrm>
          <a:prstGeom prst="rect">
            <a:avLst/>
          </a:prstGeom>
          <a:solidFill>
            <a:srgbClr val="6B62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98051" y="2304288"/>
            <a:ext cx="245356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重点 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72371" y="2971800"/>
            <a:ext cx="1904923" cy="3017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50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证据：15N标记亲代，15N/14N梯度离心呈中带→半保留。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学习路径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94560"/>
            <a:ext cx="2453563" cy="36576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2359152"/>
            <a:ext cx="1539163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动画演示法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063240"/>
            <a:ext cx="1539163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复制)。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59403" y="2194560"/>
            <a:ext cx="2453563" cy="36576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3623995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23995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90923" y="2359152"/>
            <a:ext cx="1539163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同位素证据法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90923" y="3063240"/>
            <a:ext cx="1539163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/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78727" y="2194560"/>
            <a:ext cx="2453563" cy="36576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443319" y="2359152"/>
            <a:ext cx="457200" cy="457200"/>
          </a:xfrm>
          <a:prstGeom prst="ellipse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3319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10247" y="2359152"/>
            <a:ext cx="1539163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条件列表法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10247" y="3063240"/>
            <a:ext cx="1539163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/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98051" y="2194560"/>
            <a:ext cx="2453563" cy="36576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6B62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262643" y="2359152"/>
            <a:ext cx="457200" cy="457200"/>
          </a:xfrm>
          <a:prstGeom prst="ellipse">
            <a:avLst/>
          </a:prstGeom>
          <a:solidFill>
            <a:srgbClr val="6B62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62643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829571" y="2359152"/>
            <a:ext cx="1539163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对比法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829571" y="3063240"/>
            <a:ext cx="1539163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全保/半保/分保)。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难点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本课难点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94560"/>
            <a:ext cx="3393338" cy="39319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2194560"/>
            <a:ext cx="3393338" cy="54864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304288"/>
            <a:ext cx="33933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难点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971800"/>
            <a:ext cx="2844698" cy="3017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5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半保留含义</a:t>
            </a:r>
          </a:p>
          <a:p>
            <a:pPr algn="l">
              <a:lnSpc>
                <a:spcPct val="150000"/>
              </a:lnSpc>
            </a:pPr>
            <a:r>
              <a:rPr sz="1300" b="0">
                <a:solidFill>
                  <a:srgbClr val="B23A2A"/>
                </a:solidFill>
                <a:latin typeface="楷体"/>
                <a:ea typeface="楷体"/>
                <a:cs typeface="楷体"/>
              </a:rPr>
              <a:t>破解：每条子代DNA各留一条母链，易误为"全新"，需强调。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99178" y="2194560"/>
            <a:ext cx="3393338" cy="39319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99178" y="2194560"/>
            <a:ext cx="3393338" cy="54864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99178" y="2304288"/>
            <a:ext cx="33933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难点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73498" y="2971800"/>
            <a:ext cx="2844698" cy="3017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5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过程顺序</a:t>
            </a:r>
          </a:p>
          <a:p>
            <a:pPr algn="l">
              <a:lnSpc>
                <a:spcPct val="150000"/>
              </a:lnSpc>
            </a:pPr>
            <a:r>
              <a:rPr sz="1300" b="0">
                <a:solidFill>
                  <a:srgbClr val="2E7D6B"/>
                </a:solidFill>
                <a:latin typeface="楷体"/>
                <a:ea typeface="楷体"/>
                <a:cs typeface="楷体"/>
              </a:rPr>
              <a:t>破解：先解旋后合成，酶不同，易混，需列。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58276" y="2194560"/>
            <a:ext cx="3393338" cy="39319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158276" y="2194560"/>
            <a:ext cx="3393338" cy="54864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158276" y="2304288"/>
            <a:ext cx="33933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难点 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32596" y="2971800"/>
            <a:ext cx="2844698" cy="3017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5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离心证据</a:t>
            </a:r>
          </a:p>
          <a:p>
            <a:pPr algn="l">
              <a:lnSpc>
                <a:spcPct val="150000"/>
              </a:lnSpc>
            </a:pPr>
            <a:r>
              <a:rPr sz="1300" b="0">
                <a:solidFill>
                  <a:srgbClr val="C8A86B"/>
                </a:solidFill>
                <a:latin typeface="楷体"/>
                <a:ea typeface="楷体"/>
                <a:cs typeface="楷体"/>
              </a:rPr>
              <a:t>破解：重/中/轻带含义，需图解。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板书精华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板书精华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911535" cy="429768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828800"/>
            <a:ext cx="128016" cy="42976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057400"/>
            <a:ext cx="10180015" cy="3840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半保留:子代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DNA各含1母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链+1新链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过程:解旋→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合成(聚合酶)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→复旋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条件:模板/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原料/酶/能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证据:15N→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中带→半保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留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分层作业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94560"/>
            <a:ext cx="5272887" cy="39319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2194560"/>
            <a:ext cx="5272887" cy="54864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304288"/>
            <a:ext cx="527288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基础 · 必做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971800"/>
            <a:ext cx="4724247" cy="3017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50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1. DNA复制的方式是____。2. 将15N标记的DNA在14N培养基中复制一代，离心结果出现____带（填"重""中"或"轻"）。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78727" y="2194560"/>
            <a:ext cx="5272887" cy="39319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78727" y="2194560"/>
            <a:ext cx="5272887" cy="54864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78727" y="2304288"/>
            <a:ext cx="527288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提升 · 选做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53047" y="2971800"/>
            <a:ext cx="4724247" cy="3017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50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DNA复制需要哪些基本条件？各起什么作用？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单元小结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单元回望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911535" cy="1371600"/>
          </a:xfrm>
          <a:prstGeom prst="roundRect">
            <a:avLst/>
          </a:prstGeom>
          <a:solidFill>
            <a:srgbClr val="1C2A33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965960"/>
            <a:ext cx="1018001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45000"/>
              </a:lnSpc>
            </a:pPr>
            <a:r>
              <a:rPr sz="1500" b="0">
                <a:solidFill>
                  <a:srgbClr val="FFFFFF"/>
                </a:solidFill>
                <a:latin typeface="楷体"/>
                <a:ea typeface="楷体"/>
                <a:cs typeface="楷体"/>
              </a:rPr>
              <a:t>本单元「DNA分子的结构与复制」：15N/14N离心带型证据力强；复制四条件明确。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474720"/>
            <a:ext cx="10911535" cy="841248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41248" y="3666744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8" y="3721608"/>
            <a:ext cx="457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474720"/>
            <a:ext cx="9905695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15N/14N离心带型证据力强；复制四条件明确。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4434840"/>
            <a:ext cx="10911535" cy="841248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41248" y="4626864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1248" y="4681728"/>
            <a:ext cx="457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08760" y="4434840"/>
            <a:ext cx="9905695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"半保留=各留一条母链"学生易想成全新链，需红字。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5394960"/>
            <a:ext cx="10911535" cy="841248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41248" y="5586984"/>
            <a:ext cx="457200" cy="457200"/>
          </a:xfrm>
          <a:prstGeom prst="ellipse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1248" y="5641848"/>
            <a:ext cx="457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5394960"/>
            <a:ext cx="9905695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基因的表达——转录与翻译。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