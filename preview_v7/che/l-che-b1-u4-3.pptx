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C2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960120"/>
            <a:ext cx="822960" cy="381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4300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必修第一册 · 第4单元 · 物质结构 元素周期律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74519"/>
            <a:ext cx="112471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600" b="1">
                <a:solidFill>
                  <a:srgbClr val="FFFFFF"/>
                </a:solidFill>
                <a:latin typeface="楷体"/>
                <a:ea typeface="楷体"/>
                <a:cs typeface="楷体"/>
              </a:rPr>
              <a:t>碱金属与卤族元素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3063240"/>
            <a:ext cx="201168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3291840"/>
            <a:ext cx="105156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E7DFD2"/>
                </a:solidFill>
                <a:latin typeface="楷体"/>
                <a:ea typeface="楷体"/>
                <a:cs typeface="楷体"/>
              </a:rPr>
              <a:t>探究同主族元素性质递变：碱金属(ⅠA)自上而下原子半径增大、失电子能力增强、金属性增强(与O…。</a:t>
            </a:r>
          </a:p>
          <a:p>
            <a:pPr algn="l"/>
            <a:r>
              <a:rPr sz="13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学生课堂版 · 化学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585216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必修第一册 · 第3课时 · 高一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本课目标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28016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学习目标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057400"/>
            <a:ext cx="10911535" cy="944118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41248" y="2337435"/>
            <a:ext cx="548640" cy="54864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8" y="2410587"/>
            <a:ext cx="5486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2203704"/>
            <a:ext cx="2377440" cy="8343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宏观辨识与微观探析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0" y="2167128"/>
            <a:ext cx="7253935" cy="8892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描述碱金属、卤族元素性质的同主族递变。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166110"/>
            <a:ext cx="10911535" cy="944118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41248" y="3446145"/>
            <a:ext cx="548640" cy="54864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1248" y="3519297"/>
            <a:ext cx="5486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3312414"/>
            <a:ext cx="2377440" cy="8343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变化观念与平衡思想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800" y="3275838"/>
            <a:ext cx="7253935" cy="8892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认识同主族自上而下金属性增强、非金属性减弱。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274820"/>
            <a:ext cx="10911535" cy="944118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41248" y="4554855"/>
            <a:ext cx="548640" cy="54864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1248" y="4628007"/>
            <a:ext cx="5486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54480" y="4421124"/>
            <a:ext cx="2377440" cy="8343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证据推理与模型认知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14800" y="4384548"/>
            <a:ext cx="7253935" cy="8892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用原子半径与电子层数解释递变本质。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5383530"/>
            <a:ext cx="10911535" cy="944118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41248" y="5663565"/>
            <a:ext cx="548640" cy="54864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41248" y="5736717"/>
            <a:ext cx="5486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54480" y="5529834"/>
            <a:ext cx="2377440" cy="8343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科学探究与创新意识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0" y="5493258"/>
            <a:ext cx="7253935" cy="8892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通过实验与数据归纳族内规律。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背景 · 权威调研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28016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教材定位与权威调研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011680"/>
            <a:ext cx="522716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楷体"/>
                <a:ea typeface="楷体"/>
                <a:cs typeface="楷体"/>
              </a:rPr>
              <a:t>教材分析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514599"/>
            <a:ext cx="5227167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5000"/>
              </a:lnSpc>
              <a:spcAft>
                <a:spcPts val="600"/>
              </a:spcAft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探究同主族元素性质递变：碱金属(ⅠA)自上而下原子半径增大、失电子能力增强、金属性增强(与O2/H2O反应更剧烈)；卤族(ⅦA)自上而下得电子能力减弱、非金属性减弱(与H2反应渐难、氢化物渐不稳)。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24447" y="2011680"/>
            <a:ext cx="5227167" cy="3931920"/>
          </a:xfrm>
          <a:prstGeom prst="roundRect">
            <a:avLst/>
          </a:prstGeom>
          <a:solidFill>
            <a:srgbClr val="1C2A33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98767" y="2148840"/>
            <a:ext cx="467852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C8A86B"/>
                </a:solidFill>
                <a:latin typeface="楷体"/>
                <a:ea typeface="楷体"/>
                <a:cs typeface="楷体"/>
              </a:rPr>
              <a:t>权威来源（联网核实）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98767" y="2697480"/>
            <a:ext cx="4678527" cy="3017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800"/>
              </a:spcAft>
            </a:pPr>
            <a:r>
              <a:rPr sz="1250" b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· 英国皇家化学会 RSC：碱金属向下更活泼，卤素向下反应性减弱。</a:t>
            </a:r>
          </a:p>
          <a:p>
            <a:pPr algn="l">
              <a:lnSpc>
                <a:spcPct val="145000"/>
              </a:lnSpc>
              <a:spcAft>
                <a:spcPts val="800"/>
              </a:spcAft>
            </a:pPr>
            <a:r>
              <a:rPr sz="1250" b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· ChemistryMadeEasy：同因素(半径/屏蔽)驱动两族相反方向。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4447" y="6035040"/>
            <a:ext cx="5227167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本课件未使用无关配图（学科色块呈现）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28016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本课重点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03120"/>
            <a:ext cx="2453563" cy="402336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2103120"/>
            <a:ext cx="2453563" cy="50292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194560"/>
            <a:ext cx="245356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重点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788920"/>
            <a:ext cx="1996363" cy="3200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碱金属(ⅠA)：Li→Cs半径↑、失e-易、金属性↑；与H2O反应更剧烈。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59403" y="2103120"/>
            <a:ext cx="2453563" cy="402336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459403" y="2103120"/>
            <a:ext cx="2453563" cy="50292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59403" y="2194560"/>
            <a:ext cx="245356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重点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88003" y="2788920"/>
            <a:ext cx="1996363" cy="3200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卤族(ⅦA)：F→I半径↑、得e-难、非金属性↓；与H2反应渐难、HX渐不稳。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78727" y="2103120"/>
            <a:ext cx="2453563" cy="402336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78727" y="2103120"/>
            <a:ext cx="2453563" cy="5029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78727" y="2194560"/>
            <a:ext cx="245356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重点 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07327" y="2788920"/>
            <a:ext cx="1996363" cy="3200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本质：电子层数↑→原子半径↑→引力↓→失e-易/得e-难。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098051" y="2103120"/>
            <a:ext cx="2453563" cy="402336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6B62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9098051" y="2103120"/>
            <a:ext cx="2453563" cy="502920"/>
          </a:xfrm>
          <a:prstGeom prst="rect">
            <a:avLst/>
          </a:prstGeom>
          <a:solidFill>
            <a:srgbClr val="6B62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98051" y="2194560"/>
            <a:ext cx="245356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重点 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26651" y="2788920"/>
            <a:ext cx="1996363" cy="3200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非金属性越强，氢化物越稳、最高价含氧酸越强。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28016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学习方法与招牌招式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011680"/>
            <a:ext cx="5272887" cy="169164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240280"/>
            <a:ext cx="4724247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4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实验(碱金属与水)。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78727" y="2011680"/>
            <a:ext cx="5272887" cy="169164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53047" y="2240280"/>
            <a:ext cx="4724247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4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数据归纳(半径/熔沸点)。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3931920"/>
            <a:ext cx="5272887" cy="169164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4160520"/>
            <a:ext cx="4724247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4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结构解释(半径)。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78727" y="3931920"/>
            <a:ext cx="5272887" cy="169164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6B62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53047" y="4160520"/>
            <a:ext cx="4724247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4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对比(碱金属vs卤素)。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5669280"/>
            <a:ext cx="10911535" cy="868680"/>
          </a:xfrm>
          <a:prstGeom prst="roundRect">
            <a:avLst/>
          </a:prstGeom>
          <a:solidFill>
            <a:srgbClr val="1C2A33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5779008"/>
            <a:ext cx="10362895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350" b="0">
                <a:solidFill>
                  <a:srgbClr val="FFFFFF"/>
                </a:solidFill>
                <a:latin typeface="楷体"/>
                <a:ea typeface="楷体"/>
                <a:cs typeface="楷体"/>
              </a:rPr>
              <a:t>招牌招式 · 横看碱金属(金属性增)、纵看卤素(非金属性减)，方向正相反，抓结构本质。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难点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28016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本课难点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03120"/>
            <a:ext cx="3393338" cy="402336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68680" y="2331720"/>
            <a:ext cx="502920" cy="50292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377440"/>
            <a:ext cx="5029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08760" y="2331720"/>
            <a:ext cx="234177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递变方向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063240"/>
            <a:ext cx="2844698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原因：金属性(碱金属)与非金属性(卤素)递变方向相反，易记反。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99178" y="2103120"/>
            <a:ext cx="3393338" cy="402336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627778" y="2331720"/>
            <a:ext cx="502920" cy="50292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27778" y="2377440"/>
            <a:ext cx="5029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267858" y="2331720"/>
            <a:ext cx="234177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本质解释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73498" y="3063240"/>
            <a:ext cx="2844698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原因：半径与核对外层电子引力关系抽象，需结构入手。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58276" y="2103120"/>
            <a:ext cx="3393338" cy="402336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386876" y="2331720"/>
            <a:ext cx="502920" cy="502920"/>
          </a:xfrm>
          <a:prstGeom prst="ellipse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86876" y="2377440"/>
            <a:ext cx="5029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26956" y="2331720"/>
            <a:ext cx="234177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氢化物稳定性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32596" y="3063240"/>
            <a:ext cx="2844698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原因：非金属性越强HX越稳，F→I递减，易混。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板书精华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28016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板书精华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011680"/>
            <a:ext cx="10911535" cy="4206240"/>
          </a:xfrm>
          <a:prstGeom prst="roundRect">
            <a:avLst/>
          </a:prstGeom>
          <a:solidFill>
            <a:srgbClr val="1C2A33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40280"/>
            <a:ext cx="10180015" cy="37490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1800" b="1">
                <a:solidFill>
                  <a:srgbClr val="C8A86B"/>
                </a:solidFill>
                <a:latin typeface="楷体"/>
                <a:ea typeface="楷体"/>
                <a:cs typeface="楷体"/>
              </a:rPr>
              <a:t>同主族递变</a:t>
            </a:r>
          </a:p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碱金属ⅠA:</a:t>
            </a:r>
          </a:p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金性 Li&lt;Na&lt;K</a:t>
            </a:r>
          </a:p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(下强)</a:t>
            </a:r>
          </a:p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卤素ⅦA:</a:t>
            </a:r>
          </a:p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非金性 F&gt;Cl&gt;I</a:t>
            </a:r>
          </a:p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(下弱)</a:t>
            </a:r>
          </a:p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本质:半径↑→</a:t>
            </a:r>
          </a:p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引力↓</a:t>
            </a:r>
          </a:p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金属↑非金↓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28016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基础 · 提升 · 拓展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03120"/>
            <a:ext cx="5272887" cy="30175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2103120"/>
            <a:ext cx="5272887" cy="50292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194560"/>
            <a:ext cx="5272887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基础 · 必做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834640"/>
            <a:ext cx="4724247" cy="2103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1. 碱金属自上而下金属性如何变化？说明理由。2. 比较F2、Cl2、Br2、I2与H2反应的难易及氢化物稳定性。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78727" y="2103120"/>
            <a:ext cx="5272887" cy="30175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78727" y="2103120"/>
            <a:ext cx="5272887" cy="50292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78727" y="2194560"/>
            <a:ext cx="5272887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提升 · 选做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53047" y="2834640"/>
            <a:ext cx="4724247" cy="2103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为什么同主族元素化学性质既相似又有递变？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5349240"/>
            <a:ext cx="10911535" cy="960120"/>
          </a:xfrm>
          <a:prstGeom prst="roundRect">
            <a:avLst/>
          </a:prstGeom>
          <a:solidFill>
            <a:srgbClr val="1C2A33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5458968"/>
            <a:ext cx="1036289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350" b="0">
                <a:solidFill>
                  <a:srgbClr val="FFFFFF"/>
                </a:solidFill>
                <a:latin typeface="楷体"/>
                <a:ea typeface="楷体"/>
                <a:cs typeface="楷体"/>
              </a:rPr>
              <a:t>拓展衔接：下节课元素周期律(横行左右递变)。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单元小结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28016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第4单元 · 物质结构 元素周期律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011680"/>
            <a:ext cx="522716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楷体"/>
                <a:ea typeface="楷体"/>
                <a:cs typeface="楷体"/>
              </a:rPr>
              <a:t>本课要点回顾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514599"/>
            <a:ext cx="5227167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1000"/>
              </a:spcAft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· ① 碱金属(ⅠA)：Li→Cs半径↑、失e-易、金属性↑；与H2O反应更剧烈。</a:t>
            </a:r>
          </a:p>
          <a:p>
            <a:pPr algn="l">
              <a:lnSpc>
                <a:spcPct val="145000"/>
              </a:lnSpc>
              <a:spcAft>
                <a:spcPts val="1000"/>
              </a:spcAft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· ② 卤族(ⅦA)：F→I半径↑、得e-难、非金属性↓；与H2反应渐难、HX渐不稳。</a:t>
            </a:r>
          </a:p>
          <a:p>
            <a:pPr algn="l">
              <a:lnSpc>
                <a:spcPct val="145000"/>
              </a:lnSpc>
              <a:spcAft>
                <a:spcPts val="1000"/>
              </a:spcAft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· ③ 本质：电子层数↑→原子半径↑→引力↓→失e-易/得e-难。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24447" y="2011680"/>
            <a:ext cx="5227167" cy="4114800"/>
          </a:xfrm>
          <a:prstGeom prst="roundRect">
            <a:avLst/>
          </a:prstGeom>
          <a:solidFill>
            <a:srgbClr val="1C2A33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98767" y="2194560"/>
            <a:ext cx="4678527" cy="37490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1">
                <a:solidFill>
                  <a:srgbClr val="C8A86B"/>
                </a:solidFill>
                <a:latin typeface="楷体"/>
                <a:ea typeface="楷体"/>
                <a:cs typeface="楷体"/>
              </a:rPr>
              <a:t>单元主线</a:t>
            </a:r>
          </a:p>
          <a:p>
            <a:pPr algn="l">
              <a:spcAft>
                <a:spcPts val="800"/>
              </a:spcAft>
            </a:pPr>
            <a:r>
              <a:rPr sz="1500" b="1">
                <a:solidFill>
                  <a:srgbClr val="FFFFFF"/>
                </a:solidFill>
                <a:latin typeface="楷体"/>
                <a:ea typeface="楷体"/>
                <a:cs typeface="楷体"/>
              </a:rPr>
              <a:t>物质结构 元素周期律</a:t>
            </a:r>
          </a:p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300" b="0">
                <a:solidFill>
                  <a:srgbClr val="E7DFD2"/>
                </a:solidFill>
                <a:latin typeface="楷体"/>
                <a:ea typeface="楷体"/>
                <a:cs typeface="楷体"/>
              </a:rPr>
              <a:t>本课为第3课时，是单元知识链的一环。</a:t>
            </a:r>
          </a:p>
          <a:p>
            <a:pPr algn="l">
              <a:spcAft>
                <a:spcPts val="600"/>
              </a:spcAft>
            </a:pPr>
            <a:r>
              <a:rPr sz="1500" b="1">
                <a:solidFill>
                  <a:srgbClr val="C8A86B"/>
                </a:solidFill>
                <a:latin typeface="楷体"/>
                <a:ea typeface="楷体"/>
                <a:cs typeface="楷体"/>
              </a:rPr>
              <a:t>拓展衔接</a:t>
            </a:r>
          </a:p>
          <a:p>
            <a:pPr algn="l">
              <a:lnSpc>
                <a:spcPct val="150000"/>
              </a:lnSpc>
            </a:pPr>
            <a:r>
              <a:rPr sz="1300" b="0">
                <a:solidFill>
                  <a:srgbClr val="FFFFFF"/>
                </a:solidFill>
                <a:latin typeface="楷体"/>
                <a:ea typeface="楷体"/>
                <a:cs typeface="楷体"/>
              </a:rPr>
              <a:t>下节课元素周期律(横行左右递变)。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