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10911535" cy="502920"/>
          </a:xfrm>
          <a:prstGeom prst="rect">
            <a:avLst/>
          </a:prstGeom>
          <a:noFill/>
        </p:spPr>
        <p:txBody>
          <a:bodyPr wrap="square" anchor="t" lIns="0" rIns="0" tIns="0" bIns="0">
            <a:spAutoFit/>
          </a:bodyPr>
          <a:lstStyle/>
          <a:p>
            <a:pPr algn="l">
              <a:spcAft>
                <a:spcPts val="0"/>
              </a:spcAft>
            </a:pPr>
            <a:r>
              <a:rPr sz="1200" b="1">
                <a:solidFill>
                  <a:srgbClr val="B23A2A"/>
                </a:solidFill>
                <a:latin typeface="微软雅黑"/>
                <a:ea typeface="微软雅黑"/>
                <a:cs typeface="微软雅黑"/>
              </a:rPr>
              <a:t>化学 · 选择性必修1 化学反应原理 · 第2单元 化学反应速率与化学平衡</a:t>
            </a:r>
          </a:p>
        </p:txBody>
      </p:sp>
      <p:sp>
        <p:nvSpPr>
          <p:cNvPr id="4" name="Rectangle 3"/>
          <p:cNvSpPr/>
          <p:nvPr/>
        </p:nvSpPr>
        <p:spPr>
          <a:xfrm>
            <a:off x="640080" y="1207008"/>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911535" cy="2011680"/>
          </a:xfrm>
          <a:prstGeom prst="rect">
            <a:avLst/>
          </a:prstGeom>
          <a:noFill/>
        </p:spPr>
        <p:txBody>
          <a:bodyPr wrap="square" anchor="t" lIns="0" rIns="0" tIns="0" bIns="0">
            <a:spAutoFit/>
          </a:bodyPr>
          <a:lstStyle/>
          <a:p>
            <a:pPr algn="l">
              <a:lnSpc>
                <a:spcPct val="115000"/>
              </a:lnSpc>
            </a:pPr>
            <a:r>
              <a:rPr sz="4000" b="1">
                <a:solidFill>
                  <a:srgbClr val="1C2A33"/>
                </a:solidFill>
                <a:latin typeface="楷体"/>
                <a:ea typeface="楷体"/>
                <a:cs typeface="楷体"/>
              </a:rPr>
              <a:t>化学平衡常数</a:t>
            </a:r>
          </a:p>
        </p:txBody>
      </p:sp>
      <p:sp>
        <p:nvSpPr>
          <p:cNvPr id="6" name="TextBox 5"/>
          <p:cNvSpPr txBox="1"/>
          <p:nvPr/>
        </p:nvSpPr>
        <p:spPr>
          <a:xfrm>
            <a:off x="640080" y="3840480"/>
            <a:ext cx="10911535" cy="457200"/>
          </a:xfrm>
          <a:prstGeom prst="rect">
            <a:avLst/>
          </a:prstGeom>
          <a:noFill/>
        </p:spPr>
        <p:txBody>
          <a:bodyPr wrap="square" anchor="t" lIns="0" rIns="0" tIns="0" bIns="0">
            <a:spAutoFit/>
          </a:bodyPr>
          <a:lstStyle/>
          <a:p>
            <a:pPr algn="l"/>
            <a:r>
              <a:rPr sz="1700" b="1">
                <a:solidFill>
                  <a:srgbClr val="B23A2A"/>
                </a:solidFill>
                <a:latin typeface="微软雅黑"/>
                <a:ea typeface="微软雅黑"/>
                <a:cs typeface="微软雅黑"/>
              </a:rPr>
              <a:t>新课  ·  第4课时  ·  45分钟</a:t>
            </a:r>
          </a:p>
        </p:txBody>
      </p:sp>
      <p:sp>
        <p:nvSpPr>
          <p:cNvPr id="7" name="Rectangle 6"/>
          <p:cNvSpPr/>
          <p:nvPr/>
        </p:nvSpPr>
        <p:spPr>
          <a:xfrm>
            <a:off x="640080" y="5394960"/>
            <a:ext cx="2011680" cy="3302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623560"/>
            <a:ext cx="10911535" cy="548640"/>
          </a:xfrm>
          <a:prstGeom prst="rect">
            <a:avLst/>
          </a:prstGeom>
          <a:noFill/>
        </p:spPr>
        <p:txBody>
          <a:bodyPr wrap="square" anchor="t" lIns="0" rIns="0" tIns="0" bIns="0">
            <a:spAutoFit/>
          </a:bodyPr>
          <a:lstStyle/>
          <a:p>
            <a:pPr algn="l"/>
            <a:r>
              <a:rPr sz="1400" b="0">
                <a:solidFill>
                  <a:srgbClr val="6B6258"/>
                </a:solidFill>
                <a:latin typeface="微软雅黑"/>
                <a:ea typeface="微软雅黑"/>
                <a:cs typeface="微软雅黑"/>
              </a:rPr>
              <a:t>学习任务群：    |    年级：高二</a:t>
            </a:r>
          </a:p>
        </p:txBody>
      </p:sp>
      <p:sp>
        <p:nvSpPr>
          <p:cNvPr id="9" name="TextBox 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学习目标</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宏观辨识与微观探析：正确书写化学平衡常数K的表达式。</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变化观念与平衡思想：认识K只随温度改变，体现平衡的热依赖性。</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证据推理与模型认知：用浓度商Q与K比较判断反应进行方向。</a:t>
            </a:r>
          </a:p>
        </p:txBody>
      </p:sp>
      <p:sp>
        <p:nvSpPr>
          <p:cNvPr id="20" name="Rounded Rectangle 19"/>
          <p:cNvSpPr/>
          <p:nvPr/>
        </p:nvSpPr>
        <p:spPr>
          <a:xfrm>
            <a:off x="626364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2823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3" name="TextBox 22"/>
          <p:cNvSpPr txBox="1"/>
          <p:nvPr/>
        </p:nvSpPr>
        <p:spPr>
          <a:xfrm>
            <a:off x="699516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目标</a:t>
            </a:r>
          </a:p>
        </p:txBody>
      </p:sp>
      <p:sp>
        <p:nvSpPr>
          <p:cNvPr id="24" name="TextBox 23"/>
          <p:cNvSpPr txBox="1"/>
          <p:nvPr/>
        </p:nvSpPr>
        <p:spPr>
          <a:xfrm>
            <a:off x="699516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科学探究与创新意识：通过实验数据计算K，体会定量化。</a:t>
            </a:r>
          </a:p>
        </p:txBody>
      </p:sp>
      <p:sp>
        <p:nvSpPr>
          <p:cNvPr id="25" name="TextBox 24"/>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课文背景</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08760"/>
            <a:ext cx="6766560" cy="4572000"/>
          </a:xfrm>
          <a:prstGeom prst="rect">
            <a:avLst/>
          </a:prstGeom>
          <a:noFill/>
        </p:spPr>
        <p:txBody>
          <a:bodyPr wrap="square" anchor="t" lIns="0" rIns="0" tIns="0" bIns="0">
            <a:spAutoFit/>
          </a:bodyPr>
          <a:lstStyle/>
          <a:p>
            <a:pPr algn="l">
              <a:lnSpc>
                <a:spcPct val="150000"/>
              </a:lnSpc>
              <a:spcAft>
                <a:spcPts val="600"/>
              </a:spcAft>
            </a:pPr>
            <a:r>
              <a:rPr sz="1600" b="0">
                <a:solidFill>
                  <a:srgbClr val="1C2A33"/>
                </a:solidFill>
                <a:latin typeface="楷体"/>
                <a:ea typeface="楷体"/>
                <a:cs typeface="楷体"/>
              </a:rPr>
              <a:t>一定温度下，可逆反应达平衡时生成物浓度幂之积与反应物浓度幂之积的比为常数K(浓度幂=化学计量数)。纯固体、纯液体不写入K。K只与温度有关。用浓度商Q与K比较判断反应方向(Q&lt;K正向，Q=K平衡，Q&gt;K逆向)。</a:t>
            </a:r>
          </a:p>
        </p:txBody>
      </p:sp>
      <p:pic>
        <p:nvPicPr>
          <p:cNvPr id="6" name="Picture 5" descr="craft.jpg"/>
          <p:cNvPicPr>
            <a:picLocks noChangeAspect="1"/>
          </p:cNvPicPr>
          <p:nvPr/>
        </p:nvPicPr>
        <p:blipFill>
          <a:blip r:embed="rId2"/>
          <a:srcRect l="368" r="368"/>
          <a:stretch>
            <a:fillRect/>
          </a:stretch>
        </p:blipFill>
        <p:spPr>
          <a:xfrm>
            <a:off x="8046720" y="1508760"/>
            <a:ext cx="4114800" cy="3108960"/>
          </a:xfrm>
          <a:prstGeom prst="rect">
            <a:avLst/>
          </a:prstGeom>
        </p:spPr>
      </p:pic>
      <p:sp>
        <p:nvSpPr>
          <p:cNvPr id="7" name="TextBox 6"/>
          <p:cNvSpPr txBox="1"/>
          <p:nvPr/>
        </p:nvSpPr>
        <p:spPr>
          <a:xfrm>
            <a:off x="8046720" y="4663440"/>
            <a:ext cx="4114800" cy="365760"/>
          </a:xfrm>
          <a:prstGeom prst="rect">
            <a:avLst/>
          </a:prstGeom>
          <a:noFill/>
        </p:spPr>
        <p:txBody>
          <a:bodyPr wrap="square" anchor="t" lIns="0" rIns="0" tIns="0" bIns="0">
            <a:spAutoFit/>
          </a:bodyPr>
          <a:lstStyle/>
          <a:p>
            <a:pPr algn="ctr"/>
            <a:r>
              <a:rPr sz="1100" b="0">
                <a:solidFill>
                  <a:srgbClr val="6B6258"/>
                </a:solidFill>
                <a:latin typeface="微软雅黑"/>
                <a:ea typeface="微软雅黑"/>
                <a:cs typeface="微软雅黑"/>
              </a:rPr>
              <a:t>资料图（自由授权，复用 craft.jpg）</a:t>
            </a:r>
          </a:p>
        </p:txBody>
      </p:sp>
      <p:sp>
        <p:nvSpPr>
          <p:cNvPr id="8" name="TextBox 7"/>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学习重点</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4813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2024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① K=生成物幂积/反应物幂积(幂=系数)。</a:t>
            </a:r>
          </a:p>
        </p:txBody>
      </p:sp>
      <p:sp>
        <p:nvSpPr>
          <p:cNvPr id="8" name="Rounded Rectangle 7"/>
          <p:cNvSpPr/>
          <p:nvPr/>
        </p:nvSpPr>
        <p:spPr>
          <a:xfrm>
            <a:off x="640080" y="265176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76148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20040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② 纯固体、纯液体不写入K。</a:t>
            </a:r>
          </a:p>
        </p:txBody>
      </p:sp>
      <p:sp>
        <p:nvSpPr>
          <p:cNvPr id="11" name="Rounded Rectangle 10"/>
          <p:cNvSpPr/>
          <p:nvPr/>
        </p:nvSpPr>
        <p:spPr>
          <a:xfrm>
            <a:off x="640080" y="393192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0416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3" name="TextBox 12"/>
          <p:cNvSpPr txBox="1"/>
          <p:nvPr/>
        </p:nvSpPr>
        <p:spPr>
          <a:xfrm>
            <a:off x="1371600" y="448056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③ K只与温度有关(与浓度、压强无关)。</a:t>
            </a:r>
          </a:p>
        </p:txBody>
      </p:sp>
      <p:sp>
        <p:nvSpPr>
          <p:cNvPr id="14" name="Rounded Rectangle 13"/>
          <p:cNvSpPr/>
          <p:nvPr/>
        </p:nvSpPr>
        <p:spPr>
          <a:xfrm>
            <a:off x="640080" y="5212080"/>
            <a:ext cx="10911535" cy="1170432"/>
          </a:xfrm>
          <a:prstGeom prst="roundRect">
            <a:avLst/>
          </a:prstGeom>
          <a:solidFill>
            <a:srgbClr val="FFFFFF"/>
          </a:solidFill>
          <a:ln w="2286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532180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6" name="TextBox 15"/>
          <p:cNvSpPr txBox="1"/>
          <p:nvPr/>
        </p:nvSpPr>
        <p:spPr>
          <a:xfrm>
            <a:off x="1371600" y="5760720"/>
            <a:ext cx="9997135" cy="530352"/>
          </a:xfrm>
          <a:prstGeom prst="rect">
            <a:avLst/>
          </a:prstGeom>
          <a:noFill/>
        </p:spPr>
        <p:txBody>
          <a:bodyPr wrap="square" anchor="t" lIns="0" rIns="0" tIns="0" bIns="0">
            <a:spAutoFit/>
          </a:bodyPr>
          <a:lstStyle/>
          <a:p>
            <a:pPr algn="l">
              <a:lnSpc>
                <a:spcPct val="128000"/>
              </a:lnSpc>
            </a:pPr>
            <a:r>
              <a:rPr sz="1300" b="0">
                <a:solidFill>
                  <a:srgbClr val="1C2A33"/>
                </a:solidFill>
                <a:latin typeface="楷体"/>
                <a:ea typeface="楷体"/>
                <a:cs typeface="楷体"/>
              </a:rPr>
              <a:t>④ Q与K：Q&lt;K正向，Q=K平衡，Q&gt;K逆向。</a:t>
            </a:r>
          </a:p>
        </p:txBody>
      </p:sp>
      <p:sp>
        <p:nvSpPr>
          <p:cNvPr id="17" name="TextBox 1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学习路径</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3716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361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910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1</a:t>
            </a:r>
          </a:p>
        </p:txBody>
      </p:sp>
      <p:sp>
        <p:nvSpPr>
          <p:cNvPr id="8" name="TextBox 7"/>
          <p:cNvSpPr txBox="1"/>
          <p:nvPr/>
        </p:nvSpPr>
        <p:spPr>
          <a:xfrm>
            <a:off x="1371600" y="14813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1 导入</a:t>
            </a:r>
          </a:p>
        </p:txBody>
      </p:sp>
      <p:sp>
        <p:nvSpPr>
          <p:cNvPr id="9" name="Rounded Rectangle 8"/>
          <p:cNvSpPr/>
          <p:nvPr/>
        </p:nvSpPr>
        <p:spPr>
          <a:xfrm>
            <a:off x="640080" y="219456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235915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41401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2</a:t>
            </a:r>
          </a:p>
        </p:txBody>
      </p:sp>
      <p:sp>
        <p:nvSpPr>
          <p:cNvPr id="12" name="TextBox 11"/>
          <p:cNvSpPr txBox="1"/>
          <p:nvPr/>
        </p:nvSpPr>
        <p:spPr>
          <a:xfrm>
            <a:off x="1371600" y="230428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2 表达式</a:t>
            </a:r>
          </a:p>
        </p:txBody>
      </p:sp>
      <p:sp>
        <p:nvSpPr>
          <p:cNvPr id="13" name="Rounded Rectangle 12"/>
          <p:cNvSpPr/>
          <p:nvPr/>
        </p:nvSpPr>
        <p:spPr>
          <a:xfrm>
            <a:off x="640080" y="301752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318211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2369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3</a:t>
            </a:r>
          </a:p>
        </p:txBody>
      </p:sp>
      <p:sp>
        <p:nvSpPr>
          <p:cNvPr id="16" name="TextBox 15"/>
          <p:cNvSpPr txBox="1"/>
          <p:nvPr/>
        </p:nvSpPr>
        <p:spPr>
          <a:xfrm>
            <a:off x="1371600" y="312724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3 纯相不写</a:t>
            </a:r>
          </a:p>
        </p:txBody>
      </p:sp>
      <p:sp>
        <p:nvSpPr>
          <p:cNvPr id="17" name="Rounded Rectangle 16"/>
          <p:cNvSpPr/>
          <p:nvPr/>
        </p:nvSpPr>
        <p:spPr>
          <a:xfrm>
            <a:off x="640080" y="384048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00507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05993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4</a:t>
            </a:r>
          </a:p>
        </p:txBody>
      </p:sp>
      <p:sp>
        <p:nvSpPr>
          <p:cNvPr id="20" name="TextBox 19"/>
          <p:cNvSpPr txBox="1"/>
          <p:nvPr/>
        </p:nvSpPr>
        <p:spPr>
          <a:xfrm>
            <a:off x="1371600" y="395020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4 K与温度</a:t>
            </a:r>
          </a:p>
        </p:txBody>
      </p:sp>
      <p:sp>
        <p:nvSpPr>
          <p:cNvPr id="21" name="Rounded Rectangle 20"/>
          <p:cNvSpPr/>
          <p:nvPr/>
        </p:nvSpPr>
        <p:spPr>
          <a:xfrm>
            <a:off x="640080" y="466344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04672" y="482803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88289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5</a:t>
            </a:r>
          </a:p>
        </p:txBody>
      </p:sp>
      <p:sp>
        <p:nvSpPr>
          <p:cNvPr id="24" name="TextBox 23"/>
          <p:cNvSpPr txBox="1"/>
          <p:nvPr/>
        </p:nvSpPr>
        <p:spPr>
          <a:xfrm>
            <a:off x="1371600" y="477316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5 Q与K</a:t>
            </a:r>
          </a:p>
        </p:txBody>
      </p:sp>
      <p:sp>
        <p:nvSpPr>
          <p:cNvPr id="25" name="Rounded Rectangle 24"/>
          <p:cNvSpPr/>
          <p:nvPr/>
        </p:nvSpPr>
        <p:spPr>
          <a:xfrm>
            <a:off x="640080" y="5486400"/>
            <a:ext cx="10911535" cy="68580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5650992"/>
            <a:ext cx="457200" cy="457200"/>
          </a:xfrm>
          <a:prstGeom prst="ellipse">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570585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6</a:t>
            </a:r>
          </a:p>
        </p:txBody>
      </p:sp>
      <p:sp>
        <p:nvSpPr>
          <p:cNvPr id="28" name="TextBox 27"/>
          <p:cNvSpPr txBox="1"/>
          <p:nvPr/>
        </p:nvSpPr>
        <p:spPr>
          <a:xfrm>
            <a:off x="1371600" y="5596128"/>
            <a:ext cx="9997135" cy="484632"/>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Step 6 练习+作业</a:t>
            </a:r>
          </a:p>
        </p:txBody>
      </p:sp>
      <p:sp>
        <p:nvSpPr>
          <p:cNvPr id="29" name="TextBox 28"/>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B23A2A"/>
                </a:solidFill>
                <a:latin typeface="微软雅黑"/>
                <a:ea typeface="微软雅黑"/>
                <a:cs typeface="微软雅黑"/>
              </a:rPr>
              <a:t>易混易错</a:t>
            </a:r>
          </a:p>
        </p:txBody>
      </p:sp>
      <p:sp>
        <p:nvSpPr>
          <p:cNvPr id="4" name="Rectangle 3"/>
          <p:cNvSpPr/>
          <p:nvPr/>
        </p:nvSpPr>
        <p:spPr>
          <a:xfrm>
            <a:off x="640080" y="1097280"/>
            <a:ext cx="822960" cy="30480"/>
          </a:xfrm>
          <a:prstGeom prst="rect">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8" name="TextBox 7"/>
          <p:cNvSpPr txBox="1"/>
          <p:nvPr/>
        </p:nvSpPr>
        <p:spPr>
          <a:xfrm>
            <a:off x="137160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9" name="TextBox 8"/>
          <p:cNvSpPr txBox="1"/>
          <p:nvPr/>
        </p:nvSpPr>
        <p:spPr>
          <a:xfrm>
            <a:off x="137160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① 不写纯相。原因：纯固体/液体"浓度"视为常数不写入K，易误写。</a:t>
            </a:r>
          </a:p>
        </p:txBody>
      </p:sp>
      <p:sp>
        <p:nvSpPr>
          <p:cNvPr id="10" name="Rounded Rectangle 9"/>
          <p:cNvSpPr/>
          <p:nvPr/>
        </p:nvSpPr>
        <p:spPr>
          <a:xfrm>
            <a:off x="6263640" y="1417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28232" y="1581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636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3" name="TextBox 12"/>
          <p:cNvSpPr txBox="1"/>
          <p:nvPr/>
        </p:nvSpPr>
        <p:spPr>
          <a:xfrm>
            <a:off x="6995160" y="1527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4" name="TextBox 13"/>
          <p:cNvSpPr txBox="1"/>
          <p:nvPr/>
        </p:nvSpPr>
        <p:spPr>
          <a:xfrm>
            <a:off x="6995160" y="1965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② K只随T。原因：K与浓度、压强无关，只随温度变化(吸热升温K大)，易错。</a:t>
            </a:r>
          </a:p>
        </p:txBody>
      </p:sp>
      <p:sp>
        <p:nvSpPr>
          <p:cNvPr id="15" name="Rounded Rectangle 14"/>
          <p:cNvSpPr/>
          <p:nvPr/>
        </p:nvSpPr>
        <p:spPr>
          <a:xfrm>
            <a:off x="640080" y="3703320"/>
            <a:ext cx="5349240" cy="2057400"/>
          </a:xfrm>
          <a:prstGeom prst="roundRect">
            <a:avLst/>
          </a:prstGeom>
          <a:solidFill>
            <a:srgbClr val="FFFFFF"/>
          </a:solidFill>
          <a:ln w="22860">
            <a:solidFill>
              <a:srgbClr val="B23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4672" y="3867912"/>
            <a:ext cx="457200" cy="457200"/>
          </a:xfrm>
          <a:prstGeom prst="ellipse">
            <a:avLst/>
          </a:prstGeom>
          <a:solidFill>
            <a:srgbClr val="B23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3922776"/>
            <a:ext cx="457200" cy="384048"/>
          </a:xfrm>
          <a:prstGeom prst="rect">
            <a:avLst/>
          </a:prstGeom>
          <a:noFill/>
        </p:spPr>
        <p:txBody>
          <a:bodyPr wrap="square" anchor="t" lIns="0" rIns="0" tIns="0" bIns="0">
            <a:spAutoFit/>
          </a:bodyPr>
          <a:lstStyle/>
          <a:p>
            <a:pPr algn="ctr"/>
            <a:r>
              <a:rPr sz="1600" b="1">
                <a:solidFill>
                  <a:srgbClr val="FFFFFF"/>
                </a:solidFill>
                <a:latin typeface="微软雅黑"/>
                <a:ea typeface="微软雅黑"/>
                <a:cs typeface="微软雅黑"/>
              </a:rPr>
              <a:t>!</a:t>
            </a:r>
          </a:p>
        </p:txBody>
      </p:sp>
      <p:sp>
        <p:nvSpPr>
          <p:cNvPr id="18" name="TextBox 17"/>
          <p:cNvSpPr txBox="1"/>
          <p:nvPr/>
        </p:nvSpPr>
        <p:spPr>
          <a:xfrm>
            <a:off x="1371600" y="3813048"/>
            <a:ext cx="4434840"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9" name="TextBox 18"/>
          <p:cNvSpPr txBox="1"/>
          <p:nvPr/>
        </p:nvSpPr>
        <p:spPr>
          <a:xfrm>
            <a:off x="1371600" y="4251960"/>
            <a:ext cx="4434840" cy="141732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③ Q判方向。原因：Q&lt;K正向、Q&gt;K逆向，方向易记反。</a:t>
            </a:r>
          </a:p>
        </p:txBody>
      </p:sp>
      <p:sp>
        <p:nvSpPr>
          <p:cNvPr id="20" name="TextBox 19"/>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要点板书</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5394960"/>
          </a:xfrm>
          <a:prstGeom prst="roundRect">
            <a:avLst/>
          </a:prstGeom>
          <a:solidFill>
            <a:srgbClr val="FFFFFF"/>
          </a:solidFill>
          <a:ln w="25400">
            <a:solidFill>
              <a:srgbClr val="C8A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62895" cy="5120640"/>
          </a:xfrm>
          <a:prstGeom prst="rect">
            <a:avLst/>
          </a:prstGeom>
          <a:noFill/>
        </p:spPr>
        <p:txBody>
          <a:bodyPr wrap="square" anchor="t" lIns="0" rIns="0" tIns="0" bIns="0">
            <a:spAutoFit/>
          </a:bodyPr>
          <a:lstStyle/>
          <a:p>
            <a:pPr algn="l">
              <a:lnSpc>
                <a:spcPct val="110000"/>
              </a:lnSpc>
              <a:spcAft>
                <a:spcPts val="100"/>
              </a:spcAft>
            </a:pPr>
            <a:r>
              <a:rPr sz="1300" b="0">
                <a:solidFill>
                  <a:srgbClr val="1C2A33"/>
                </a:solidFill>
                <a:latin typeface="微软雅黑"/>
                <a:ea typeface="微软雅黑"/>
                <a:cs typeface="微软雅黑"/>
              </a:rPr>
              <a:t>┌── 平衡常数K ──┐
│ K=产物幂/反应幂│
│ 幂=系数 │
│ 纯固液不写 │
│ K只随温度变 │
│ Q&lt;K正向 │
│ Q=K平衡 │
│ Q&gt;K逆向 │
└────────────────┘</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2E7D6B"/>
                </a:solidFill>
                <a:latin typeface="微软雅黑"/>
                <a:ea typeface="微软雅黑"/>
                <a:cs typeface="微软雅黑"/>
              </a:rPr>
              <a:t>分层作业</a:t>
            </a:r>
          </a:p>
        </p:txBody>
      </p:sp>
      <p:sp>
        <p:nvSpPr>
          <p:cNvPr id="4" name="Rectangle 3"/>
          <p:cNvSpPr/>
          <p:nvPr/>
        </p:nvSpPr>
        <p:spPr>
          <a:xfrm>
            <a:off x="640080" y="1097280"/>
            <a:ext cx="822960" cy="30480"/>
          </a:xfrm>
          <a:prstGeom prst="rect">
            <a:avLst/>
          </a:prstGeom>
          <a:solidFill>
            <a:srgbClr val="2E7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152704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7" name="TextBox 6"/>
          <p:cNvSpPr txBox="1"/>
          <p:nvPr/>
        </p:nvSpPr>
        <p:spPr>
          <a:xfrm>
            <a:off x="1371600" y="1965960"/>
            <a:ext cx="9997135" cy="777240"/>
          </a:xfrm>
          <a:prstGeom prst="rect">
            <a:avLst/>
          </a:prstGeom>
          <a:noFill/>
        </p:spPr>
        <p:txBody>
          <a:bodyPr wrap="square" anchor="t" lIns="0" rIns="0" tIns="0" bIns="0">
            <a:spAutoFit/>
          </a:bodyPr>
          <a:lstStyle/>
          <a:p>
            <a:pPr algn="l">
              <a:lnSpc>
                <a:spcPct val="128000"/>
              </a:lnSpc>
            </a:pPr>
            <a:r>
              <a:rPr sz="1100" b="0">
                <a:solidFill>
                  <a:srgbClr val="1C2A33"/>
                </a:solidFill>
                <a:latin typeface="楷体"/>
                <a:ea typeface="楷体"/>
                <a:cs typeface="楷体"/>
              </a:rPr>
              <a:t>【基础作业】1. 书写反应Fe3O4(s)+4H2(g)⇌3Fe(s)+4H2O(g)的平衡常数表达式。2. K受哪些因素影响？3. 若Q&gt;K，反应向哪个方向进行？</a:t>
            </a:r>
          </a:p>
        </p:txBody>
      </p:sp>
      <p:sp>
        <p:nvSpPr>
          <p:cNvPr id="8" name="Rounded Rectangle 7"/>
          <p:cNvSpPr/>
          <p:nvPr/>
        </p:nvSpPr>
        <p:spPr>
          <a:xfrm>
            <a:off x="640080" y="2971800"/>
            <a:ext cx="10911535" cy="1417320"/>
          </a:xfrm>
          <a:prstGeom prst="roundRect">
            <a:avLst/>
          </a:prstGeom>
          <a:solidFill>
            <a:srgbClr val="FFFFFF"/>
          </a:solidFill>
          <a:ln w="22860">
            <a:solidFill>
              <a:srgbClr val="2E7D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3081528"/>
            <a:ext cx="9997135" cy="457200"/>
          </a:xfrm>
          <a:prstGeom prst="rect">
            <a:avLst/>
          </a:prstGeom>
          <a:noFill/>
        </p:spPr>
        <p:txBody>
          <a:bodyPr wrap="square" anchor="t" lIns="0" rIns="0" tIns="0" bIns="0">
            <a:spAutoFit/>
          </a:bodyPr>
          <a:lstStyle/>
          <a:p>
            <a:pPr algn="l">
              <a:lnSpc>
                <a:spcPct val="110000"/>
              </a:lnSpc>
            </a:pPr>
            <a:r>
              <a:rPr sz="1600" b="1">
                <a:solidFill>
                  <a:srgbClr val="1C2A33"/>
                </a:solidFill>
                <a:latin typeface="微软雅黑"/>
                <a:ea typeface="微软雅黑"/>
                <a:cs typeface="微软雅黑"/>
              </a:rPr>
              <a:t/>
            </a:r>
          </a:p>
        </p:txBody>
      </p:sp>
      <p:sp>
        <p:nvSpPr>
          <p:cNvPr id="10" name="TextBox 9"/>
          <p:cNvSpPr txBox="1"/>
          <p:nvPr/>
        </p:nvSpPr>
        <p:spPr>
          <a:xfrm>
            <a:off x="1371600" y="3520440"/>
            <a:ext cx="9997135" cy="777240"/>
          </a:xfrm>
          <a:prstGeom prst="rect">
            <a:avLst/>
          </a:prstGeom>
          <a:noFill/>
        </p:spPr>
        <p:txBody>
          <a:bodyPr wrap="square" anchor="t" lIns="0" rIns="0" tIns="0" bIns="0">
            <a:spAutoFit/>
          </a:bodyPr>
          <a:lstStyle/>
          <a:p>
            <a:pPr algn="l">
              <a:lnSpc>
                <a:spcPct val="128000"/>
              </a:lnSpc>
            </a:pPr>
            <a:r>
              <a:rPr sz="1400" b="0">
                <a:solidFill>
                  <a:srgbClr val="1C2A33"/>
                </a:solidFill>
                <a:latin typeface="楷体"/>
                <a:ea typeface="楷体"/>
                <a:cs typeface="楷体"/>
              </a:rPr>
              <a:t>【提高作业】对于吸热反应，升高温度后K如何变化？平衡向哪个方向移动？</a:t>
            </a:r>
          </a:p>
        </p:txBody>
      </p:sp>
      <p:sp>
        <p:nvSpPr>
          <p:cNvPr id="11" name="TextBox 10"/>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40080"/>
            <a:ext cx="6400800" cy="365760"/>
          </a:xfrm>
          <a:prstGeom prst="rect">
            <a:avLst/>
          </a:prstGeom>
          <a:noFill/>
        </p:spPr>
        <p:txBody>
          <a:bodyPr wrap="square" anchor="t" lIns="0" rIns="0" tIns="0" bIns="0">
            <a:spAutoFit/>
          </a:bodyPr>
          <a:lstStyle/>
          <a:p>
            <a:pPr algn="l">
              <a:spcAft>
                <a:spcPts val="0"/>
              </a:spcAft>
            </a:pPr>
            <a:r>
              <a:rPr sz="1300" b="1">
                <a:solidFill>
                  <a:srgbClr val="C8A86B"/>
                </a:solidFill>
                <a:latin typeface="微软雅黑"/>
                <a:ea typeface="微软雅黑"/>
                <a:cs typeface="微软雅黑"/>
              </a:rPr>
              <a:t>本课小结</a:t>
            </a:r>
          </a:p>
        </p:txBody>
      </p:sp>
      <p:sp>
        <p:nvSpPr>
          <p:cNvPr id="4" name="Rectangle 3"/>
          <p:cNvSpPr/>
          <p:nvPr/>
        </p:nvSpPr>
        <p:spPr>
          <a:xfrm>
            <a:off x="640080" y="1097280"/>
            <a:ext cx="822960" cy="3048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37360"/>
            <a:ext cx="54864" cy="431800"/>
          </a:xfrm>
          <a:prstGeom prst="rect">
            <a:avLst/>
          </a:prstGeom>
          <a:solidFill>
            <a:srgbClr val="C8A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10682935" cy="2194560"/>
          </a:xfrm>
          <a:prstGeom prst="rect">
            <a:avLst/>
          </a:prstGeom>
          <a:noFill/>
        </p:spPr>
        <p:txBody>
          <a:bodyPr wrap="square" anchor="t" lIns="0" rIns="0" tIns="0" bIns="0">
            <a:spAutoFit/>
          </a:bodyPr>
          <a:lstStyle/>
          <a:p>
            <a:pPr algn="l">
              <a:lnSpc>
                <a:spcPct val="150000"/>
              </a:lnSpc>
              <a:spcAft>
                <a:spcPts val="1000"/>
              </a:spcAft>
            </a:pPr>
            <a:r>
              <a:rPr sz="2200" b="0">
                <a:solidFill>
                  <a:srgbClr val="1C2A33"/>
                </a:solidFill>
                <a:latin typeface="楷体"/>
                <a:ea typeface="楷体"/>
                <a:cs typeface="楷体"/>
              </a:rPr>
              <a:t>本单元主题：化学反应速率与化学平衡。把今天学到的方法带进下一篇——自己读、自己想、自己写。</a:t>
            </a:r>
          </a:p>
          <a:p>
            <a:pPr algn="l"/>
            <a:r>
              <a:rPr sz="1600" b="1">
                <a:solidFill>
                  <a:srgbClr val="B23A2A"/>
                </a:solidFill>
                <a:latin typeface="微软雅黑"/>
                <a:ea typeface="微软雅黑"/>
                <a:cs typeface="微软雅黑"/>
              </a:rPr>
              <a:t>方法迁移：圈关键信息 → 理事件脉络 → 析人物精神</a:t>
            </a:r>
          </a:p>
        </p:txBody>
      </p:sp>
      <p:sp>
        <p:nvSpPr>
          <p:cNvPr id="7" name="TextBox 6"/>
          <p:cNvSpPr txBox="1"/>
          <p:nvPr/>
        </p:nvSpPr>
        <p:spPr>
          <a:xfrm>
            <a:off x="11002975" y="6355080"/>
            <a:ext cx="731520" cy="320040"/>
          </a:xfrm>
          <a:prstGeom prst="rect">
            <a:avLst/>
          </a:prstGeom>
          <a:noFill/>
        </p:spPr>
        <p:txBody>
          <a:bodyPr wrap="square" anchor="t" lIns="0" rIns="0" tIns="0" bIns="0">
            <a:spAutoFit/>
          </a:bodyPr>
          <a:lstStyle/>
          <a:p>
            <a:pPr algn="r"/>
            <a:r>
              <a:rPr sz="1100" b="0">
                <a:solidFill>
                  <a:srgbClr val="6B6258"/>
                </a:solidFill>
                <a:latin typeface="微软雅黑"/>
                <a:ea typeface="微软雅黑"/>
                <a:cs typeface="微软雅黑"/>
              </a:rPr>
              <a:t>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