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194560"/>
          </a:xfrm>
          <a:prstGeom prst="rect">
            <a:avLst/>
          </a:prstGeom>
          <a:solidFill>
            <a:srgbClr val="1C2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457200"/>
            <a:ext cx="822960" cy="381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必修第二册 · 第7章 有机化合物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914400"/>
            <a:ext cx="112471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乙醇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E7DFD2"/>
                </a:solidFill>
                <a:latin typeface="微软雅黑"/>
                <a:ea typeface="微软雅黑"/>
                <a:cs typeface="微软雅黑"/>
              </a:rPr>
              <a:t>第3课 · 学生课堂版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743200"/>
            <a:ext cx="10911535" cy="2331720"/>
          </a:xfrm>
          <a:prstGeom prst="round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971800"/>
            <a:ext cx="101800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化学 · 有机与能量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657600"/>
            <a:ext cx="101800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E7DFD2"/>
                </a:solidFill>
                <a:latin typeface="楷体"/>
                <a:ea typeface="楷体"/>
                <a:cs typeface="楷体"/>
              </a:rPr>
              <a:t>本课件按规范以学科色块呈现，不套用无关配图。</a:t>
            </a:r>
          </a:p>
          <a:p>
            <a:pPr algn="l">
              <a:spcBef>
                <a:spcPts val="600"/>
              </a:spcBef>
            </a:pPr>
            <a:r>
              <a:rPr sz="13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本课件未使用无关配图（按规范以学科色块呈现）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四向学习目标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057400"/>
            <a:ext cx="5318607" cy="1874519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221992"/>
            <a:ext cx="4861407" cy="154533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宏观辨识与微观探析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30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描述乙醇的结构与主要化学性质。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33007" y="2057400"/>
            <a:ext cx="5318607" cy="1874519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1607" y="2221992"/>
            <a:ext cx="4861407" cy="154533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变化观念与平衡思想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30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认识羟基使乙醇可发生取代、氧化等转化。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206239"/>
            <a:ext cx="5318607" cy="1874519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370831"/>
            <a:ext cx="4861407" cy="154533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证据推理与模型认知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30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用断键分析解释乙醇与Na、催化氧化的反应。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4206239"/>
            <a:ext cx="5318607" cy="1874519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1607" y="4370831"/>
            <a:ext cx="4861407" cy="154533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科学探究与创新意识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30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通过实验探究乙醇与Na反应及催化氧化。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背景与权威调研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教材定位 · 权威来源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011680"/>
            <a:ext cx="5227167" cy="420624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48840"/>
            <a:ext cx="467852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教材分析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651760"/>
            <a:ext cx="4678527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乙醇CH3CH2OH含羟基(-OH)，是重要烃的含氧衍生物。性质：与Na反应放出H2(羟基氢活泼)、可燃、催化氧化成乙醛(2CH3CH2OH+O2→2CH3CHO+2H2O)、与乙酸酯化。认识羟基决定醇的性质。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24447" y="2011680"/>
            <a:ext cx="5227167" cy="4206240"/>
          </a:xfrm>
          <a:prstGeom prst="roundRect">
            <a:avLst/>
          </a:prstGeom>
          <a:solidFill>
            <a:srgbClr val="1C2A3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98767" y="2148840"/>
            <a:ext cx="467852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权威来源（已联网核实）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98767" y="2651760"/>
            <a:ext cx="4678527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· 中学化学教学资料：乙醇与钠 2CH₃CH₂OH+2Na→2CH₃CH₂ONa+H₂↑，较水缓和；催化氧化得乙醛。</a:t>
            </a:r>
          </a:p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· 人教版必修第二册 第七章：羟基(–OH)决定乙醇的主要化学性质。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943600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本课件未使用无关配图（按规范以学科色块呈现）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本课重点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057400"/>
            <a:ext cx="5318607" cy="1874519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221992"/>
            <a:ext cx="4861407" cy="154533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① 结构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35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CH3CH2OH(或C2H5OH)，官能团-OH。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33007" y="2057400"/>
            <a:ext cx="5318607" cy="1874519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1607" y="2221992"/>
            <a:ext cx="4861407" cy="154533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② 与Na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35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2CH3CH2OH+2Na→2CH3CH2ONa+H2↑(断O-H)。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206239"/>
            <a:ext cx="5318607" cy="1874519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370831"/>
            <a:ext cx="4861407" cy="154533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③ 催化氧化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35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2CH3CH2OH+O2→2CH3CHO+2H2O(Cu/Ag催化，断O-H与α-C-H)。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4206239"/>
            <a:ext cx="5318607" cy="1874519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1607" y="4370831"/>
            <a:ext cx="4861407" cy="154533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④ 可燃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35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CH3CH2OH+3O2→2CO2+3H2O。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学习方法建议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057400"/>
            <a:ext cx="5318607" cy="1874519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221992"/>
            <a:ext cx="4861407" cy="154533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实验(乙醇与Na)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30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重视实验现象，从观察中归纳物质性质。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33007" y="2057400"/>
            <a:ext cx="5318607" cy="1874519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1607" y="2221992"/>
            <a:ext cx="4861407" cy="154533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催化氧化演示(铜丝)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30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用「催化氧化演示(铜丝)」帮助理解与记忆。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206239"/>
            <a:ext cx="5318607" cy="1874519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370831"/>
            <a:ext cx="4861407" cy="154533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断键分析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30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用「断键分析」帮助理解与记忆。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4206239"/>
            <a:ext cx="5318607" cy="1874519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1607" y="4370831"/>
            <a:ext cx="4861407" cy="154533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结构式训练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30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用「结构式训练」帮助理解与记忆。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难点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易错与突破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03120"/>
            <a:ext cx="3393338" cy="36576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267712"/>
            <a:ext cx="2936138" cy="33284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与Na断键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25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原因：断裂O-H放出H2，非C-H；每2个-OH出1个H2，易错。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99178" y="2103120"/>
            <a:ext cx="3393338" cy="36576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27778" y="2267712"/>
            <a:ext cx="2936138" cy="33284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催化氧化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25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原因：产物是乙醛CH3CHO(非乙酸)，断O-H和α-H，易写错。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58276" y="2103120"/>
            <a:ext cx="3393338" cy="36576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86876" y="2267712"/>
            <a:ext cx="2936138" cy="33284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羟基活泼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25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原因：羟基氢比烃基氢活泼，决定与Na反应，需明辨。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板书精华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本课板书要点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20"/>
            <a:ext cx="10911535" cy="4160520"/>
          </a:xfrm>
          <a:prstGeom prst="roundRect">
            <a:avLst/>
          </a:prstGeom>
          <a:solidFill>
            <a:srgbClr val="1C2A3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03120"/>
            <a:ext cx="10180015" cy="37490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400"/>
              </a:spcAft>
            </a:pPr>
            <a:r>
              <a:rPr sz="1500" b="1">
                <a:solidFill>
                  <a:srgbClr val="C8A86B"/>
                </a:solidFill>
                <a:latin typeface="楷体"/>
                <a:ea typeface="楷体"/>
                <a:cs typeface="楷体"/>
              </a:rPr>
              <a:t>乙醇</a:t>
            </a:r>
          </a:p>
          <a:p>
            <a:pPr algn="l">
              <a:lnSpc>
                <a:spcPct val="150000"/>
              </a:lnSpc>
              <a:spcAft>
                <a:spcPts val="400"/>
              </a:spcAft>
            </a:pPr>
            <a:r>
              <a:rPr sz="150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CH3CH2OH</a:t>
            </a:r>
          </a:p>
          <a:p>
            <a:pPr algn="l">
              <a:lnSpc>
                <a:spcPct val="150000"/>
              </a:lnSpc>
              <a:spcAft>
                <a:spcPts val="400"/>
              </a:spcAft>
            </a:pPr>
            <a:r>
              <a:rPr sz="150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官能团-OH</a:t>
            </a:r>
          </a:p>
          <a:p>
            <a:pPr algn="l">
              <a:lnSpc>
                <a:spcPct val="150000"/>
              </a:lnSpc>
              <a:spcAft>
                <a:spcPts val="400"/>
              </a:spcAft>
            </a:pPr>
            <a:r>
              <a:rPr sz="150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2CH3CH2OH+2Na</a:t>
            </a:r>
          </a:p>
          <a:p>
            <a:pPr algn="l">
              <a:lnSpc>
                <a:spcPct val="150000"/>
              </a:lnSpc>
              <a:spcAft>
                <a:spcPts val="400"/>
              </a:spcAft>
            </a:pPr>
            <a:r>
              <a:rPr sz="150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=2CH3CH2ONa+</a:t>
            </a:r>
          </a:p>
          <a:p>
            <a:pPr algn="l">
              <a:lnSpc>
                <a:spcPct val="150000"/>
              </a:lnSpc>
              <a:spcAft>
                <a:spcPts val="400"/>
              </a:spcAft>
            </a:pPr>
            <a:r>
              <a:rPr sz="150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H2↑(断O-H)</a:t>
            </a:r>
          </a:p>
          <a:p>
            <a:pPr algn="l">
              <a:lnSpc>
                <a:spcPct val="150000"/>
              </a:lnSpc>
              <a:spcAft>
                <a:spcPts val="400"/>
              </a:spcAft>
            </a:pPr>
            <a:r>
              <a:rPr sz="150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2CH3CH2OH+O2</a:t>
            </a:r>
          </a:p>
          <a:p>
            <a:pPr algn="l">
              <a:lnSpc>
                <a:spcPct val="150000"/>
              </a:lnSpc>
              <a:spcAft>
                <a:spcPts val="400"/>
              </a:spcAft>
            </a:pPr>
            <a:r>
              <a:rPr sz="150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=2CH3CHO+2H2O</a:t>
            </a:r>
          </a:p>
          <a:p>
            <a:pPr algn="l">
              <a:lnSpc>
                <a:spcPct val="150000"/>
              </a:lnSpc>
              <a:spcAft>
                <a:spcPts val="400"/>
              </a:spcAft>
            </a:pPr>
            <a:r>
              <a:rPr sz="150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(Cu催化)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分层作业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03120"/>
            <a:ext cx="3393338" cy="32004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267712"/>
            <a:ext cx="2936138" cy="28712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基础 · 必做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25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1. 写出乙醇与金属钠反应的化学方程式。2. 乙醇催化氧化的产物是什么？写出方程式。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99178" y="2103120"/>
            <a:ext cx="3393338" cy="32004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27778" y="2267712"/>
            <a:ext cx="2936138" cy="28712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提高 · 选做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25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1 mol CH3CH2OH与足量Na反应，标准状况下生成多少升H2？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58276" y="2103120"/>
            <a:ext cx="3393338" cy="32004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86876" y="2267712"/>
            <a:ext cx="2936138" cy="28712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拓展 · 延伸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25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联系生活或后续课题，举一例说明本课知识的应用。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5440680"/>
            <a:ext cx="10911535" cy="914400"/>
          </a:xfrm>
          <a:prstGeom prst="roundRect">
            <a:avLst/>
          </a:prstGeom>
          <a:solidFill>
            <a:srgbClr val="E7DFD2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14400" y="5650992"/>
            <a:ext cx="54864" cy="27940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5532120"/>
            <a:ext cx="1008857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本单元主线：有机化合物 —— 乙醇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单元小结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本课收束与衔接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011680"/>
            <a:ext cx="10911535" cy="4206240"/>
          </a:xfrm>
          <a:prstGeom prst="roundRect">
            <a:avLst/>
          </a:prstGeom>
          <a:solidFill>
            <a:srgbClr val="1C2A3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86000"/>
            <a:ext cx="10180015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● 所在单元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4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   必修第二册 · 第7章 有机化合物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● ① 结构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4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   CH3CH2OH(或C2H5OH)，官能团-OH。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● ② 与Na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4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   2CH3CH2OH+2Na→2CH3CH2ONa+H2↑(断O-H)。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● 下节课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4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   下节课乙酸与酯化反应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