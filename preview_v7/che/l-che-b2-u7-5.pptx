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194560"/>
          </a:xfrm>
          <a:prstGeom prst="rect">
            <a:avLst/>
          </a:prstGeom>
          <a:solidFill>
            <a:srgbClr val="1C2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457200"/>
            <a:ext cx="822960" cy="381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必修第二册 · 第7章 有机化合物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914400"/>
            <a:ext cx="112471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楷体"/>
                <a:ea typeface="楷体"/>
                <a:cs typeface="楷体"/>
              </a:rPr>
              <a:t>基本营养物质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28800"/>
            <a:ext cx="109115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E7DFD2"/>
                </a:solidFill>
                <a:latin typeface="微软雅黑"/>
                <a:ea typeface="微软雅黑"/>
                <a:cs typeface="微软雅黑"/>
              </a:rPr>
              <a:t>第5课 · 学生课堂版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743200"/>
            <a:ext cx="10911535" cy="2331720"/>
          </a:xfrm>
          <a:prstGeom prst="round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971800"/>
            <a:ext cx="101800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楷体"/>
                <a:ea typeface="楷体"/>
                <a:cs typeface="楷体"/>
              </a:rPr>
              <a:t>化学 · 有机与能量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657600"/>
            <a:ext cx="101800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E7DFD2"/>
                </a:solidFill>
                <a:latin typeface="楷体"/>
                <a:ea typeface="楷体"/>
                <a:cs typeface="楷体"/>
              </a:rPr>
              <a:t>本课件按规范以学科色块呈现，不套用无关配图。</a:t>
            </a:r>
          </a:p>
          <a:p>
            <a:pPr algn="l">
              <a:spcBef>
                <a:spcPts val="600"/>
              </a:spcBef>
            </a:pPr>
            <a:r>
              <a:rPr sz="13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本课件未使用无关配图（按规范以学科色块呈现）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四向学习目标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057400"/>
            <a:ext cx="5318607" cy="1874519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221992"/>
            <a:ext cx="4861407" cy="154533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宏观辨识与微观探析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30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列举糖、油脂、蛋白质的主要性质与检验方法。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33007" y="2057400"/>
            <a:ext cx="5318607" cy="1874519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61607" y="2221992"/>
            <a:ext cx="4861407" cy="154533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变化观念与平衡思想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30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认识水解(糖类、油脂、蛋白质)等转化。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206239"/>
            <a:ext cx="5318607" cy="1874519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4370831"/>
            <a:ext cx="4861407" cy="154533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证据推理与模型认知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30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用特征反应检验葡萄糖、淀粉、蛋白质。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4206239"/>
            <a:ext cx="5318607" cy="1874519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61607" y="4370831"/>
            <a:ext cx="4861407" cy="154533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科学态度与社会责任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30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认识合理营养与食品安全的重要性。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背景与权威调研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教材定位 · 权威来源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011680"/>
            <a:ext cx="5227167" cy="420624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48840"/>
            <a:ext cx="467852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教材分析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651760"/>
            <a:ext cx="4678527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糖类(葡萄糖、蔗糖、淀粉、纤维素)、油脂(高级脂肪酸甘油酯，水解/皂化)、蛋白质(氨基酸构成，盐析、变性、显色)。学习淀粉水解、葡萄糖检验(银镜/新制Cu(OH)2)、蛋白质性质，体会营养物质与生命的关系。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24447" y="2011680"/>
            <a:ext cx="5227167" cy="4206240"/>
          </a:xfrm>
          <a:prstGeom prst="roundRect">
            <a:avLst/>
          </a:prstGeom>
          <a:solidFill>
            <a:srgbClr val="1C2A33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98767" y="2148840"/>
            <a:ext cx="467852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权威来源（已联网核实）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98767" y="2651760"/>
            <a:ext cx="4678527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25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· Vedantu 食物检测：淀粉遇碘变蓝黑；还原糖(葡萄糖)与新制 Cu(OH)₂ 生成砖红 Cu₂O；双缩脲检蛋白显紫。</a:t>
            </a:r>
          </a:p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25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· GCSE 生物笔记：油脂=甘油+脂肪酸；蛋白质由氨基酸经肽键连接。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943600"/>
            <a:ext cx="109115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本课件未使用无关配图（按规范以学科色块呈现）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本课重点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057400"/>
            <a:ext cx="5318607" cy="1874519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221992"/>
            <a:ext cx="4861407" cy="154533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① 糖类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35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葡萄糖(还原糖,银镜/砖红Cu2O)、淀粉遇碘变蓝、淀粉水解→葡萄糖。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33007" y="2057400"/>
            <a:ext cx="5318607" cy="1874519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61607" y="2221992"/>
            <a:ext cx="4861407" cy="154533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② 油脂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35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水解生成甘油+高级脂肪酸；碱性水解(皂化)制肥皂。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206239"/>
            <a:ext cx="5318607" cy="1874519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4370831"/>
            <a:ext cx="4861407" cy="154533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③ 蛋白质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35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由氨基酸构成；盐析(可逆)、变性(不可逆,加热/重金属)、显色(双缩脲紫/浓硝酸黄)。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4206239"/>
            <a:ext cx="5318607" cy="1874519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61607" y="4370831"/>
            <a:ext cx="4861407" cy="154533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④ 氨基酸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35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两性与成肽。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学习方法建议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057400"/>
            <a:ext cx="5318607" cy="1874519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221992"/>
            <a:ext cx="4861407" cy="154533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实验(银镜/砖红)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30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重视实验现象，从观察中归纳物质性质。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33007" y="2057400"/>
            <a:ext cx="5318607" cy="1874519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61607" y="2221992"/>
            <a:ext cx="4861407" cy="154533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对比(盐析/变性)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30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用对比表区分易混概念，理清差异。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206239"/>
            <a:ext cx="5318607" cy="1874519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4370831"/>
            <a:ext cx="4861407" cy="154533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碘检淀粉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30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用「碘检淀粉」帮助理解与记忆。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4206239"/>
            <a:ext cx="5318607" cy="1874519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61607" y="4370831"/>
            <a:ext cx="4861407" cy="154533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生活联系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30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联系生活经验，加深理解。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难点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易错与突破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03120"/>
            <a:ext cx="3393338" cy="36576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267712"/>
            <a:ext cx="2936138" cy="33284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盐析vs变性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25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原因：盐析可逆、变性不可逆，外观都沉淀，易混。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99178" y="2103120"/>
            <a:ext cx="3393338" cy="36576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27778" y="2267712"/>
            <a:ext cx="2936138" cy="33284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糖类分类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25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原因：单糖(葡萄)、二糖(蔗糖)、多糖(淀粉纤维素)水解产物不同，易乱。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58276" y="2103120"/>
            <a:ext cx="3393338" cy="36576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86876" y="2267712"/>
            <a:ext cx="2936138" cy="33284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检验法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25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原因：葡萄糖(新制Cu(OH)2砖红)、淀粉(碘蓝)、蛋白质(双缩脲/黄)各自特征，易串。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板书精华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本课板书要点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74520"/>
            <a:ext cx="10911535" cy="4160520"/>
          </a:xfrm>
          <a:prstGeom prst="roundRect">
            <a:avLst/>
          </a:prstGeom>
          <a:solidFill>
            <a:srgbClr val="1C2A33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03120"/>
            <a:ext cx="10180015" cy="37490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400"/>
              </a:spcAft>
            </a:pPr>
            <a:r>
              <a:rPr sz="1500" b="1">
                <a:solidFill>
                  <a:srgbClr val="C8A86B"/>
                </a:solidFill>
                <a:latin typeface="楷体"/>
                <a:ea typeface="楷体"/>
                <a:cs typeface="楷体"/>
              </a:rPr>
              <a:t>营养物质</a:t>
            </a:r>
          </a:p>
          <a:p>
            <a:pPr algn="l">
              <a:lnSpc>
                <a:spcPct val="150000"/>
              </a:lnSpc>
              <a:spcAft>
                <a:spcPts val="400"/>
              </a:spcAft>
            </a:pPr>
            <a:r>
              <a:rPr sz="150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糖:葡萄(砖红)</a:t>
            </a:r>
          </a:p>
          <a:p>
            <a:pPr algn="l">
              <a:lnSpc>
                <a:spcPct val="150000"/>
              </a:lnSpc>
              <a:spcAft>
                <a:spcPts val="400"/>
              </a:spcAft>
            </a:pPr>
            <a:r>
              <a:rPr sz="150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淀粉+碘=蓝</a:t>
            </a:r>
          </a:p>
          <a:p>
            <a:pPr algn="l">
              <a:lnSpc>
                <a:spcPct val="150000"/>
              </a:lnSpc>
              <a:spcAft>
                <a:spcPts val="400"/>
              </a:spcAft>
            </a:pPr>
            <a:r>
              <a:rPr sz="150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油脂皂化→肥皂</a:t>
            </a:r>
          </a:p>
          <a:p>
            <a:pPr algn="l">
              <a:lnSpc>
                <a:spcPct val="150000"/>
              </a:lnSpc>
              <a:spcAft>
                <a:spcPts val="400"/>
              </a:spcAft>
            </a:pPr>
            <a:r>
              <a:rPr sz="150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蛋白:灼烧羽/</a:t>
            </a:r>
          </a:p>
          <a:p>
            <a:pPr algn="l">
              <a:lnSpc>
                <a:spcPct val="150000"/>
              </a:lnSpc>
              <a:spcAft>
                <a:spcPts val="400"/>
              </a:spcAft>
            </a:pPr>
            <a:r>
              <a:rPr sz="150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浓硝酸黄/紫</a:t>
            </a:r>
          </a:p>
          <a:p>
            <a:pPr algn="l">
              <a:lnSpc>
                <a:spcPct val="150000"/>
              </a:lnSpc>
              <a:spcAft>
                <a:spcPts val="400"/>
              </a:spcAft>
            </a:pPr>
            <a:r>
              <a:rPr sz="150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盐析可逆</a:t>
            </a:r>
          </a:p>
          <a:p>
            <a:pPr algn="l">
              <a:lnSpc>
                <a:spcPct val="150000"/>
              </a:lnSpc>
              <a:spcAft>
                <a:spcPts val="400"/>
              </a:spcAft>
            </a:pPr>
            <a:r>
              <a:rPr sz="150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变性不可逆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分层作业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03120"/>
            <a:ext cx="3393338" cy="32004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267712"/>
            <a:ext cx="2936138" cy="28712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基础 · 必做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25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1. 如何用实验检验淀粉和蛋白质？2. 盐析和变性有什么区别？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99178" y="2103120"/>
            <a:ext cx="3393338" cy="32004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27778" y="2267712"/>
            <a:ext cx="2936138" cy="28712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提高 · 选做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25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写出油脂在NaOH溶液中水解制肥皂的化学方程式（以硬脂酸甘油酯为例）。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58276" y="2103120"/>
            <a:ext cx="3393338" cy="32004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86876" y="2267712"/>
            <a:ext cx="2936138" cy="28712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拓展 · 延伸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25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联系生活或后续课题，举一例说明本课知识的应用。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5440680"/>
            <a:ext cx="10911535" cy="914400"/>
          </a:xfrm>
          <a:prstGeom prst="roundRect">
            <a:avLst/>
          </a:prstGeom>
          <a:solidFill>
            <a:srgbClr val="E7DFD2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14400" y="5650992"/>
            <a:ext cx="54864" cy="27940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43000" y="5532120"/>
            <a:ext cx="1008857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本单元主线：有机化合物 —— 基本营养物质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单元小结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本课收束与衔接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011680"/>
            <a:ext cx="10911535" cy="4206240"/>
          </a:xfrm>
          <a:prstGeom prst="roundRect">
            <a:avLst/>
          </a:prstGeom>
          <a:solidFill>
            <a:srgbClr val="1C2A33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86000"/>
            <a:ext cx="10180015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● 所在单元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145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   必修第二册 · 第7章 有机化合物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● ① 糖类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145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   葡萄糖(还原糖,银镜/砖红Cu2O)、淀粉遇碘变蓝、淀粉水解→葡萄糖。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● ② 油脂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145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   水解生成甘油+高级脂肪酸；碱性水解(皂化)制肥皂。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● 下节课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145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   下节课自然资源的开发利用(金属冶炼、海水提镁)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