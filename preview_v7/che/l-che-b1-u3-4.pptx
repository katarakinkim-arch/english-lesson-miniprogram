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C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第3单元 · 铁 金属材料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金属材料的应用与新型合金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063240"/>
            <a:ext cx="201168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从铁合金(生铁、钢、不锈钢)、铝合金到新型合金(储氢合金、钛合金、形状记忆合金)，认识材料性…。</a:t>
            </a:r>
          </a:p>
          <a:p>
            <a:pPr algn="l"/>
            <a:r>
              <a:rPr sz="13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学生课堂版 · 化学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521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必修第一册 · 第4课时 · 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5740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41248" y="233743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241058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20370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宏观辨识与微观探析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16712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列举常见金属材料(铁合金、铝合金、新型合金)及其用途。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6611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44614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51929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31241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变化观念与平衡思想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327583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认识合金成分改变带来性能改变(结构-性质-用途)。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27482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55485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2800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112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证据推理与模型认知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38454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用成分差异解释生铁/钢性能不同。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383530"/>
            <a:ext cx="10911535" cy="94411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5663565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736717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529834"/>
            <a:ext cx="2377440" cy="8343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科学态度与社会责任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493258"/>
            <a:ext cx="7253935" cy="889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体会新材料对社会发展的意义，树立可持续发展观。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 · 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教材定位与权威调研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教材分析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从铁合金(生铁、钢、不锈钢)、铝合金到新型合金(储氢合金、钛合金、形状记忆合金)，认识材料性能与应用的关系，体会化学对社会发展的价值(科学态度与社会责任)。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39319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488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权威来源（联网核实）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697480"/>
            <a:ext cx="4678527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科普中国《不锈钢》：铬≥10.5% 形成致密钝化膜 Cr2O3，可自愈。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· 材料化学：镍稳定奥氏体，协同增强耐蚀。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4447" y="6035040"/>
            <a:ext cx="522716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本课件未使用无关配图（学科色块呈现）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本课重点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2453563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铁合金：生铁(含C 2-4.3%)硬脆可铸；钢(0.03-2%)韧可锻；不锈钢加Cr/Ni抗蚀。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9403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59403" y="2103120"/>
            <a:ext cx="2453563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03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8003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铝合金：轻质高强，航空建筑。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8727" y="2103120"/>
            <a:ext cx="2453563" cy="5029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78727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新型合金：储氢合金(吸放H2)、钛合金(航空医疗)、形状记忆合金。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8051" y="2103120"/>
            <a:ext cx="2453563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8051" y="2103120"/>
            <a:ext cx="2453563" cy="502920"/>
          </a:xfrm>
          <a:prstGeom prst="rect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98051" y="2194560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651" y="2788920"/>
            <a:ext cx="1996363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理念：结构决定性质决定用途。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学习方法与招牌招式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实例法(不锈钢锅)。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201168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53047" y="224028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对比(生铁/钢)。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科普(储氢/钛合金)。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3931920"/>
            <a:ext cx="5272887" cy="16916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4160520"/>
            <a:ext cx="472424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价值引领。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669280"/>
            <a:ext cx="10911535" cy="868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79008"/>
            <a:ext cx="1036289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招牌招式 · 结构→性质→用途：不锈钢靠 Cr 钝化膜“铠甲”，改成分即改性能。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本课难点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31720"/>
            <a:ext cx="502920" cy="50292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含碳量差异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原因：生铁与钢含C量界限易混，性能随之不同。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627778" y="2331720"/>
            <a:ext cx="502920" cy="50292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67858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不锈钢原理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3498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原因：Cr形成致密氧化膜钝化，非"不锈"绝对。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8276" y="2103120"/>
            <a:ext cx="3393338" cy="40233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86876" y="2331720"/>
            <a:ext cx="502920" cy="50292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6876" y="2377440"/>
            <a:ext cx="502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26956" y="2331720"/>
            <a:ext cx="23417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新型合金机理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596" y="3063240"/>
            <a:ext cx="284469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原因：储氢等机理抽象，需宏观用途切入。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板书精华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911535" cy="420624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0180015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金属材料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生铁C 2-4.3%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脆可铸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钢C 0.03-2%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韧可锻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不锈钢:Cr/Ni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钝化膜抗蚀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新型:储氢/钛/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形状记忆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结构→性质→用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基础 · 提升 · 拓展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5272887" cy="50292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1. 生铁和钢在含碳量上有何不同？导致性能有何差异？2. 不锈钢为什么耐腐蚀？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2103120"/>
            <a:ext cx="5272887" cy="30175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2103120"/>
            <a:ext cx="5272887" cy="50292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2194560"/>
            <a:ext cx="527288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提升 · 选做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2834640"/>
            <a:ext cx="4724247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储氢合金在新能源领域有何价值？简述其原理。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911535" cy="96012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58968"/>
            <a:ext cx="1036289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拓展衔接：第四章原子结构——核外电子排布。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第3单元 · 铁 金属材料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227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楷体"/>
                <a:ea typeface="楷体"/>
                <a:cs typeface="楷体"/>
              </a:rPr>
              <a:t>本课要点回顾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599"/>
            <a:ext cx="522716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① 铁合金：生铁(含C 2-4.3%)硬脆可铸；钢(0.03-2%)韧可锻；不锈钢加Cr/Ni抗蚀。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② 铝合金：轻质高强，航空建筑。</a:t>
            </a:r>
          </a:p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· ③ 新型合金：储氢合金(吸放H2)、钛合金(航空医疗)、形状记忆合金。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011680"/>
            <a:ext cx="5227167" cy="411480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98767" y="2194560"/>
            <a:ext cx="4678527" cy="3749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单元主线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铁 金属材料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300" b="0">
                <a:solidFill>
                  <a:srgbClr val="E7DFD2"/>
                </a:solidFill>
                <a:latin typeface="楷体"/>
                <a:ea typeface="楷体"/>
                <a:cs typeface="楷体"/>
              </a:rPr>
              <a:t>本课为第4课时，是单元知识链的一环。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拓展衔接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第四章原子结构——核外电子排布。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